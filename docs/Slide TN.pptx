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rial Bold" pitchFamily="34" charset="0"/>
      <p:bold r:id="rId19"/>
    </p:embeddedFont>
    <p:embeddedFont>
      <p:font typeface="Calibri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1922" autoAdjust="0"/>
  </p:normalViewPr>
  <p:slideViewPr>
    <p:cSldViewPr>
      <p:cViewPr>
        <p:scale>
          <a:sx n="43" d="100"/>
          <a:sy n="43" d="100"/>
        </p:scale>
        <p:origin x="-1330" y="-3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ACCE97-E5CF-43F6-87DE-6EEBF6F0FA01}" type="datetimeFigureOut">
              <a:rPr lang="vi-VN" smtClean="0"/>
              <a:t>07/07/2026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B9184B-3CB6-46AA-9DC0-F91F41C89F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94295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 smtClean="0"/>
              <a:t>Users – Articles:</a:t>
            </a:r>
            <a:r>
              <a:rPr lang="vi-VN" dirty="0" smtClean="0"/>
              <a:t> Quan hệ </a:t>
            </a:r>
            <a:r>
              <a:rPr lang="vi-VN" b="1" dirty="0" smtClean="0"/>
              <a:t>1 - N</a:t>
            </a:r>
            <a:r>
              <a:rPr lang="vi-VN" dirty="0" smtClean="0"/>
              <a:t>, một người dùng có thể viết nhiều bài viết. </a:t>
            </a:r>
          </a:p>
          <a:p>
            <a:r>
              <a:rPr lang="vi-VN" b="1" dirty="0" smtClean="0"/>
              <a:t>Users – Comments:</a:t>
            </a:r>
            <a:r>
              <a:rPr lang="vi-VN" dirty="0" smtClean="0"/>
              <a:t> Quan hệ </a:t>
            </a:r>
            <a:r>
              <a:rPr lang="vi-VN" b="1" dirty="0" smtClean="0"/>
              <a:t>1 - N</a:t>
            </a:r>
            <a:r>
              <a:rPr lang="vi-VN" dirty="0" smtClean="0"/>
              <a:t>, một người dùng có thể viết nhiều bình luận. </a:t>
            </a:r>
          </a:p>
          <a:p>
            <a:r>
              <a:rPr lang="vi-VN" b="1" dirty="0" smtClean="0"/>
              <a:t>Categories – Heritages:</a:t>
            </a:r>
            <a:r>
              <a:rPr lang="vi-VN" dirty="0" smtClean="0"/>
              <a:t> Quan hệ </a:t>
            </a:r>
            <a:r>
              <a:rPr lang="vi-VN" b="1" dirty="0" smtClean="0"/>
              <a:t>1 - N</a:t>
            </a:r>
            <a:r>
              <a:rPr lang="vi-VN" dirty="0" smtClean="0"/>
              <a:t>, một danh mục có nhiều di sản. </a:t>
            </a:r>
          </a:p>
          <a:p>
            <a:r>
              <a:rPr lang="vi-VN" b="1" dirty="0" smtClean="0"/>
              <a:t>Heritages – Articles:</a:t>
            </a:r>
            <a:r>
              <a:rPr lang="vi-VN" dirty="0" smtClean="0"/>
              <a:t> Quan hệ </a:t>
            </a:r>
            <a:r>
              <a:rPr lang="vi-VN" b="1" dirty="0" smtClean="0"/>
              <a:t>1 - N</a:t>
            </a:r>
            <a:r>
              <a:rPr lang="vi-VN" dirty="0" smtClean="0"/>
              <a:t>, một di sản có thể được nhiều bài viết giới thiệu. </a:t>
            </a:r>
          </a:p>
          <a:p>
            <a:r>
              <a:rPr lang="vi-VN" b="1" dirty="0" smtClean="0"/>
              <a:t>Articles – Comments:</a:t>
            </a:r>
            <a:r>
              <a:rPr lang="vi-VN" dirty="0" smtClean="0"/>
              <a:t> Quan hệ </a:t>
            </a:r>
            <a:r>
              <a:rPr lang="vi-VN" b="1" dirty="0" smtClean="0"/>
              <a:t>1 - N</a:t>
            </a:r>
            <a:r>
              <a:rPr lang="vi-VN" dirty="0" smtClean="0"/>
              <a:t>, một bài viết có nhiều bình luận. </a:t>
            </a:r>
          </a:p>
          <a:p>
            <a:r>
              <a:rPr lang="vi-VN" b="1" dirty="0" smtClean="0"/>
              <a:t>Users – Heritages (Favorites):</a:t>
            </a:r>
            <a:r>
              <a:rPr lang="vi-VN" dirty="0" smtClean="0"/>
              <a:t> Quan hệ </a:t>
            </a:r>
            <a:r>
              <a:rPr lang="vi-VN" b="1" dirty="0" smtClean="0"/>
              <a:t>N - N</a:t>
            </a:r>
            <a:r>
              <a:rPr lang="vi-VN" dirty="0" smtClean="0"/>
              <a:t>, được cài đặt bằng mảng favorites. Một người dùng có thể yêu thích nhiều di sản và một di sản cũng có thể được nhiều người yêu thích.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9184B-3CB6-46AA-9DC0-F91F41C89F12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54503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144" y="-7144"/>
            <a:ext cx="18301830" cy="10301288"/>
            <a:chOff x="0" y="0"/>
            <a:chExt cx="24402440" cy="13735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35050"/>
            </a:xfrm>
            <a:custGeom>
              <a:avLst/>
              <a:gdLst/>
              <a:ahLst/>
              <a:cxnLst/>
              <a:rect l="l" t="t" r="r" b="b"/>
              <a:pathLst>
                <a:path w="24402414" h="13735050">
                  <a:moveTo>
                    <a:pt x="0" y="0"/>
                  </a:moveTo>
                  <a:lnTo>
                    <a:pt x="24402414" y="0"/>
                  </a:lnTo>
                  <a:lnTo>
                    <a:pt x="24402414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0C2B4C"/>
            </a:solidFill>
            <a:ln w="14288" cap="sq">
              <a:solidFill>
                <a:srgbClr val="0C2B4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1857196" y="-7144"/>
            <a:ext cx="6433375" cy="10301288"/>
            <a:chOff x="0" y="0"/>
            <a:chExt cx="8577834" cy="13735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77834" cy="13735050"/>
            </a:xfrm>
            <a:custGeom>
              <a:avLst/>
              <a:gdLst/>
              <a:ahLst/>
              <a:cxnLst/>
              <a:rect l="l" t="t" r="r" b="b"/>
              <a:pathLst>
                <a:path w="8577834" h="13735050">
                  <a:moveTo>
                    <a:pt x="0" y="0"/>
                  </a:moveTo>
                  <a:lnTo>
                    <a:pt x="8577834" y="0"/>
                  </a:lnTo>
                  <a:lnTo>
                    <a:pt x="8577834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F6EBCF"/>
            </a:solidFill>
            <a:ln w="14288" cap="sq">
              <a:solidFill>
                <a:srgbClr val="F6EBCF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4081653" y="436240"/>
            <a:ext cx="4571395" cy="836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9"/>
              </a:lnSpc>
            </a:pPr>
            <a:r>
              <a:rPr lang="en-US" sz="1899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TRƯỜNG KỸ THUẬT VÀ CÔNG NGHỆ</a:t>
            </a:r>
          </a:p>
          <a:p>
            <a:pPr algn="ctr">
              <a:lnSpc>
                <a:spcPts val="3419"/>
              </a:lnSpc>
            </a:pPr>
            <a:r>
              <a:rPr lang="en-US" sz="1899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KHOA CÔNG NGHỆ THÔNG TIN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17470" y="2271903"/>
            <a:ext cx="7095744" cy="397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dirty="0">
                <a:solidFill>
                  <a:srgbClr val="D39F25"/>
                </a:solidFill>
                <a:latin typeface="Arial Bold"/>
                <a:ea typeface="Arial Bold"/>
                <a:cs typeface="Arial Bold"/>
                <a:sym typeface="Arial Bold"/>
              </a:rPr>
              <a:t>BÁO CÁO ĐỒ ÁN TỐT NGHIỆP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2166" y="3687318"/>
            <a:ext cx="10882678" cy="2146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465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PHÁT TRIỂN ỨNG DỤNG DI ĐỘNG</a:t>
            </a:r>
          </a:p>
          <a:p>
            <a:pPr algn="ctr"/>
            <a:r>
              <a:rPr lang="en-US" sz="465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HỖ TRỢ QUẢNG BÁ DI SẢN VĂN HÓA</a:t>
            </a:r>
          </a:p>
          <a:p>
            <a:pPr algn="ctr"/>
            <a:r>
              <a:rPr lang="en-US" sz="465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NGƯỜI KHMER NAM BỘ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5034" y="7330869"/>
            <a:ext cx="3288297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Giảng viên hướng dẫn:</a:t>
            </a: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TS. Thạch Kọng Saoane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693872" y="664940"/>
            <a:ext cx="3829117" cy="8408480"/>
            <a:chOff x="0" y="0"/>
            <a:chExt cx="5105489" cy="1121130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105400" cy="11211306"/>
            </a:xfrm>
            <a:custGeom>
              <a:avLst/>
              <a:gdLst/>
              <a:ahLst/>
              <a:cxnLst/>
              <a:rect l="l" t="t" r="r" b="b"/>
              <a:pathLst>
                <a:path w="5105400" h="11211306">
                  <a:moveTo>
                    <a:pt x="0" y="850900"/>
                  </a:moveTo>
                  <a:cubicBezTo>
                    <a:pt x="0" y="381000"/>
                    <a:pt x="381000" y="0"/>
                    <a:pt x="850900" y="0"/>
                  </a:cubicBezTo>
                  <a:lnTo>
                    <a:pt x="4254500" y="0"/>
                  </a:lnTo>
                  <a:cubicBezTo>
                    <a:pt x="4724400" y="0"/>
                    <a:pt x="5105400" y="381000"/>
                    <a:pt x="5105400" y="850900"/>
                  </a:cubicBezTo>
                  <a:lnTo>
                    <a:pt x="5105400" y="10360406"/>
                  </a:lnTo>
                  <a:cubicBezTo>
                    <a:pt x="5105400" y="10830306"/>
                    <a:pt x="4724400" y="11211306"/>
                    <a:pt x="4254500" y="11211306"/>
                  </a:cubicBezTo>
                  <a:lnTo>
                    <a:pt x="850900" y="11211306"/>
                  </a:lnTo>
                  <a:cubicBezTo>
                    <a:pt x="381000" y="11211306"/>
                    <a:pt x="0" y="10830306"/>
                    <a:pt x="0" y="10360406"/>
                  </a:cubicBezTo>
                  <a:close/>
                </a:path>
              </a:pathLst>
            </a:custGeom>
            <a:solidFill>
              <a:srgbClr val="181818"/>
            </a:solidFill>
            <a:ln w="14288" cap="sq">
              <a:solidFill>
                <a:srgbClr val="181818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2755880" y="754380"/>
            <a:ext cx="3705101" cy="8229600"/>
            <a:chOff x="0" y="0"/>
            <a:chExt cx="4940135" cy="10972800"/>
          </a:xfrm>
        </p:grpSpPr>
        <p:sp>
          <p:nvSpPr>
            <p:cNvPr id="13" name="Freeform 13" descr="image25.jpeg"/>
            <p:cNvSpPr/>
            <p:nvPr/>
          </p:nvSpPr>
          <p:spPr>
            <a:xfrm>
              <a:off x="0" y="0"/>
              <a:ext cx="4940173" cy="10972800"/>
            </a:xfrm>
            <a:custGeom>
              <a:avLst/>
              <a:gdLst/>
              <a:ahLst/>
              <a:cxnLst/>
              <a:rect l="l" t="t" r="r" b="b"/>
              <a:pathLst>
                <a:path w="4940173" h="10972800">
                  <a:moveTo>
                    <a:pt x="685800" y="0"/>
                  </a:moveTo>
                  <a:lnTo>
                    <a:pt x="4254373" y="0"/>
                  </a:lnTo>
                  <a:cubicBezTo>
                    <a:pt x="4633130" y="0"/>
                    <a:pt x="4940173" y="307043"/>
                    <a:pt x="4940173" y="685800"/>
                  </a:cubicBezTo>
                  <a:lnTo>
                    <a:pt x="4940173" y="10287000"/>
                  </a:lnTo>
                  <a:cubicBezTo>
                    <a:pt x="4940173" y="10468886"/>
                    <a:pt x="4867919" y="10643322"/>
                    <a:pt x="4739307" y="10771934"/>
                  </a:cubicBezTo>
                  <a:cubicBezTo>
                    <a:pt x="4610694" y="10900546"/>
                    <a:pt x="4436258" y="10972800"/>
                    <a:pt x="4254373" y="10972800"/>
                  </a:cubicBezTo>
                  <a:lnTo>
                    <a:pt x="685800" y="10972800"/>
                  </a:lnTo>
                  <a:cubicBezTo>
                    <a:pt x="307043" y="10972800"/>
                    <a:pt x="0" y="10665757"/>
                    <a:pt x="0" y="10287000"/>
                  </a:cubicBezTo>
                  <a:lnTo>
                    <a:pt x="0" y="685800"/>
                  </a:lnTo>
                  <a:cubicBezTo>
                    <a:pt x="0" y="307043"/>
                    <a:pt x="307043" y="0"/>
                    <a:pt x="6858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4723840" y="1213580"/>
            <a:ext cx="3486512" cy="7654100"/>
            <a:chOff x="0" y="0"/>
            <a:chExt cx="4648683" cy="1020546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648708" cy="10205466"/>
            </a:xfrm>
            <a:custGeom>
              <a:avLst/>
              <a:gdLst/>
              <a:ahLst/>
              <a:cxnLst/>
              <a:rect l="l" t="t" r="r" b="b"/>
              <a:pathLst>
                <a:path w="4648708" h="10205466">
                  <a:moveTo>
                    <a:pt x="0" y="774827"/>
                  </a:moveTo>
                  <a:cubicBezTo>
                    <a:pt x="0" y="346837"/>
                    <a:pt x="346837" y="0"/>
                    <a:pt x="774827" y="0"/>
                  </a:cubicBezTo>
                  <a:lnTo>
                    <a:pt x="3873881" y="0"/>
                  </a:lnTo>
                  <a:cubicBezTo>
                    <a:pt x="4301744" y="0"/>
                    <a:pt x="4648708" y="346837"/>
                    <a:pt x="4648708" y="774827"/>
                  </a:cubicBezTo>
                  <a:lnTo>
                    <a:pt x="4648708" y="9430639"/>
                  </a:lnTo>
                  <a:cubicBezTo>
                    <a:pt x="4648708" y="9858502"/>
                    <a:pt x="4301871" y="10205466"/>
                    <a:pt x="3873881" y="10205466"/>
                  </a:cubicBezTo>
                  <a:lnTo>
                    <a:pt x="774827" y="10205466"/>
                  </a:lnTo>
                  <a:cubicBezTo>
                    <a:pt x="346837" y="10205466"/>
                    <a:pt x="0" y="9858629"/>
                    <a:pt x="0" y="9430639"/>
                  </a:cubicBezTo>
                  <a:close/>
                </a:path>
              </a:pathLst>
            </a:custGeom>
            <a:solidFill>
              <a:srgbClr val="181818"/>
            </a:solidFill>
            <a:ln w="14288" cap="sq">
              <a:solidFill>
                <a:srgbClr val="181818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4794792" y="1303020"/>
            <a:ext cx="3362496" cy="7475220"/>
            <a:chOff x="0" y="0"/>
            <a:chExt cx="4483329" cy="9966960"/>
          </a:xfrm>
        </p:grpSpPr>
        <p:sp>
          <p:nvSpPr>
            <p:cNvPr id="17" name="Freeform 17" descr="image28.jpeg"/>
            <p:cNvSpPr/>
            <p:nvPr/>
          </p:nvSpPr>
          <p:spPr>
            <a:xfrm>
              <a:off x="0" y="0"/>
              <a:ext cx="4483354" cy="9966960"/>
            </a:xfrm>
            <a:custGeom>
              <a:avLst/>
              <a:gdLst/>
              <a:ahLst/>
              <a:cxnLst/>
              <a:rect l="l" t="t" r="r" b="b"/>
              <a:pathLst>
                <a:path w="4483354" h="9966960">
                  <a:moveTo>
                    <a:pt x="647700" y="0"/>
                  </a:moveTo>
                  <a:lnTo>
                    <a:pt x="3835654" y="0"/>
                  </a:lnTo>
                  <a:cubicBezTo>
                    <a:pt x="4193369" y="0"/>
                    <a:pt x="4483354" y="289985"/>
                    <a:pt x="4483354" y="647700"/>
                  </a:cubicBezTo>
                  <a:lnTo>
                    <a:pt x="4483354" y="9319260"/>
                  </a:lnTo>
                  <a:cubicBezTo>
                    <a:pt x="4483354" y="9491041"/>
                    <a:pt x="4415114" y="9655786"/>
                    <a:pt x="4293647" y="9777253"/>
                  </a:cubicBezTo>
                  <a:cubicBezTo>
                    <a:pt x="4172179" y="9898721"/>
                    <a:pt x="4007434" y="9966960"/>
                    <a:pt x="3835654" y="9966960"/>
                  </a:cubicBezTo>
                  <a:lnTo>
                    <a:pt x="647700" y="9966960"/>
                  </a:lnTo>
                  <a:cubicBezTo>
                    <a:pt x="475919" y="9966960"/>
                    <a:pt x="311174" y="9898721"/>
                    <a:pt x="189707" y="9777253"/>
                  </a:cubicBezTo>
                  <a:cubicBezTo>
                    <a:pt x="68240" y="9655786"/>
                    <a:pt x="0" y="9491041"/>
                    <a:pt x="0" y="9319260"/>
                  </a:cubicBezTo>
                  <a:lnTo>
                    <a:pt x="0" y="647700"/>
                  </a:lnTo>
                  <a:cubicBezTo>
                    <a:pt x="0" y="289985"/>
                    <a:pt x="289985" y="0"/>
                    <a:pt x="6477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2825620" y="431968"/>
            <a:ext cx="968512" cy="968664"/>
            <a:chOff x="0" y="0"/>
            <a:chExt cx="1291349" cy="129155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91336" cy="1291590"/>
            </a:xfrm>
            <a:custGeom>
              <a:avLst/>
              <a:gdLst/>
              <a:ahLst/>
              <a:cxnLst/>
              <a:rect l="l" t="t" r="r" b="b"/>
              <a:pathLst>
                <a:path w="1291336" h="1291590">
                  <a:moveTo>
                    <a:pt x="0" y="0"/>
                  </a:moveTo>
                  <a:lnTo>
                    <a:pt x="1291336" y="0"/>
                  </a:lnTo>
                  <a:lnTo>
                    <a:pt x="1291336" y="1291590"/>
                  </a:lnTo>
                  <a:lnTo>
                    <a:pt x="0" y="1291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2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6183630" y="7323772"/>
            <a:ext cx="4938836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dirty="0" err="1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Sinh</a:t>
            </a:r>
            <a:r>
              <a:rPr lang="en-US" sz="2100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dirty="0" err="1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viên</a:t>
            </a:r>
            <a:r>
              <a:rPr lang="en-US" sz="2100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dirty="0" err="1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</a:t>
            </a:r>
            <a:r>
              <a:rPr lang="en-US" sz="2100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dirty="0" err="1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hiện</a:t>
            </a:r>
            <a:r>
              <a:rPr lang="en-US" sz="2100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lang="en-US" sz="21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520"/>
              </a:lnSpc>
            </a:pPr>
            <a:r>
              <a:rPr lang="en-US" sz="21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Triệu</a:t>
            </a:r>
            <a:r>
              <a:rPr lang="en-US" sz="21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Chanh</a:t>
            </a:r>
            <a:r>
              <a:rPr lang="en-US" sz="21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Đa</a:t>
            </a:r>
            <a:r>
              <a:rPr lang="en-US" sz="21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- 110122043 - DA22TTA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144" y="-7144"/>
            <a:ext cx="18301830" cy="178880"/>
            <a:chOff x="0" y="0"/>
            <a:chExt cx="24402440" cy="2385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38506"/>
            </a:xfrm>
            <a:custGeom>
              <a:avLst/>
              <a:gdLst/>
              <a:ahLst/>
              <a:cxnLst/>
              <a:rect l="l" t="t" r="r" b="b"/>
              <a:pathLst>
                <a:path w="24402414" h="238506">
                  <a:moveTo>
                    <a:pt x="0" y="0"/>
                  </a:moveTo>
                  <a:lnTo>
                    <a:pt x="24402414" y="0"/>
                  </a:lnTo>
                  <a:lnTo>
                    <a:pt x="24402414" y="238506"/>
                  </a:lnTo>
                  <a:lnTo>
                    <a:pt x="0" y="238506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868680" y="438150"/>
            <a:ext cx="6135624" cy="742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Nội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dung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trình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bày</a:t>
            </a:r>
            <a:endParaRPr lang="en-US" sz="480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227296" y="2255996"/>
            <a:ext cx="1001840" cy="1001840"/>
            <a:chOff x="0" y="0"/>
            <a:chExt cx="1335786" cy="133578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35786" cy="1335786"/>
            </a:xfrm>
            <a:custGeom>
              <a:avLst/>
              <a:gdLst/>
              <a:ahLst/>
              <a:cxnLst/>
              <a:rect l="l" t="t" r="r" b="b"/>
              <a:pathLst>
                <a:path w="1335786" h="1335786">
                  <a:moveTo>
                    <a:pt x="0" y="667893"/>
                  </a:moveTo>
                  <a:cubicBezTo>
                    <a:pt x="0" y="299085"/>
                    <a:pt x="299085" y="0"/>
                    <a:pt x="667893" y="0"/>
                  </a:cubicBezTo>
                  <a:cubicBezTo>
                    <a:pt x="1036701" y="0"/>
                    <a:pt x="1335786" y="299085"/>
                    <a:pt x="1335786" y="667893"/>
                  </a:cubicBezTo>
                  <a:cubicBezTo>
                    <a:pt x="1335786" y="1036701"/>
                    <a:pt x="1036701" y="1335786"/>
                    <a:pt x="667893" y="1335786"/>
                  </a:cubicBezTo>
                  <a:cubicBezTo>
                    <a:pt x="299085" y="1335786"/>
                    <a:pt x="0" y="1036701"/>
                    <a:pt x="0" y="667893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252728" y="2548509"/>
            <a:ext cx="950976" cy="35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28792" y="2480691"/>
            <a:ext cx="359816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Tổng quan đề tài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850856" y="2255996"/>
            <a:ext cx="1001840" cy="1001840"/>
            <a:chOff x="0" y="0"/>
            <a:chExt cx="1335786" cy="133578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35786" cy="1335786"/>
            </a:xfrm>
            <a:custGeom>
              <a:avLst/>
              <a:gdLst/>
              <a:ahLst/>
              <a:cxnLst/>
              <a:rect l="l" t="t" r="r" b="b"/>
              <a:pathLst>
                <a:path w="1335786" h="1335786">
                  <a:moveTo>
                    <a:pt x="0" y="667893"/>
                  </a:moveTo>
                  <a:cubicBezTo>
                    <a:pt x="0" y="299085"/>
                    <a:pt x="299085" y="0"/>
                    <a:pt x="667893" y="0"/>
                  </a:cubicBezTo>
                  <a:cubicBezTo>
                    <a:pt x="1036701" y="0"/>
                    <a:pt x="1335786" y="299085"/>
                    <a:pt x="1335786" y="667893"/>
                  </a:cubicBezTo>
                  <a:cubicBezTo>
                    <a:pt x="1335786" y="1036701"/>
                    <a:pt x="1036701" y="1335786"/>
                    <a:pt x="667893" y="1335786"/>
                  </a:cubicBezTo>
                  <a:cubicBezTo>
                    <a:pt x="299085" y="1335786"/>
                    <a:pt x="0" y="1036701"/>
                    <a:pt x="0" y="667893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6876288" y="2548509"/>
            <a:ext cx="950976" cy="35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79308" y="2499741"/>
            <a:ext cx="392363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Mục tiêu &amp; phạm vi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483941" y="2255996"/>
            <a:ext cx="1001840" cy="1001840"/>
            <a:chOff x="0" y="0"/>
            <a:chExt cx="1335786" cy="133578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35786" cy="1335786"/>
            </a:xfrm>
            <a:custGeom>
              <a:avLst/>
              <a:gdLst/>
              <a:ahLst/>
              <a:cxnLst/>
              <a:rect l="l" t="t" r="r" b="b"/>
              <a:pathLst>
                <a:path w="1335786" h="1335786">
                  <a:moveTo>
                    <a:pt x="0" y="667893"/>
                  </a:moveTo>
                  <a:cubicBezTo>
                    <a:pt x="0" y="299085"/>
                    <a:pt x="299085" y="0"/>
                    <a:pt x="667893" y="0"/>
                  </a:cubicBezTo>
                  <a:cubicBezTo>
                    <a:pt x="1036701" y="0"/>
                    <a:pt x="1335786" y="299085"/>
                    <a:pt x="1335786" y="667893"/>
                  </a:cubicBezTo>
                  <a:cubicBezTo>
                    <a:pt x="1335786" y="1036701"/>
                    <a:pt x="1036701" y="1335786"/>
                    <a:pt x="667893" y="1335786"/>
                  </a:cubicBezTo>
                  <a:cubicBezTo>
                    <a:pt x="299085" y="1335786"/>
                    <a:pt x="0" y="1036701"/>
                    <a:pt x="0" y="667893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2499848" y="2548509"/>
            <a:ext cx="950976" cy="35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833399" y="2499741"/>
            <a:ext cx="402092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Công nghệ sử dụng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27296" y="5067776"/>
            <a:ext cx="1001840" cy="1001840"/>
            <a:chOff x="0" y="0"/>
            <a:chExt cx="1335786" cy="133578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35786" cy="1335786"/>
            </a:xfrm>
            <a:custGeom>
              <a:avLst/>
              <a:gdLst/>
              <a:ahLst/>
              <a:cxnLst/>
              <a:rect l="l" t="t" r="r" b="b"/>
              <a:pathLst>
                <a:path w="1335786" h="1335786">
                  <a:moveTo>
                    <a:pt x="0" y="667893"/>
                  </a:moveTo>
                  <a:cubicBezTo>
                    <a:pt x="0" y="299085"/>
                    <a:pt x="299085" y="0"/>
                    <a:pt x="667893" y="0"/>
                  </a:cubicBezTo>
                  <a:cubicBezTo>
                    <a:pt x="1036701" y="0"/>
                    <a:pt x="1335786" y="299085"/>
                    <a:pt x="1335786" y="667893"/>
                  </a:cubicBezTo>
                  <a:cubicBezTo>
                    <a:pt x="1335786" y="1036701"/>
                    <a:pt x="1036701" y="1335786"/>
                    <a:pt x="667893" y="1335786"/>
                  </a:cubicBezTo>
                  <a:cubicBezTo>
                    <a:pt x="299085" y="1335786"/>
                    <a:pt x="0" y="1036701"/>
                    <a:pt x="0" y="667893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252728" y="5385435"/>
            <a:ext cx="950976" cy="35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57367" y="5338953"/>
            <a:ext cx="394106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Phân tích hệ thống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850856" y="5067776"/>
            <a:ext cx="1001840" cy="1001840"/>
            <a:chOff x="0" y="0"/>
            <a:chExt cx="1335786" cy="133578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35786" cy="1335786"/>
            </a:xfrm>
            <a:custGeom>
              <a:avLst/>
              <a:gdLst/>
              <a:ahLst/>
              <a:cxnLst/>
              <a:rect l="l" t="t" r="r" b="b"/>
              <a:pathLst>
                <a:path w="1335786" h="1335786">
                  <a:moveTo>
                    <a:pt x="0" y="667893"/>
                  </a:moveTo>
                  <a:cubicBezTo>
                    <a:pt x="0" y="299085"/>
                    <a:pt x="299085" y="0"/>
                    <a:pt x="667893" y="0"/>
                  </a:cubicBezTo>
                  <a:cubicBezTo>
                    <a:pt x="1036701" y="0"/>
                    <a:pt x="1335786" y="299085"/>
                    <a:pt x="1335786" y="667893"/>
                  </a:cubicBezTo>
                  <a:cubicBezTo>
                    <a:pt x="1335786" y="1036701"/>
                    <a:pt x="1036701" y="1335786"/>
                    <a:pt x="667893" y="1335786"/>
                  </a:cubicBezTo>
                  <a:cubicBezTo>
                    <a:pt x="299085" y="1335786"/>
                    <a:pt x="0" y="1036701"/>
                    <a:pt x="0" y="667893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6876288" y="5385435"/>
            <a:ext cx="950976" cy="35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79308" y="5319903"/>
            <a:ext cx="359816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Kết quả đạt được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474416" y="5067776"/>
            <a:ext cx="1001840" cy="1001840"/>
            <a:chOff x="0" y="0"/>
            <a:chExt cx="1335786" cy="133578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35786" cy="1335786"/>
            </a:xfrm>
            <a:custGeom>
              <a:avLst/>
              <a:gdLst/>
              <a:ahLst/>
              <a:cxnLst/>
              <a:rect l="l" t="t" r="r" b="b"/>
              <a:pathLst>
                <a:path w="1335786" h="1335786">
                  <a:moveTo>
                    <a:pt x="0" y="667893"/>
                  </a:moveTo>
                  <a:cubicBezTo>
                    <a:pt x="0" y="299085"/>
                    <a:pt x="299085" y="0"/>
                    <a:pt x="667893" y="0"/>
                  </a:cubicBezTo>
                  <a:cubicBezTo>
                    <a:pt x="1036701" y="0"/>
                    <a:pt x="1335786" y="299085"/>
                    <a:pt x="1335786" y="667893"/>
                  </a:cubicBezTo>
                  <a:cubicBezTo>
                    <a:pt x="1335786" y="1036701"/>
                    <a:pt x="1036701" y="1335786"/>
                    <a:pt x="667893" y="1335786"/>
                  </a:cubicBezTo>
                  <a:cubicBezTo>
                    <a:pt x="299085" y="1335786"/>
                    <a:pt x="0" y="1036701"/>
                    <a:pt x="0" y="667893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12509373" y="5385435"/>
            <a:ext cx="950976" cy="35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802868" y="5114925"/>
            <a:ext cx="391053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Đánh giá &amp; hướng phát triển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43248" y="9772364"/>
            <a:ext cx="16610648" cy="38976"/>
            <a:chOff x="0" y="0"/>
            <a:chExt cx="22147530" cy="5196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147530" cy="51943"/>
            </a:xfrm>
            <a:custGeom>
              <a:avLst/>
              <a:gdLst/>
              <a:ahLst/>
              <a:cxnLst/>
              <a:rect l="l" t="t" r="r" b="b"/>
              <a:pathLst>
                <a:path w="22147530" h="51943">
                  <a:moveTo>
                    <a:pt x="0" y="0"/>
                  </a:moveTo>
                  <a:lnTo>
                    <a:pt x="22147530" y="0"/>
                  </a:lnTo>
                  <a:lnTo>
                    <a:pt x="22147530" y="51943"/>
                  </a:lnTo>
                  <a:lnTo>
                    <a:pt x="0" y="51943"/>
                  </a:lnTo>
                  <a:close/>
                </a:path>
              </a:pathLst>
            </a:custGeom>
            <a:solidFill>
              <a:srgbClr val="EFE4CB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4145768" y="9861042"/>
            <a:ext cx="3255264" cy="22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Triệu Chanh Đa - DA22TTA  |  02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144" y="-7144"/>
            <a:ext cx="18301830" cy="178880"/>
            <a:chOff x="0" y="0"/>
            <a:chExt cx="24402440" cy="2385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38506"/>
            </a:xfrm>
            <a:custGeom>
              <a:avLst/>
              <a:gdLst/>
              <a:ahLst/>
              <a:cxnLst/>
              <a:rect l="l" t="t" r="r" b="b"/>
              <a:pathLst>
                <a:path w="24402414" h="238506">
                  <a:moveTo>
                    <a:pt x="0" y="0"/>
                  </a:moveTo>
                  <a:lnTo>
                    <a:pt x="24402414" y="0"/>
                  </a:lnTo>
                  <a:lnTo>
                    <a:pt x="24402414" y="238506"/>
                  </a:lnTo>
                  <a:lnTo>
                    <a:pt x="0" y="238506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868680" y="438150"/>
            <a:ext cx="5728716" cy="742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Lý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do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chọn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đề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tài</a:t>
            </a:r>
            <a:endParaRPr lang="en-US" sz="480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60220" y="2134743"/>
            <a:ext cx="1431798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600" b="1" dirty="0" smtClean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- Di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sản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phong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phú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: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Chùa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Khmer,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lễ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hội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nghệ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thuật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ẩm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thực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phong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tục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tập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quán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tạo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nên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bản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sắc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đặc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trưng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Nam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Bộ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60220" y="3557778"/>
            <a:ext cx="1431798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600" b="1" dirty="0" smtClean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- </a:t>
            </a:r>
            <a:r>
              <a:rPr lang="en-US" sz="3600" b="1" dirty="0" err="1" smtClean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Phương</a:t>
            </a:r>
            <a:r>
              <a:rPr lang="en-US" sz="3600" b="1" dirty="0" smtClean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thức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quảng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bá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còn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hạn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chế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: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Thông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tin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phân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tán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phụ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thuộc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tài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liệu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in,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triển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lãm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hoặc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kênh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truyền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thống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60220" y="4980813"/>
            <a:ext cx="1431798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600" b="1" dirty="0" smtClean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- </a:t>
            </a:r>
            <a:r>
              <a:rPr lang="en-US" sz="3600" b="1" dirty="0" err="1" smtClean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Nguy</a:t>
            </a:r>
            <a:r>
              <a:rPr lang="en-US" sz="3600" b="1" dirty="0" smtClean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cơ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mai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một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: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Thế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hệ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trẻ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du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khách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quốc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tế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chưa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có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nhiều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công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cụ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tiếp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cận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sinh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động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dễ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sử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dụng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60220" y="6403848"/>
            <a:ext cx="1431798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600" b="1" dirty="0" smtClean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- </a:t>
            </a:r>
            <a:r>
              <a:rPr lang="en-US" sz="3600" b="1" dirty="0" err="1" smtClean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Nhu</a:t>
            </a:r>
            <a:r>
              <a:rPr lang="en-US" sz="3600" b="1" dirty="0" smtClean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cầu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số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hóa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: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Ứng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dụng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động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giúp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lưu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trữ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tra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cứu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quảng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bá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sản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mọi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lúc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mọi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nơi</a:t>
            </a:r>
            <a:r>
              <a:rPr lang="en-US" sz="36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43248" y="9772364"/>
            <a:ext cx="16610648" cy="38976"/>
            <a:chOff x="0" y="0"/>
            <a:chExt cx="22147530" cy="5196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147530" cy="51943"/>
            </a:xfrm>
            <a:custGeom>
              <a:avLst/>
              <a:gdLst/>
              <a:ahLst/>
              <a:cxnLst/>
              <a:rect l="l" t="t" r="r" b="b"/>
              <a:pathLst>
                <a:path w="22147530" h="51943">
                  <a:moveTo>
                    <a:pt x="0" y="0"/>
                  </a:moveTo>
                  <a:lnTo>
                    <a:pt x="22147530" y="0"/>
                  </a:lnTo>
                  <a:lnTo>
                    <a:pt x="22147530" y="51943"/>
                  </a:lnTo>
                  <a:lnTo>
                    <a:pt x="0" y="51943"/>
                  </a:lnTo>
                  <a:close/>
                </a:path>
              </a:pathLst>
            </a:custGeom>
            <a:solidFill>
              <a:srgbClr val="EFE4CB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4145768" y="9861042"/>
            <a:ext cx="3255264" cy="22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Triệu Chanh Đa - DA22TTA  |  03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144" y="-7144"/>
            <a:ext cx="18301830" cy="178880"/>
            <a:chOff x="0" y="0"/>
            <a:chExt cx="24402440" cy="2385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38506"/>
            </a:xfrm>
            <a:custGeom>
              <a:avLst/>
              <a:gdLst/>
              <a:ahLst/>
              <a:cxnLst/>
              <a:rect l="l" t="t" r="r" b="b"/>
              <a:pathLst>
                <a:path w="24402414" h="238506">
                  <a:moveTo>
                    <a:pt x="0" y="0"/>
                  </a:moveTo>
                  <a:lnTo>
                    <a:pt x="24402414" y="0"/>
                  </a:lnTo>
                  <a:lnTo>
                    <a:pt x="24402414" y="238506"/>
                  </a:lnTo>
                  <a:lnTo>
                    <a:pt x="0" y="238506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868680" y="438150"/>
            <a:ext cx="9466612" cy="742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Mục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tiêu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và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phạm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vi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nghiên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cứu</a:t>
            </a:r>
            <a:endParaRPr lang="en-US" sz="480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158716" y="1981676"/>
            <a:ext cx="8038147" cy="6529388"/>
            <a:chOff x="0" y="0"/>
            <a:chExt cx="10717530" cy="87058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17530" cy="8705850"/>
            </a:xfrm>
            <a:custGeom>
              <a:avLst/>
              <a:gdLst/>
              <a:ahLst/>
              <a:cxnLst/>
              <a:rect l="l" t="t" r="r" b="b"/>
              <a:pathLst>
                <a:path w="10717530" h="8705850">
                  <a:moveTo>
                    <a:pt x="0" y="1450975"/>
                  </a:moveTo>
                  <a:cubicBezTo>
                    <a:pt x="0" y="649605"/>
                    <a:pt x="649605" y="0"/>
                    <a:pt x="1450975" y="0"/>
                  </a:cubicBezTo>
                  <a:lnTo>
                    <a:pt x="9266555" y="0"/>
                  </a:lnTo>
                  <a:cubicBezTo>
                    <a:pt x="10067925" y="0"/>
                    <a:pt x="10717530" y="649605"/>
                    <a:pt x="10717530" y="1450975"/>
                  </a:cubicBezTo>
                  <a:lnTo>
                    <a:pt x="10717530" y="7254875"/>
                  </a:lnTo>
                  <a:cubicBezTo>
                    <a:pt x="10717530" y="8056245"/>
                    <a:pt x="10067925" y="8705850"/>
                    <a:pt x="9266555" y="8705850"/>
                  </a:cubicBezTo>
                  <a:lnTo>
                    <a:pt x="1450975" y="8705850"/>
                  </a:lnTo>
                  <a:cubicBezTo>
                    <a:pt x="649605" y="8705850"/>
                    <a:pt x="0" y="8056245"/>
                    <a:pt x="0" y="72548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525476" y="1981676"/>
            <a:ext cx="7626668" cy="6529388"/>
            <a:chOff x="0" y="0"/>
            <a:chExt cx="10168890" cy="87058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168890" cy="8705850"/>
            </a:xfrm>
            <a:custGeom>
              <a:avLst/>
              <a:gdLst/>
              <a:ahLst/>
              <a:cxnLst/>
              <a:rect l="l" t="t" r="r" b="b"/>
              <a:pathLst>
                <a:path w="10168890" h="8705850">
                  <a:moveTo>
                    <a:pt x="0" y="1450975"/>
                  </a:moveTo>
                  <a:cubicBezTo>
                    <a:pt x="0" y="649605"/>
                    <a:pt x="649605" y="0"/>
                    <a:pt x="1450975" y="0"/>
                  </a:cubicBezTo>
                  <a:lnTo>
                    <a:pt x="8717915" y="0"/>
                  </a:lnTo>
                  <a:cubicBezTo>
                    <a:pt x="9519285" y="0"/>
                    <a:pt x="10168890" y="649605"/>
                    <a:pt x="10168890" y="1450975"/>
                  </a:cubicBezTo>
                  <a:lnTo>
                    <a:pt x="10168890" y="7254875"/>
                  </a:lnTo>
                  <a:cubicBezTo>
                    <a:pt x="10168890" y="8056245"/>
                    <a:pt x="9519285" y="8705850"/>
                    <a:pt x="8717915" y="8705850"/>
                  </a:cubicBezTo>
                  <a:lnTo>
                    <a:pt x="1450975" y="8705850"/>
                  </a:lnTo>
                  <a:cubicBezTo>
                    <a:pt x="649605" y="8705850"/>
                    <a:pt x="0" y="8056245"/>
                    <a:pt x="0" y="72548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664208" y="2431161"/>
            <a:ext cx="3554736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Mục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tiêu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cụ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thể</a:t>
            </a:r>
            <a:endParaRPr lang="en-US" sz="360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707355" y="3325844"/>
            <a:ext cx="285203" cy="261176"/>
            <a:chOff x="0" y="0"/>
            <a:chExt cx="348234" cy="3482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48234" cy="348234"/>
            </a:xfrm>
            <a:custGeom>
              <a:avLst/>
              <a:gdLst/>
              <a:ahLst/>
              <a:cxnLst/>
              <a:rect l="l" t="t" r="r" b="b"/>
              <a:pathLst>
                <a:path w="348234" h="348234">
                  <a:moveTo>
                    <a:pt x="0" y="174117"/>
                  </a:moveTo>
                  <a:cubicBezTo>
                    <a:pt x="0" y="77978"/>
                    <a:pt x="77978" y="0"/>
                    <a:pt x="174117" y="0"/>
                  </a:cubicBezTo>
                  <a:cubicBezTo>
                    <a:pt x="270256" y="0"/>
                    <a:pt x="348234" y="77978"/>
                    <a:pt x="348234" y="174117"/>
                  </a:cubicBezTo>
                  <a:cubicBezTo>
                    <a:pt x="348234" y="270256"/>
                    <a:pt x="270256" y="348234"/>
                    <a:pt x="174117" y="348234"/>
                  </a:cubicBezTo>
                  <a:cubicBezTo>
                    <a:pt x="77978" y="348234"/>
                    <a:pt x="0" y="270256"/>
                    <a:pt x="0" y="174117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2171700" y="3232023"/>
            <a:ext cx="6819900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Số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hóa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dữ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liệu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: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sản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vật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thể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phi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vật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thể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Khmer Nam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Bộ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07355" y="4354544"/>
            <a:ext cx="285203" cy="261176"/>
            <a:chOff x="0" y="0"/>
            <a:chExt cx="348234" cy="34823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48234" cy="348234"/>
            </a:xfrm>
            <a:custGeom>
              <a:avLst/>
              <a:gdLst/>
              <a:ahLst/>
              <a:cxnLst/>
              <a:rect l="l" t="t" r="r" b="b"/>
              <a:pathLst>
                <a:path w="348234" h="348234">
                  <a:moveTo>
                    <a:pt x="0" y="174117"/>
                  </a:moveTo>
                  <a:cubicBezTo>
                    <a:pt x="0" y="77978"/>
                    <a:pt x="77978" y="0"/>
                    <a:pt x="174117" y="0"/>
                  </a:cubicBezTo>
                  <a:cubicBezTo>
                    <a:pt x="270256" y="0"/>
                    <a:pt x="348234" y="77978"/>
                    <a:pt x="348234" y="174117"/>
                  </a:cubicBezTo>
                  <a:cubicBezTo>
                    <a:pt x="348234" y="270256"/>
                    <a:pt x="270256" y="348234"/>
                    <a:pt x="174117" y="348234"/>
                  </a:cubicBezTo>
                  <a:cubicBezTo>
                    <a:pt x="77978" y="348234"/>
                    <a:pt x="0" y="270256"/>
                    <a:pt x="0" y="174117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2171700" y="4260723"/>
            <a:ext cx="6819900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Trực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quan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hóa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: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Hình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ảnh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bài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viết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bản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đồ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định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vị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lịch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lễ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hội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707355" y="5383244"/>
            <a:ext cx="285203" cy="261176"/>
            <a:chOff x="0" y="0"/>
            <a:chExt cx="348234" cy="34823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48234" cy="348234"/>
            </a:xfrm>
            <a:custGeom>
              <a:avLst/>
              <a:gdLst/>
              <a:ahLst/>
              <a:cxnLst/>
              <a:rect l="l" t="t" r="r" b="b"/>
              <a:pathLst>
                <a:path w="348234" h="348234">
                  <a:moveTo>
                    <a:pt x="0" y="174117"/>
                  </a:moveTo>
                  <a:cubicBezTo>
                    <a:pt x="0" y="77978"/>
                    <a:pt x="77978" y="0"/>
                    <a:pt x="174117" y="0"/>
                  </a:cubicBezTo>
                  <a:cubicBezTo>
                    <a:pt x="270256" y="0"/>
                    <a:pt x="348234" y="77978"/>
                    <a:pt x="348234" y="174117"/>
                  </a:cubicBezTo>
                  <a:cubicBezTo>
                    <a:pt x="348234" y="270256"/>
                    <a:pt x="270256" y="348234"/>
                    <a:pt x="174117" y="348234"/>
                  </a:cubicBezTo>
                  <a:cubicBezTo>
                    <a:pt x="77978" y="348234"/>
                    <a:pt x="0" y="270256"/>
                    <a:pt x="0" y="174117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2171700" y="5289423"/>
            <a:ext cx="6819900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80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Đa ngôn ngữ:</a:t>
            </a:r>
            <a:r>
              <a:rPr lang="en-US" sz="28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Hỗ trợ Tiếng Việt, Khmer và Tiếng Anh.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707355" y="6411944"/>
            <a:ext cx="285203" cy="261176"/>
            <a:chOff x="0" y="0"/>
            <a:chExt cx="348234" cy="34823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48234" cy="348234"/>
            </a:xfrm>
            <a:custGeom>
              <a:avLst/>
              <a:gdLst/>
              <a:ahLst/>
              <a:cxnLst/>
              <a:rect l="l" t="t" r="r" b="b"/>
              <a:pathLst>
                <a:path w="348234" h="348234">
                  <a:moveTo>
                    <a:pt x="0" y="174117"/>
                  </a:moveTo>
                  <a:cubicBezTo>
                    <a:pt x="0" y="77978"/>
                    <a:pt x="77978" y="0"/>
                    <a:pt x="174117" y="0"/>
                  </a:cubicBezTo>
                  <a:cubicBezTo>
                    <a:pt x="270256" y="0"/>
                    <a:pt x="348234" y="77978"/>
                    <a:pt x="348234" y="174117"/>
                  </a:cubicBezTo>
                  <a:cubicBezTo>
                    <a:pt x="348234" y="270256"/>
                    <a:pt x="270256" y="348234"/>
                    <a:pt x="174117" y="348234"/>
                  </a:cubicBezTo>
                  <a:cubicBezTo>
                    <a:pt x="77978" y="348234"/>
                    <a:pt x="0" y="270256"/>
                    <a:pt x="0" y="174117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2171700" y="6318123"/>
            <a:ext cx="6819900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80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Quản trị nội dung:</a:t>
            </a:r>
            <a:r>
              <a:rPr lang="en-US" sz="28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Admin kiểm duyệt, thêm/sửa/xóa dữ liệu an toàn.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30968" y="2431161"/>
            <a:ext cx="4208342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Phạm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vi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thực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hiện</a:t>
            </a:r>
            <a:endParaRPr lang="en-US" sz="360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0074115" y="3325844"/>
            <a:ext cx="288945" cy="261176"/>
            <a:chOff x="0" y="0"/>
            <a:chExt cx="348234" cy="34823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48234" cy="348234"/>
            </a:xfrm>
            <a:custGeom>
              <a:avLst/>
              <a:gdLst/>
              <a:ahLst/>
              <a:cxnLst/>
              <a:rect l="l" t="t" r="r" b="b"/>
              <a:pathLst>
                <a:path w="348234" h="348234">
                  <a:moveTo>
                    <a:pt x="0" y="174117"/>
                  </a:moveTo>
                  <a:cubicBezTo>
                    <a:pt x="0" y="77978"/>
                    <a:pt x="77978" y="0"/>
                    <a:pt x="174117" y="0"/>
                  </a:cubicBezTo>
                  <a:cubicBezTo>
                    <a:pt x="270256" y="0"/>
                    <a:pt x="348234" y="77978"/>
                    <a:pt x="348234" y="174117"/>
                  </a:cubicBezTo>
                  <a:cubicBezTo>
                    <a:pt x="348234" y="270256"/>
                    <a:pt x="270256" y="348234"/>
                    <a:pt x="174117" y="348234"/>
                  </a:cubicBezTo>
                  <a:cubicBezTo>
                    <a:pt x="77978" y="348234"/>
                    <a:pt x="0" y="270256"/>
                    <a:pt x="0" y="174117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0538460" y="3232023"/>
            <a:ext cx="6454140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Không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gian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: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Nam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Bộ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ưu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tiên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Trà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Vinh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Sóc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Trăng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An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Giang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Kiên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Giang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074115" y="4354544"/>
            <a:ext cx="288945" cy="261176"/>
            <a:chOff x="0" y="0"/>
            <a:chExt cx="348234" cy="34823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48234" cy="348234"/>
            </a:xfrm>
            <a:custGeom>
              <a:avLst/>
              <a:gdLst/>
              <a:ahLst/>
              <a:cxnLst/>
              <a:rect l="l" t="t" r="r" b="b"/>
              <a:pathLst>
                <a:path w="348234" h="348234">
                  <a:moveTo>
                    <a:pt x="0" y="174117"/>
                  </a:moveTo>
                  <a:cubicBezTo>
                    <a:pt x="0" y="77978"/>
                    <a:pt x="77978" y="0"/>
                    <a:pt x="174117" y="0"/>
                  </a:cubicBezTo>
                  <a:cubicBezTo>
                    <a:pt x="270256" y="0"/>
                    <a:pt x="348234" y="77978"/>
                    <a:pt x="348234" y="174117"/>
                  </a:cubicBezTo>
                  <a:cubicBezTo>
                    <a:pt x="348234" y="270256"/>
                    <a:pt x="270256" y="348234"/>
                    <a:pt x="174117" y="348234"/>
                  </a:cubicBezTo>
                  <a:cubicBezTo>
                    <a:pt x="77978" y="348234"/>
                    <a:pt x="0" y="270256"/>
                    <a:pt x="0" y="174117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10538460" y="4260723"/>
            <a:ext cx="6454140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Nội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dung: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Chùa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cổ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lễ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hội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nghệ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thuật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ẩm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thực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phong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tục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0074115" y="5383244"/>
            <a:ext cx="288945" cy="261176"/>
            <a:chOff x="0" y="0"/>
            <a:chExt cx="348234" cy="34823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48234" cy="348234"/>
            </a:xfrm>
            <a:custGeom>
              <a:avLst/>
              <a:gdLst/>
              <a:ahLst/>
              <a:cxnLst/>
              <a:rect l="l" t="t" r="r" b="b"/>
              <a:pathLst>
                <a:path w="348234" h="348234">
                  <a:moveTo>
                    <a:pt x="0" y="174117"/>
                  </a:moveTo>
                  <a:cubicBezTo>
                    <a:pt x="0" y="77978"/>
                    <a:pt x="77978" y="0"/>
                    <a:pt x="174117" y="0"/>
                  </a:cubicBezTo>
                  <a:cubicBezTo>
                    <a:pt x="270256" y="0"/>
                    <a:pt x="348234" y="77978"/>
                    <a:pt x="348234" y="174117"/>
                  </a:cubicBezTo>
                  <a:cubicBezTo>
                    <a:pt x="348234" y="270256"/>
                    <a:pt x="270256" y="348234"/>
                    <a:pt x="174117" y="348234"/>
                  </a:cubicBezTo>
                  <a:cubicBezTo>
                    <a:pt x="77978" y="348234"/>
                    <a:pt x="0" y="270256"/>
                    <a:pt x="0" y="174117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10538460" y="5289423"/>
            <a:ext cx="6454140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80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Công nghệ:</a:t>
            </a:r>
            <a:r>
              <a:rPr lang="en-US" sz="28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React Native/Expo, Firebase, Cloud Firestore, Google Maps/Cloudinary.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0074115" y="6743700"/>
            <a:ext cx="288945" cy="261176"/>
            <a:chOff x="0" y="0"/>
            <a:chExt cx="348234" cy="34823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48234" cy="348234"/>
            </a:xfrm>
            <a:custGeom>
              <a:avLst/>
              <a:gdLst/>
              <a:ahLst/>
              <a:cxnLst/>
              <a:rect l="l" t="t" r="r" b="b"/>
              <a:pathLst>
                <a:path w="348234" h="348234">
                  <a:moveTo>
                    <a:pt x="0" y="174117"/>
                  </a:moveTo>
                  <a:cubicBezTo>
                    <a:pt x="0" y="77978"/>
                    <a:pt x="77978" y="0"/>
                    <a:pt x="174117" y="0"/>
                  </a:cubicBezTo>
                  <a:cubicBezTo>
                    <a:pt x="270256" y="0"/>
                    <a:pt x="348234" y="77978"/>
                    <a:pt x="348234" y="174117"/>
                  </a:cubicBezTo>
                  <a:cubicBezTo>
                    <a:pt x="348234" y="270256"/>
                    <a:pt x="270256" y="348234"/>
                    <a:pt x="174117" y="348234"/>
                  </a:cubicBezTo>
                  <a:cubicBezTo>
                    <a:pt x="77978" y="348234"/>
                    <a:pt x="0" y="270256"/>
                    <a:pt x="0" y="174117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10538460" y="6670238"/>
            <a:ext cx="6454140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Giới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hạn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: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Chưa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tích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hợp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AR/VR 3D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API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chính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thức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từ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cơ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quan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quản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lý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văn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hóa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843248" y="9772364"/>
            <a:ext cx="16610648" cy="38976"/>
            <a:chOff x="0" y="0"/>
            <a:chExt cx="22147530" cy="5196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2147530" cy="51943"/>
            </a:xfrm>
            <a:custGeom>
              <a:avLst/>
              <a:gdLst/>
              <a:ahLst/>
              <a:cxnLst/>
              <a:rect l="l" t="t" r="r" b="b"/>
              <a:pathLst>
                <a:path w="22147530" h="51943">
                  <a:moveTo>
                    <a:pt x="0" y="0"/>
                  </a:moveTo>
                  <a:lnTo>
                    <a:pt x="22147530" y="0"/>
                  </a:lnTo>
                  <a:lnTo>
                    <a:pt x="22147530" y="51943"/>
                  </a:lnTo>
                  <a:lnTo>
                    <a:pt x="0" y="51943"/>
                  </a:lnTo>
                  <a:close/>
                </a:path>
              </a:pathLst>
            </a:custGeom>
            <a:solidFill>
              <a:srgbClr val="EFE4CB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sp>
        <p:nvSpPr>
          <p:cNvPr id="39" name="TextBox 39"/>
          <p:cNvSpPr txBox="1"/>
          <p:nvPr/>
        </p:nvSpPr>
        <p:spPr>
          <a:xfrm>
            <a:off x="14145768" y="9861042"/>
            <a:ext cx="3255264" cy="22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Triệu Chanh Đa - DA22TTA  |  04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144" y="-7144"/>
            <a:ext cx="18301830" cy="178880"/>
            <a:chOff x="0" y="0"/>
            <a:chExt cx="24402440" cy="2385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38506"/>
            </a:xfrm>
            <a:custGeom>
              <a:avLst/>
              <a:gdLst/>
              <a:ahLst/>
              <a:cxnLst/>
              <a:rect l="l" t="t" r="r" b="b"/>
              <a:pathLst>
                <a:path w="24402414" h="238506">
                  <a:moveTo>
                    <a:pt x="0" y="0"/>
                  </a:moveTo>
                  <a:lnTo>
                    <a:pt x="24402414" y="0"/>
                  </a:lnTo>
                  <a:lnTo>
                    <a:pt x="24402414" y="238506"/>
                  </a:lnTo>
                  <a:lnTo>
                    <a:pt x="0" y="238506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868680" y="438150"/>
            <a:ext cx="8819388" cy="742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Khảo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sát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và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giải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pháp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đề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xuất</a:t>
            </a:r>
            <a:endParaRPr lang="en-US" sz="480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158716" y="1981676"/>
            <a:ext cx="7352347" cy="6460809"/>
            <a:chOff x="0" y="0"/>
            <a:chExt cx="9803130" cy="86144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803130" cy="8614411"/>
            </a:xfrm>
            <a:custGeom>
              <a:avLst/>
              <a:gdLst/>
              <a:ahLst/>
              <a:cxnLst/>
              <a:rect l="l" t="t" r="r" b="b"/>
              <a:pathLst>
                <a:path w="9803130" h="8614411">
                  <a:moveTo>
                    <a:pt x="0" y="1435735"/>
                  </a:moveTo>
                  <a:cubicBezTo>
                    <a:pt x="0" y="642874"/>
                    <a:pt x="642874" y="0"/>
                    <a:pt x="1435735" y="0"/>
                  </a:cubicBezTo>
                  <a:lnTo>
                    <a:pt x="8367395" y="0"/>
                  </a:lnTo>
                  <a:cubicBezTo>
                    <a:pt x="9160256" y="0"/>
                    <a:pt x="9803130" y="642874"/>
                    <a:pt x="9803130" y="1435735"/>
                  </a:cubicBezTo>
                  <a:lnTo>
                    <a:pt x="9803130" y="7178675"/>
                  </a:lnTo>
                  <a:cubicBezTo>
                    <a:pt x="9803130" y="7971663"/>
                    <a:pt x="9160256" y="8614411"/>
                    <a:pt x="8367395" y="8614411"/>
                  </a:cubicBezTo>
                  <a:lnTo>
                    <a:pt x="1435735" y="8614411"/>
                  </a:lnTo>
                  <a:cubicBezTo>
                    <a:pt x="642874" y="8614410"/>
                    <a:pt x="0" y="7971536"/>
                    <a:pt x="0" y="71786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595628" y="2390013"/>
            <a:ext cx="6024372" cy="571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Khoảng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trống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nghiên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cứu</a:t>
            </a:r>
            <a:endParaRPr lang="en-US" sz="360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666208" y="3339560"/>
            <a:ext cx="261176" cy="261176"/>
            <a:chOff x="0" y="0"/>
            <a:chExt cx="348234" cy="34823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8234" cy="348234"/>
            </a:xfrm>
            <a:custGeom>
              <a:avLst/>
              <a:gdLst/>
              <a:ahLst/>
              <a:cxnLst/>
              <a:rect l="l" t="t" r="r" b="b"/>
              <a:pathLst>
                <a:path w="348234" h="348234">
                  <a:moveTo>
                    <a:pt x="0" y="174117"/>
                  </a:moveTo>
                  <a:cubicBezTo>
                    <a:pt x="0" y="77978"/>
                    <a:pt x="77978" y="0"/>
                    <a:pt x="174117" y="0"/>
                  </a:cubicBezTo>
                  <a:cubicBezTo>
                    <a:pt x="270256" y="0"/>
                    <a:pt x="348234" y="77978"/>
                    <a:pt x="348234" y="174117"/>
                  </a:cubicBezTo>
                  <a:cubicBezTo>
                    <a:pt x="348234" y="270256"/>
                    <a:pt x="270256" y="348234"/>
                    <a:pt x="174117" y="348234"/>
                  </a:cubicBezTo>
                  <a:cubicBezTo>
                    <a:pt x="77978" y="348234"/>
                    <a:pt x="0" y="270256"/>
                    <a:pt x="0" y="174117"/>
                  </a:cubicBezTo>
                  <a:close/>
                </a:path>
              </a:pathLst>
            </a:custGeom>
            <a:solidFill>
              <a:srgbClr val="953127"/>
            </a:solidFill>
            <a:ln w="14288" cap="sq">
              <a:solidFill>
                <a:srgbClr val="953127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2130552" y="3245739"/>
            <a:ext cx="5696712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Ứng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dụng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du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lịch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tổng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hợp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: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Có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địa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điểm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nhưng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thiếu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chiều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sâu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văn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hóa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Khmer.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666208" y="4729924"/>
            <a:ext cx="261176" cy="261176"/>
            <a:chOff x="0" y="0"/>
            <a:chExt cx="348234" cy="34823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8234" cy="348234"/>
            </a:xfrm>
            <a:custGeom>
              <a:avLst/>
              <a:gdLst/>
              <a:ahLst/>
              <a:cxnLst/>
              <a:rect l="l" t="t" r="r" b="b"/>
              <a:pathLst>
                <a:path w="348234" h="348234">
                  <a:moveTo>
                    <a:pt x="0" y="174117"/>
                  </a:moveTo>
                  <a:cubicBezTo>
                    <a:pt x="0" y="77978"/>
                    <a:pt x="77978" y="0"/>
                    <a:pt x="174117" y="0"/>
                  </a:cubicBezTo>
                  <a:cubicBezTo>
                    <a:pt x="270256" y="0"/>
                    <a:pt x="348234" y="77978"/>
                    <a:pt x="348234" y="174117"/>
                  </a:cubicBezTo>
                  <a:cubicBezTo>
                    <a:pt x="348234" y="270256"/>
                    <a:pt x="270256" y="348234"/>
                    <a:pt x="174117" y="348234"/>
                  </a:cubicBezTo>
                  <a:cubicBezTo>
                    <a:pt x="77978" y="348234"/>
                    <a:pt x="0" y="270256"/>
                    <a:pt x="0" y="174117"/>
                  </a:cubicBezTo>
                  <a:close/>
                </a:path>
              </a:pathLst>
            </a:custGeom>
            <a:solidFill>
              <a:srgbClr val="953127"/>
            </a:solidFill>
            <a:ln w="14288" cap="sq">
              <a:solidFill>
                <a:srgbClr val="953127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2130552" y="4689038"/>
            <a:ext cx="5696712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Ứng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dụng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địa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phương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: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Thông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tin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chính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xác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nhưng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UI/UX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cập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nhật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nội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dung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còn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hạn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chế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666208" y="6177724"/>
            <a:ext cx="261176" cy="261176"/>
            <a:chOff x="0" y="0"/>
            <a:chExt cx="348234" cy="34823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48234" cy="348234"/>
            </a:xfrm>
            <a:custGeom>
              <a:avLst/>
              <a:gdLst/>
              <a:ahLst/>
              <a:cxnLst/>
              <a:rect l="l" t="t" r="r" b="b"/>
              <a:pathLst>
                <a:path w="348234" h="348234">
                  <a:moveTo>
                    <a:pt x="0" y="174117"/>
                  </a:moveTo>
                  <a:cubicBezTo>
                    <a:pt x="0" y="77978"/>
                    <a:pt x="77978" y="0"/>
                    <a:pt x="174117" y="0"/>
                  </a:cubicBezTo>
                  <a:cubicBezTo>
                    <a:pt x="270256" y="0"/>
                    <a:pt x="348234" y="77978"/>
                    <a:pt x="348234" y="174117"/>
                  </a:cubicBezTo>
                  <a:cubicBezTo>
                    <a:pt x="348234" y="270256"/>
                    <a:pt x="270256" y="348234"/>
                    <a:pt x="174117" y="348234"/>
                  </a:cubicBezTo>
                  <a:cubicBezTo>
                    <a:pt x="77978" y="348234"/>
                    <a:pt x="0" y="270256"/>
                    <a:pt x="0" y="174117"/>
                  </a:cubicBezTo>
                  <a:close/>
                </a:path>
              </a:pathLst>
            </a:custGeom>
            <a:solidFill>
              <a:srgbClr val="953127"/>
            </a:solidFill>
            <a:ln w="14288" cap="sq">
              <a:solidFill>
                <a:srgbClr val="953127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2130552" y="6060638"/>
            <a:ext cx="5696712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Nền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tảng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quốc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tế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: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Tính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năng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mạnh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nhưng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không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chuyên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biệt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cho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Khmer Nam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Bộ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251156" y="1981676"/>
            <a:ext cx="7695247" cy="6460808"/>
            <a:chOff x="0" y="0"/>
            <a:chExt cx="10260330" cy="861441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260330" cy="8614411"/>
            </a:xfrm>
            <a:custGeom>
              <a:avLst/>
              <a:gdLst/>
              <a:ahLst/>
              <a:cxnLst/>
              <a:rect l="l" t="t" r="r" b="b"/>
              <a:pathLst>
                <a:path w="10260330" h="8614411">
                  <a:moveTo>
                    <a:pt x="0" y="1435735"/>
                  </a:moveTo>
                  <a:cubicBezTo>
                    <a:pt x="0" y="642874"/>
                    <a:pt x="642874" y="0"/>
                    <a:pt x="1435735" y="0"/>
                  </a:cubicBezTo>
                  <a:lnTo>
                    <a:pt x="8824595" y="0"/>
                  </a:lnTo>
                  <a:cubicBezTo>
                    <a:pt x="9617456" y="0"/>
                    <a:pt x="10260330" y="642874"/>
                    <a:pt x="10260330" y="1435735"/>
                  </a:cubicBezTo>
                  <a:lnTo>
                    <a:pt x="10260330" y="7178675"/>
                  </a:lnTo>
                  <a:cubicBezTo>
                    <a:pt x="10260330" y="7971663"/>
                    <a:pt x="9617456" y="8614411"/>
                    <a:pt x="8824595" y="8614411"/>
                  </a:cubicBezTo>
                  <a:lnTo>
                    <a:pt x="1435735" y="8614411"/>
                  </a:lnTo>
                  <a:cubicBezTo>
                    <a:pt x="642874" y="8614410"/>
                    <a:pt x="0" y="7971536"/>
                    <a:pt x="0" y="7178675"/>
                  </a:cubicBezTo>
                  <a:close/>
                </a:path>
              </a:pathLst>
            </a:custGeom>
            <a:solidFill>
              <a:srgbClr val="FFF9EA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9688068" y="2390013"/>
            <a:ext cx="6630591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Giải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 smtClean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pháp</a:t>
            </a:r>
            <a:r>
              <a:rPr lang="en-US" sz="36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 smtClean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xây</a:t>
            </a:r>
            <a:r>
              <a:rPr lang="en-US" sz="3600" b="1" dirty="0" smtClean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 smtClean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dựng</a:t>
            </a:r>
            <a:r>
              <a:rPr lang="en-US" sz="3600" b="1" dirty="0" smtClean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 smtClean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ứng</a:t>
            </a:r>
            <a:r>
              <a:rPr lang="en-US" sz="3600" b="1" dirty="0" smtClean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 smtClean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dụng</a:t>
            </a:r>
            <a:endParaRPr lang="en-US" sz="360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9799796" y="3339560"/>
            <a:ext cx="261176" cy="261176"/>
            <a:chOff x="0" y="0"/>
            <a:chExt cx="348234" cy="34823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48234" cy="348234"/>
            </a:xfrm>
            <a:custGeom>
              <a:avLst/>
              <a:gdLst/>
              <a:ahLst/>
              <a:cxnLst/>
              <a:rect l="l" t="t" r="r" b="b"/>
              <a:pathLst>
                <a:path w="348234" h="348234">
                  <a:moveTo>
                    <a:pt x="0" y="174117"/>
                  </a:moveTo>
                  <a:cubicBezTo>
                    <a:pt x="0" y="77978"/>
                    <a:pt x="77978" y="0"/>
                    <a:pt x="174117" y="0"/>
                  </a:cubicBezTo>
                  <a:cubicBezTo>
                    <a:pt x="270256" y="0"/>
                    <a:pt x="348234" y="77978"/>
                    <a:pt x="348234" y="174117"/>
                  </a:cubicBezTo>
                  <a:cubicBezTo>
                    <a:pt x="348234" y="270256"/>
                    <a:pt x="270256" y="348234"/>
                    <a:pt x="174117" y="348234"/>
                  </a:cubicBezTo>
                  <a:cubicBezTo>
                    <a:pt x="77978" y="348234"/>
                    <a:pt x="0" y="270256"/>
                    <a:pt x="0" y="174117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0264140" y="3245739"/>
            <a:ext cx="5902452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Chuyên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biệt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hóa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nội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dung: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Tập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trung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100%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vào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hệ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sản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Khmer Nam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Bộ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799796" y="4729924"/>
            <a:ext cx="261176" cy="261176"/>
            <a:chOff x="0" y="0"/>
            <a:chExt cx="348234" cy="34823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48234" cy="348234"/>
            </a:xfrm>
            <a:custGeom>
              <a:avLst/>
              <a:gdLst/>
              <a:ahLst/>
              <a:cxnLst/>
              <a:rect l="l" t="t" r="r" b="b"/>
              <a:pathLst>
                <a:path w="348234" h="348234">
                  <a:moveTo>
                    <a:pt x="0" y="174117"/>
                  </a:moveTo>
                  <a:cubicBezTo>
                    <a:pt x="0" y="77978"/>
                    <a:pt x="77978" y="0"/>
                    <a:pt x="174117" y="0"/>
                  </a:cubicBezTo>
                  <a:cubicBezTo>
                    <a:pt x="270256" y="0"/>
                    <a:pt x="348234" y="77978"/>
                    <a:pt x="348234" y="174117"/>
                  </a:cubicBezTo>
                  <a:cubicBezTo>
                    <a:pt x="348234" y="270256"/>
                    <a:pt x="270256" y="348234"/>
                    <a:pt x="174117" y="348234"/>
                  </a:cubicBezTo>
                  <a:cubicBezTo>
                    <a:pt x="77978" y="348234"/>
                    <a:pt x="0" y="270256"/>
                    <a:pt x="0" y="174117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0264140" y="4689038"/>
            <a:ext cx="5902452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Tương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tác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cộng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đồng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: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Người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dùng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có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thể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bình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luận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yêu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thích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gửi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bài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đóng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góp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799796" y="6177724"/>
            <a:ext cx="261176" cy="261176"/>
            <a:chOff x="0" y="0"/>
            <a:chExt cx="348234" cy="34823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48234" cy="348234"/>
            </a:xfrm>
            <a:custGeom>
              <a:avLst/>
              <a:gdLst/>
              <a:ahLst/>
              <a:cxnLst/>
              <a:rect l="l" t="t" r="r" b="b"/>
              <a:pathLst>
                <a:path w="348234" h="348234">
                  <a:moveTo>
                    <a:pt x="0" y="174117"/>
                  </a:moveTo>
                  <a:cubicBezTo>
                    <a:pt x="0" y="77978"/>
                    <a:pt x="77978" y="0"/>
                    <a:pt x="174117" y="0"/>
                  </a:cubicBezTo>
                  <a:cubicBezTo>
                    <a:pt x="270256" y="0"/>
                    <a:pt x="348234" y="77978"/>
                    <a:pt x="348234" y="174117"/>
                  </a:cubicBezTo>
                  <a:cubicBezTo>
                    <a:pt x="348234" y="270256"/>
                    <a:pt x="270256" y="348234"/>
                    <a:pt x="174117" y="348234"/>
                  </a:cubicBezTo>
                  <a:cubicBezTo>
                    <a:pt x="77978" y="348234"/>
                    <a:pt x="0" y="270256"/>
                    <a:pt x="0" y="174117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10264140" y="6060638"/>
            <a:ext cx="5902452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Quản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trị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tập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trung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: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Admin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duyệt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bài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quản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lý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danh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mục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kiểm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soát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dữ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liệu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43248" y="9772364"/>
            <a:ext cx="16610648" cy="38976"/>
            <a:chOff x="0" y="0"/>
            <a:chExt cx="22147530" cy="5196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147530" cy="51943"/>
            </a:xfrm>
            <a:custGeom>
              <a:avLst/>
              <a:gdLst/>
              <a:ahLst/>
              <a:cxnLst/>
              <a:rect l="l" t="t" r="r" b="b"/>
              <a:pathLst>
                <a:path w="22147530" h="51943">
                  <a:moveTo>
                    <a:pt x="0" y="0"/>
                  </a:moveTo>
                  <a:lnTo>
                    <a:pt x="22147530" y="0"/>
                  </a:lnTo>
                  <a:lnTo>
                    <a:pt x="22147530" y="51943"/>
                  </a:lnTo>
                  <a:lnTo>
                    <a:pt x="0" y="51943"/>
                  </a:lnTo>
                  <a:close/>
                </a:path>
              </a:pathLst>
            </a:custGeom>
            <a:solidFill>
              <a:srgbClr val="EFE4CB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4145768" y="9861042"/>
            <a:ext cx="3255264" cy="22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Triệu Chanh Đa - DA22TTA  |  05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144" y="-7144"/>
            <a:ext cx="18301830" cy="178880"/>
            <a:chOff x="0" y="0"/>
            <a:chExt cx="24402440" cy="2385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38506"/>
            </a:xfrm>
            <a:custGeom>
              <a:avLst/>
              <a:gdLst/>
              <a:ahLst/>
              <a:cxnLst/>
              <a:rect l="l" t="t" r="r" b="b"/>
              <a:pathLst>
                <a:path w="24402414" h="238506">
                  <a:moveTo>
                    <a:pt x="0" y="0"/>
                  </a:moveTo>
                  <a:lnTo>
                    <a:pt x="24402414" y="0"/>
                  </a:lnTo>
                  <a:lnTo>
                    <a:pt x="24402414" y="238506"/>
                  </a:lnTo>
                  <a:lnTo>
                    <a:pt x="0" y="238506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868680" y="438150"/>
            <a:ext cx="11851374" cy="742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Phương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pháp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nghiên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cứu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và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phát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triển</a:t>
            </a:r>
            <a:endParaRPr lang="en-US" sz="480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364456" y="2736056"/>
            <a:ext cx="946976" cy="946976"/>
            <a:chOff x="0" y="0"/>
            <a:chExt cx="1262634" cy="12626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62634" cy="1262634"/>
            </a:xfrm>
            <a:custGeom>
              <a:avLst/>
              <a:gdLst/>
              <a:ahLst/>
              <a:cxnLst/>
              <a:rect l="l" t="t" r="r" b="b"/>
              <a:pathLst>
                <a:path w="1262634" h="1262634">
                  <a:moveTo>
                    <a:pt x="0" y="631317"/>
                  </a:moveTo>
                  <a:cubicBezTo>
                    <a:pt x="0" y="282702"/>
                    <a:pt x="282702" y="0"/>
                    <a:pt x="631317" y="0"/>
                  </a:cubicBezTo>
                  <a:cubicBezTo>
                    <a:pt x="979932" y="0"/>
                    <a:pt x="1262634" y="282702"/>
                    <a:pt x="1262634" y="631317"/>
                  </a:cubicBezTo>
                  <a:cubicBezTo>
                    <a:pt x="1262634" y="979932"/>
                    <a:pt x="979932" y="1262634"/>
                    <a:pt x="631317" y="1262634"/>
                  </a:cubicBezTo>
                  <a:cubicBezTo>
                    <a:pt x="282702" y="1262634"/>
                    <a:pt x="0" y="979932"/>
                    <a:pt x="0" y="631317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389888" y="2971419"/>
            <a:ext cx="896112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817084" y="3668744"/>
            <a:ext cx="62294" cy="2620328"/>
            <a:chOff x="0" y="0"/>
            <a:chExt cx="83058" cy="34937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3058" cy="3493770"/>
            </a:xfrm>
            <a:custGeom>
              <a:avLst/>
              <a:gdLst/>
              <a:ahLst/>
              <a:cxnLst/>
              <a:rect l="l" t="t" r="r" b="b"/>
              <a:pathLst>
                <a:path w="83058" h="3493770">
                  <a:moveTo>
                    <a:pt x="0" y="0"/>
                  </a:moveTo>
                  <a:lnTo>
                    <a:pt x="83058" y="0"/>
                  </a:lnTo>
                  <a:lnTo>
                    <a:pt x="83058" y="3493770"/>
                  </a:lnTo>
                  <a:lnTo>
                    <a:pt x="0" y="3493770"/>
                  </a:lnTo>
                  <a:close/>
                </a:path>
              </a:pathLst>
            </a:custGeom>
            <a:solidFill>
              <a:srgbClr val="EECD79"/>
            </a:solidFill>
            <a:ln w="14288" cap="sq">
              <a:solidFill>
                <a:srgbClr val="EECD79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614278" y="6565011"/>
            <a:ext cx="2554117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Thu </a:t>
            </a:r>
            <a:r>
              <a:rPr lang="en-US" sz="255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thập</a:t>
            </a:r>
            <a:r>
              <a:rPr lang="en-US" sz="255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5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tư</a:t>
            </a:r>
            <a:r>
              <a:rPr lang="en-US" sz="255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5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liệu</a:t>
            </a:r>
            <a:endParaRPr lang="en-US" sz="255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76656" y="7104126"/>
            <a:ext cx="2322576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400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Chùa Khmer, lễ hội, tọa độ GPS, tài liệu chính thống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598896" y="3078956"/>
            <a:ext cx="1139000" cy="357188"/>
            <a:chOff x="0" y="0"/>
            <a:chExt cx="1518666" cy="476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18666" cy="476250"/>
            </a:xfrm>
            <a:custGeom>
              <a:avLst/>
              <a:gdLst/>
              <a:ahLst/>
              <a:cxnLst/>
              <a:rect l="l" t="t" r="r" b="b"/>
              <a:pathLst>
                <a:path w="1518666" h="476250">
                  <a:moveTo>
                    <a:pt x="0" y="119126"/>
                  </a:moveTo>
                  <a:lnTo>
                    <a:pt x="1280541" y="119126"/>
                  </a:lnTo>
                  <a:lnTo>
                    <a:pt x="1280541" y="0"/>
                  </a:lnTo>
                  <a:lnTo>
                    <a:pt x="1518666" y="238125"/>
                  </a:lnTo>
                  <a:lnTo>
                    <a:pt x="1280541" y="476250"/>
                  </a:lnTo>
                  <a:lnTo>
                    <a:pt x="1280541" y="357124"/>
                  </a:lnTo>
                  <a:lnTo>
                    <a:pt x="0" y="357124"/>
                  </a:lnTo>
                  <a:close/>
                </a:path>
              </a:pathLst>
            </a:custGeom>
            <a:solidFill>
              <a:srgbClr val="EFE4CB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628864" y="2736056"/>
            <a:ext cx="946976" cy="946976"/>
            <a:chOff x="0" y="0"/>
            <a:chExt cx="1262634" cy="126263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62634" cy="1262634"/>
            </a:xfrm>
            <a:custGeom>
              <a:avLst/>
              <a:gdLst/>
              <a:ahLst/>
              <a:cxnLst/>
              <a:rect l="l" t="t" r="r" b="b"/>
              <a:pathLst>
                <a:path w="1262634" h="1262634">
                  <a:moveTo>
                    <a:pt x="0" y="631317"/>
                  </a:moveTo>
                  <a:cubicBezTo>
                    <a:pt x="0" y="282702"/>
                    <a:pt x="282702" y="0"/>
                    <a:pt x="631317" y="0"/>
                  </a:cubicBezTo>
                  <a:cubicBezTo>
                    <a:pt x="979932" y="0"/>
                    <a:pt x="1262634" y="282702"/>
                    <a:pt x="1262634" y="631317"/>
                  </a:cubicBezTo>
                  <a:cubicBezTo>
                    <a:pt x="1262634" y="979932"/>
                    <a:pt x="979932" y="1262634"/>
                    <a:pt x="631317" y="1262634"/>
                  </a:cubicBezTo>
                  <a:cubicBezTo>
                    <a:pt x="282702" y="1262634"/>
                    <a:pt x="0" y="979932"/>
                    <a:pt x="0" y="631317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4654296" y="2971419"/>
            <a:ext cx="896112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081492" y="3668744"/>
            <a:ext cx="62294" cy="2620328"/>
            <a:chOff x="0" y="0"/>
            <a:chExt cx="83058" cy="34937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3058" cy="3493770"/>
            </a:xfrm>
            <a:custGeom>
              <a:avLst/>
              <a:gdLst/>
              <a:ahLst/>
              <a:cxnLst/>
              <a:rect l="l" t="t" r="r" b="b"/>
              <a:pathLst>
                <a:path w="83058" h="3493770">
                  <a:moveTo>
                    <a:pt x="0" y="0"/>
                  </a:moveTo>
                  <a:lnTo>
                    <a:pt x="83058" y="0"/>
                  </a:lnTo>
                  <a:lnTo>
                    <a:pt x="83058" y="3493770"/>
                  </a:lnTo>
                  <a:lnTo>
                    <a:pt x="0" y="3493770"/>
                  </a:lnTo>
                  <a:close/>
                </a:path>
              </a:pathLst>
            </a:custGeom>
            <a:solidFill>
              <a:srgbClr val="EECD79"/>
            </a:solidFill>
            <a:ln w="14288" cap="sq">
              <a:solidFill>
                <a:srgbClr val="EECD79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3725572" y="6565011"/>
            <a:ext cx="2981551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Phân</a:t>
            </a:r>
            <a:r>
              <a:rPr lang="en-US" sz="255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5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tích</a:t>
            </a:r>
            <a:r>
              <a:rPr lang="en-US" sz="255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5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yêu</a:t>
            </a:r>
            <a:r>
              <a:rPr lang="en-US" sz="255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5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cầu</a:t>
            </a:r>
            <a:endParaRPr lang="en-US" sz="255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941064" y="7104126"/>
            <a:ext cx="2322576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400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Chức năng người dùng, thành viên và quản trị viên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863304" y="3078956"/>
            <a:ext cx="1139000" cy="357188"/>
            <a:chOff x="0" y="0"/>
            <a:chExt cx="1518666" cy="4762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18666" cy="476250"/>
            </a:xfrm>
            <a:custGeom>
              <a:avLst/>
              <a:gdLst/>
              <a:ahLst/>
              <a:cxnLst/>
              <a:rect l="l" t="t" r="r" b="b"/>
              <a:pathLst>
                <a:path w="1518666" h="476250">
                  <a:moveTo>
                    <a:pt x="0" y="119126"/>
                  </a:moveTo>
                  <a:lnTo>
                    <a:pt x="1280541" y="119126"/>
                  </a:lnTo>
                  <a:lnTo>
                    <a:pt x="1280541" y="0"/>
                  </a:lnTo>
                  <a:lnTo>
                    <a:pt x="1518666" y="238125"/>
                  </a:lnTo>
                  <a:lnTo>
                    <a:pt x="1280541" y="476250"/>
                  </a:lnTo>
                  <a:lnTo>
                    <a:pt x="1280541" y="357124"/>
                  </a:lnTo>
                  <a:lnTo>
                    <a:pt x="0" y="357124"/>
                  </a:lnTo>
                  <a:close/>
                </a:path>
              </a:pathLst>
            </a:custGeom>
            <a:solidFill>
              <a:srgbClr val="EFE4CB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7893272" y="2736056"/>
            <a:ext cx="946976" cy="946976"/>
            <a:chOff x="0" y="0"/>
            <a:chExt cx="1262634" cy="126263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62634" cy="1262634"/>
            </a:xfrm>
            <a:custGeom>
              <a:avLst/>
              <a:gdLst/>
              <a:ahLst/>
              <a:cxnLst/>
              <a:rect l="l" t="t" r="r" b="b"/>
              <a:pathLst>
                <a:path w="1262634" h="1262634">
                  <a:moveTo>
                    <a:pt x="0" y="631317"/>
                  </a:moveTo>
                  <a:cubicBezTo>
                    <a:pt x="0" y="282702"/>
                    <a:pt x="282702" y="0"/>
                    <a:pt x="631317" y="0"/>
                  </a:cubicBezTo>
                  <a:cubicBezTo>
                    <a:pt x="979932" y="0"/>
                    <a:pt x="1262634" y="282702"/>
                    <a:pt x="1262634" y="631317"/>
                  </a:cubicBezTo>
                  <a:cubicBezTo>
                    <a:pt x="1262634" y="979932"/>
                    <a:pt x="979932" y="1262634"/>
                    <a:pt x="631317" y="1262634"/>
                  </a:cubicBezTo>
                  <a:cubicBezTo>
                    <a:pt x="282702" y="1262634"/>
                    <a:pt x="0" y="979932"/>
                    <a:pt x="0" y="631317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7918704" y="2971419"/>
            <a:ext cx="896112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345900" y="3668744"/>
            <a:ext cx="62294" cy="2620328"/>
            <a:chOff x="0" y="0"/>
            <a:chExt cx="83058" cy="349377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3058" cy="3493770"/>
            </a:xfrm>
            <a:custGeom>
              <a:avLst/>
              <a:gdLst/>
              <a:ahLst/>
              <a:cxnLst/>
              <a:rect l="l" t="t" r="r" b="b"/>
              <a:pathLst>
                <a:path w="83058" h="3493770">
                  <a:moveTo>
                    <a:pt x="0" y="0"/>
                  </a:moveTo>
                  <a:lnTo>
                    <a:pt x="83058" y="0"/>
                  </a:lnTo>
                  <a:lnTo>
                    <a:pt x="83058" y="3493770"/>
                  </a:lnTo>
                  <a:lnTo>
                    <a:pt x="0" y="3493770"/>
                  </a:lnTo>
                  <a:close/>
                </a:path>
              </a:pathLst>
            </a:custGeom>
            <a:solidFill>
              <a:srgbClr val="EECD79"/>
            </a:solidFill>
            <a:ln w="14288" cap="sq">
              <a:solidFill>
                <a:srgbClr val="EECD79"/>
              </a:solidFill>
              <a:prstDash val="solid"/>
              <a:miter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7026354" y="6565011"/>
            <a:ext cx="2879646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Thiết</a:t>
            </a:r>
            <a:r>
              <a:rPr lang="en-US" sz="255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5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kế</a:t>
            </a:r>
            <a:r>
              <a:rPr lang="en-US" sz="255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5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hệ</a:t>
            </a:r>
            <a:r>
              <a:rPr lang="en-US" sz="255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5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thống</a:t>
            </a:r>
            <a:endParaRPr lang="en-US" sz="255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205472" y="7104126"/>
            <a:ext cx="2322576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400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Kiến trúc, Use Case, Firestore và giao diện Figma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127712" y="3078956"/>
            <a:ext cx="1139000" cy="357188"/>
            <a:chOff x="0" y="0"/>
            <a:chExt cx="1518666" cy="4762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18666" cy="476250"/>
            </a:xfrm>
            <a:custGeom>
              <a:avLst/>
              <a:gdLst/>
              <a:ahLst/>
              <a:cxnLst/>
              <a:rect l="l" t="t" r="r" b="b"/>
              <a:pathLst>
                <a:path w="1518666" h="476250">
                  <a:moveTo>
                    <a:pt x="0" y="119126"/>
                  </a:moveTo>
                  <a:lnTo>
                    <a:pt x="1280541" y="119126"/>
                  </a:lnTo>
                  <a:lnTo>
                    <a:pt x="1280541" y="0"/>
                  </a:lnTo>
                  <a:lnTo>
                    <a:pt x="1518666" y="238125"/>
                  </a:lnTo>
                  <a:lnTo>
                    <a:pt x="1280541" y="476250"/>
                  </a:lnTo>
                  <a:lnTo>
                    <a:pt x="1280541" y="357124"/>
                  </a:lnTo>
                  <a:lnTo>
                    <a:pt x="0" y="357124"/>
                  </a:lnTo>
                  <a:close/>
                </a:path>
              </a:pathLst>
            </a:custGeom>
            <a:solidFill>
              <a:srgbClr val="EFE4CB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1157680" y="2736056"/>
            <a:ext cx="946976" cy="946976"/>
            <a:chOff x="0" y="0"/>
            <a:chExt cx="1262634" cy="126263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62634" cy="1262634"/>
            </a:xfrm>
            <a:custGeom>
              <a:avLst/>
              <a:gdLst/>
              <a:ahLst/>
              <a:cxnLst/>
              <a:rect l="l" t="t" r="r" b="b"/>
              <a:pathLst>
                <a:path w="1262634" h="1262634">
                  <a:moveTo>
                    <a:pt x="0" y="631317"/>
                  </a:moveTo>
                  <a:cubicBezTo>
                    <a:pt x="0" y="282702"/>
                    <a:pt x="282702" y="0"/>
                    <a:pt x="631317" y="0"/>
                  </a:cubicBezTo>
                  <a:cubicBezTo>
                    <a:pt x="979932" y="0"/>
                    <a:pt x="1262634" y="282702"/>
                    <a:pt x="1262634" y="631317"/>
                  </a:cubicBezTo>
                  <a:cubicBezTo>
                    <a:pt x="1262634" y="979932"/>
                    <a:pt x="979932" y="1262634"/>
                    <a:pt x="631317" y="1262634"/>
                  </a:cubicBezTo>
                  <a:cubicBezTo>
                    <a:pt x="282702" y="1262634"/>
                    <a:pt x="0" y="979932"/>
                    <a:pt x="0" y="631317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11183112" y="2971419"/>
            <a:ext cx="896112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1610308" y="3668744"/>
            <a:ext cx="62294" cy="2620328"/>
            <a:chOff x="0" y="0"/>
            <a:chExt cx="83058" cy="349377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3058" cy="3493770"/>
            </a:xfrm>
            <a:custGeom>
              <a:avLst/>
              <a:gdLst/>
              <a:ahLst/>
              <a:cxnLst/>
              <a:rect l="l" t="t" r="r" b="b"/>
              <a:pathLst>
                <a:path w="83058" h="3493770">
                  <a:moveTo>
                    <a:pt x="0" y="0"/>
                  </a:moveTo>
                  <a:lnTo>
                    <a:pt x="83058" y="0"/>
                  </a:lnTo>
                  <a:lnTo>
                    <a:pt x="83058" y="3493770"/>
                  </a:lnTo>
                  <a:lnTo>
                    <a:pt x="0" y="3493770"/>
                  </a:lnTo>
                  <a:close/>
                </a:path>
              </a:pathLst>
            </a:custGeom>
            <a:solidFill>
              <a:srgbClr val="EECD79"/>
            </a:solidFill>
            <a:ln w="14288" cap="sq">
              <a:solidFill>
                <a:srgbClr val="EECD79"/>
              </a:solidFill>
              <a:prstDash val="solid"/>
              <a:miter/>
            </a:ln>
          </p:spPr>
        </p:sp>
      </p:grpSp>
      <p:sp>
        <p:nvSpPr>
          <p:cNvPr id="38" name="TextBox 38"/>
          <p:cNvSpPr txBox="1"/>
          <p:nvPr/>
        </p:nvSpPr>
        <p:spPr>
          <a:xfrm>
            <a:off x="10542282" y="6565011"/>
            <a:ext cx="2250174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Hiện</a:t>
            </a:r>
            <a:r>
              <a:rPr lang="en-US" sz="255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5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thực</a:t>
            </a:r>
            <a:r>
              <a:rPr lang="en-US" sz="255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5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hóa</a:t>
            </a:r>
            <a:endParaRPr lang="en-US" sz="255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0469880" y="7104126"/>
            <a:ext cx="2322576" cy="1410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400" dirty="0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React Native/Expo, Firebase, </a:t>
            </a:r>
            <a:r>
              <a:rPr lang="en-US" sz="2400" dirty="0" err="1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Cloudinary</a:t>
            </a:r>
            <a:r>
              <a:rPr lang="en-US" sz="2400" dirty="0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, Google Maps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2392120" y="3078956"/>
            <a:ext cx="1139000" cy="357188"/>
            <a:chOff x="0" y="0"/>
            <a:chExt cx="1518666" cy="47625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518666" cy="476250"/>
            </a:xfrm>
            <a:custGeom>
              <a:avLst/>
              <a:gdLst/>
              <a:ahLst/>
              <a:cxnLst/>
              <a:rect l="l" t="t" r="r" b="b"/>
              <a:pathLst>
                <a:path w="1518666" h="476250">
                  <a:moveTo>
                    <a:pt x="0" y="119126"/>
                  </a:moveTo>
                  <a:lnTo>
                    <a:pt x="1280541" y="119126"/>
                  </a:lnTo>
                  <a:lnTo>
                    <a:pt x="1280541" y="0"/>
                  </a:lnTo>
                  <a:lnTo>
                    <a:pt x="1518666" y="238125"/>
                  </a:lnTo>
                  <a:lnTo>
                    <a:pt x="1280541" y="476250"/>
                  </a:lnTo>
                  <a:lnTo>
                    <a:pt x="1280541" y="357124"/>
                  </a:lnTo>
                  <a:lnTo>
                    <a:pt x="0" y="357124"/>
                  </a:lnTo>
                  <a:close/>
                </a:path>
              </a:pathLst>
            </a:custGeom>
            <a:solidFill>
              <a:srgbClr val="EFE4CB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4422088" y="2736056"/>
            <a:ext cx="946976" cy="946976"/>
            <a:chOff x="0" y="0"/>
            <a:chExt cx="1262634" cy="126263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62634" cy="1262634"/>
            </a:xfrm>
            <a:custGeom>
              <a:avLst/>
              <a:gdLst/>
              <a:ahLst/>
              <a:cxnLst/>
              <a:rect l="l" t="t" r="r" b="b"/>
              <a:pathLst>
                <a:path w="1262634" h="1262634">
                  <a:moveTo>
                    <a:pt x="0" y="631317"/>
                  </a:moveTo>
                  <a:cubicBezTo>
                    <a:pt x="0" y="282702"/>
                    <a:pt x="282702" y="0"/>
                    <a:pt x="631317" y="0"/>
                  </a:cubicBezTo>
                  <a:cubicBezTo>
                    <a:pt x="979932" y="0"/>
                    <a:pt x="1262634" y="282702"/>
                    <a:pt x="1262634" y="631317"/>
                  </a:cubicBezTo>
                  <a:cubicBezTo>
                    <a:pt x="1262634" y="979932"/>
                    <a:pt x="979932" y="1262634"/>
                    <a:pt x="631317" y="1262634"/>
                  </a:cubicBezTo>
                  <a:cubicBezTo>
                    <a:pt x="282702" y="1262634"/>
                    <a:pt x="0" y="979932"/>
                    <a:pt x="0" y="631317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44" name="TextBox 44"/>
          <p:cNvSpPr txBox="1"/>
          <p:nvPr/>
        </p:nvSpPr>
        <p:spPr>
          <a:xfrm>
            <a:off x="14447520" y="2971419"/>
            <a:ext cx="896112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4874716" y="3668744"/>
            <a:ext cx="62294" cy="2620328"/>
            <a:chOff x="0" y="0"/>
            <a:chExt cx="83058" cy="349377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3058" cy="3493770"/>
            </a:xfrm>
            <a:custGeom>
              <a:avLst/>
              <a:gdLst/>
              <a:ahLst/>
              <a:cxnLst/>
              <a:rect l="l" t="t" r="r" b="b"/>
              <a:pathLst>
                <a:path w="83058" h="3493770">
                  <a:moveTo>
                    <a:pt x="0" y="0"/>
                  </a:moveTo>
                  <a:lnTo>
                    <a:pt x="83058" y="0"/>
                  </a:lnTo>
                  <a:lnTo>
                    <a:pt x="83058" y="3493770"/>
                  </a:lnTo>
                  <a:lnTo>
                    <a:pt x="0" y="3493770"/>
                  </a:lnTo>
                  <a:close/>
                </a:path>
              </a:pathLst>
            </a:custGeom>
            <a:solidFill>
              <a:srgbClr val="EECD79"/>
            </a:solidFill>
            <a:ln w="14288" cap="sq">
              <a:solidFill>
                <a:srgbClr val="EECD79"/>
              </a:solidFill>
              <a:prstDash val="solid"/>
              <a:miter/>
            </a:ln>
          </p:spPr>
        </p:sp>
      </p:grpSp>
      <p:sp>
        <p:nvSpPr>
          <p:cNvPr id="47" name="TextBox 47"/>
          <p:cNvSpPr txBox="1"/>
          <p:nvPr/>
        </p:nvSpPr>
        <p:spPr>
          <a:xfrm>
            <a:off x="14104620" y="6565011"/>
            <a:ext cx="1581912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Kiểm</a:t>
            </a:r>
            <a:r>
              <a:rPr lang="en-US" sz="255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5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thử</a:t>
            </a:r>
            <a:endParaRPr lang="en-US" sz="255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3734288" y="7104126"/>
            <a:ext cx="2322576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400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Đánh giá giao diện, chức năng và khả năng sử dụng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843248" y="9772364"/>
            <a:ext cx="16610648" cy="38976"/>
            <a:chOff x="0" y="0"/>
            <a:chExt cx="22147530" cy="5196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2147530" cy="51943"/>
            </a:xfrm>
            <a:custGeom>
              <a:avLst/>
              <a:gdLst/>
              <a:ahLst/>
              <a:cxnLst/>
              <a:rect l="l" t="t" r="r" b="b"/>
              <a:pathLst>
                <a:path w="22147530" h="51943">
                  <a:moveTo>
                    <a:pt x="0" y="0"/>
                  </a:moveTo>
                  <a:lnTo>
                    <a:pt x="22147530" y="0"/>
                  </a:lnTo>
                  <a:lnTo>
                    <a:pt x="22147530" y="51943"/>
                  </a:lnTo>
                  <a:lnTo>
                    <a:pt x="0" y="51943"/>
                  </a:lnTo>
                  <a:close/>
                </a:path>
              </a:pathLst>
            </a:custGeom>
            <a:solidFill>
              <a:srgbClr val="EFE4CB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sp>
        <p:nvSpPr>
          <p:cNvPr id="52" name="TextBox 52"/>
          <p:cNvSpPr txBox="1"/>
          <p:nvPr/>
        </p:nvSpPr>
        <p:spPr>
          <a:xfrm>
            <a:off x="14145768" y="9861042"/>
            <a:ext cx="3255264" cy="22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Triệu Chanh Đa - DA22TTA  |  06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144" y="-7144"/>
            <a:ext cx="18301830" cy="178880"/>
            <a:chOff x="0" y="0"/>
            <a:chExt cx="24402440" cy="2385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38506"/>
            </a:xfrm>
            <a:custGeom>
              <a:avLst/>
              <a:gdLst/>
              <a:ahLst/>
              <a:cxnLst/>
              <a:rect l="l" t="t" r="r" b="b"/>
              <a:pathLst>
                <a:path w="24402414" h="238506">
                  <a:moveTo>
                    <a:pt x="0" y="0"/>
                  </a:moveTo>
                  <a:lnTo>
                    <a:pt x="24402414" y="0"/>
                  </a:lnTo>
                  <a:lnTo>
                    <a:pt x="24402414" y="238506"/>
                  </a:lnTo>
                  <a:lnTo>
                    <a:pt x="0" y="238506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582398" y="2361438"/>
            <a:ext cx="7360630" cy="3427714"/>
            <a:chOff x="0" y="0"/>
            <a:chExt cx="1938602" cy="9027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38602" cy="902772"/>
            </a:xfrm>
            <a:custGeom>
              <a:avLst/>
              <a:gdLst/>
              <a:ahLst/>
              <a:cxnLst/>
              <a:rect l="l" t="t" r="r" b="b"/>
              <a:pathLst>
                <a:path w="1938602" h="902772">
                  <a:moveTo>
                    <a:pt x="31554" y="0"/>
                  </a:moveTo>
                  <a:lnTo>
                    <a:pt x="1907048" y="0"/>
                  </a:lnTo>
                  <a:cubicBezTo>
                    <a:pt x="1924475" y="0"/>
                    <a:pt x="1938602" y="14127"/>
                    <a:pt x="1938602" y="31554"/>
                  </a:cubicBezTo>
                  <a:lnTo>
                    <a:pt x="1938602" y="871218"/>
                  </a:lnTo>
                  <a:cubicBezTo>
                    <a:pt x="1938602" y="888645"/>
                    <a:pt x="1924475" y="902772"/>
                    <a:pt x="1907048" y="902772"/>
                  </a:cubicBezTo>
                  <a:lnTo>
                    <a:pt x="31554" y="902772"/>
                  </a:lnTo>
                  <a:cubicBezTo>
                    <a:pt x="14127" y="902772"/>
                    <a:pt x="0" y="888645"/>
                    <a:pt x="0" y="871218"/>
                  </a:cubicBezTo>
                  <a:lnTo>
                    <a:pt x="0" y="31554"/>
                  </a:lnTo>
                  <a:cubicBezTo>
                    <a:pt x="0" y="14127"/>
                    <a:pt x="14127" y="0"/>
                    <a:pt x="3155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938602" cy="921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909524" y="2708624"/>
            <a:ext cx="480632" cy="480632"/>
            <a:chOff x="0" y="0"/>
            <a:chExt cx="640842" cy="6408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0842" cy="640842"/>
            </a:xfrm>
            <a:custGeom>
              <a:avLst/>
              <a:gdLst/>
              <a:ahLst/>
              <a:cxnLst/>
              <a:rect l="l" t="t" r="r" b="b"/>
              <a:pathLst>
                <a:path w="640842" h="640842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cubicBezTo>
                    <a:pt x="497332" y="0"/>
                    <a:pt x="640842" y="143510"/>
                    <a:pt x="640842" y="320421"/>
                  </a:cubicBezTo>
                  <a:cubicBezTo>
                    <a:pt x="640842" y="497332"/>
                    <a:pt x="497332" y="640842"/>
                    <a:pt x="320421" y="640842"/>
                  </a:cubicBez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419526" y="6066901"/>
            <a:ext cx="7360630" cy="3086100"/>
            <a:chOff x="0" y="0"/>
            <a:chExt cx="1938602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38602" cy="812800"/>
            </a:xfrm>
            <a:custGeom>
              <a:avLst/>
              <a:gdLst/>
              <a:ahLst/>
              <a:cxnLst/>
              <a:rect l="l" t="t" r="r" b="b"/>
              <a:pathLst>
                <a:path w="1938602" h="812800">
                  <a:moveTo>
                    <a:pt x="31554" y="0"/>
                  </a:moveTo>
                  <a:lnTo>
                    <a:pt x="1907048" y="0"/>
                  </a:lnTo>
                  <a:cubicBezTo>
                    <a:pt x="1924475" y="0"/>
                    <a:pt x="1938602" y="14127"/>
                    <a:pt x="1938602" y="31554"/>
                  </a:cubicBezTo>
                  <a:lnTo>
                    <a:pt x="1938602" y="781246"/>
                  </a:lnTo>
                  <a:cubicBezTo>
                    <a:pt x="1938602" y="798673"/>
                    <a:pt x="1924475" y="812800"/>
                    <a:pt x="1907048" y="812800"/>
                  </a:cubicBezTo>
                  <a:lnTo>
                    <a:pt x="31554" y="812800"/>
                  </a:lnTo>
                  <a:cubicBezTo>
                    <a:pt x="14127" y="812800"/>
                    <a:pt x="0" y="798673"/>
                    <a:pt x="0" y="781246"/>
                  </a:cubicBezTo>
                  <a:lnTo>
                    <a:pt x="0" y="31554"/>
                  </a:lnTo>
                  <a:cubicBezTo>
                    <a:pt x="0" y="14127"/>
                    <a:pt x="14127" y="0"/>
                    <a:pt x="3155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938602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11344" y="6374463"/>
            <a:ext cx="480632" cy="480632"/>
            <a:chOff x="0" y="0"/>
            <a:chExt cx="640842" cy="6408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0842" cy="640842"/>
            </a:xfrm>
            <a:custGeom>
              <a:avLst/>
              <a:gdLst/>
              <a:ahLst/>
              <a:cxnLst/>
              <a:rect l="l" t="t" r="r" b="b"/>
              <a:pathLst>
                <a:path w="640842" h="640842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cubicBezTo>
                    <a:pt x="497332" y="0"/>
                    <a:pt x="640842" y="143510"/>
                    <a:pt x="640842" y="320421"/>
                  </a:cubicBezTo>
                  <a:cubicBezTo>
                    <a:pt x="640842" y="497332"/>
                    <a:pt x="497332" y="640842"/>
                    <a:pt x="320421" y="640842"/>
                  </a:cubicBez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9582398" y="6027277"/>
            <a:ext cx="7360630" cy="3086100"/>
            <a:chOff x="0" y="0"/>
            <a:chExt cx="1938602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38602" cy="812800"/>
            </a:xfrm>
            <a:custGeom>
              <a:avLst/>
              <a:gdLst/>
              <a:ahLst/>
              <a:cxnLst/>
              <a:rect l="l" t="t" r="r" b="b"/>
              <a:pathLst>
                <a:path w="1938602" h="812800">
                  <a:moveTo>
                    <a:pt x="31554" y="0"/>
                  </a:moveTo>
                  <a:lnTo>
                    <a:pt x="1907048" y="0"/>
                  </a:lnTo>
                  <a:cubicBezTo>
                    <a:pt x="1924475" y="0"/>
                    <a:pt x="1938602" y="14127"/>
                    <a:pt x="1938602" y="31554"/>
                  </a:cubicBezTo>
                  <a:lnTo>
                    <a:pt x="1938602" y="781246"/>
                  </a:lnTo>
                  <a:cubicBezTo>
                    <a:pt x="1938602" y="798673"/>
                    <a:pt x="1924475" y="812800"/>
                    <a:pt x="1907048" y="812800"/>
                  </a:cubicBezTo>
                  <a:lnTo>
                    <a:pt x="31554" y="812800"/>
                  </a:lnTo>
                  <a:cubicBezTo>
                    <a:pt x="14127" y="812800"/>
                    <a:pt x="0" y="798673"/>
                    <a:pt x="0" y="781246"/>
                  </a:cubicBezTo>
                  <a:lnTo>
                    <a:pt x="0" y="31554"/>
                  </a:lnTo>
                  <a:cubicBezTo>
                    <a:pt x="0" y="14127"/>
                    <a:pt x="14127" y="0"/>
                    <a:pt x="3155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938602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09524" y="6374463"/>
            <a:ext cx="480632" cy="480632"/>
            <a:chOff x="0" y="0"/>
            <a:chExt cx="640842" cy="64084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40842" cy="640842"/>
            </a:xfrm>
            <a:custGeom>
              <a:avLst/>
              <a:gdLst/>
              <a:ahLst/>
              <a:cxnLst/>
              <a:rect l="l" t="t" r="r" b="b"/>
              <a:pathLst>
                <a:path w="640842" h="640842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cubicBezTo>
                    <a:pt x="497332" y="0"/>
                    <a:pt x="640842" y="143510"/>
                    <a:pt x="640842" y="320421"/>
                  </a:cubicBezTo>
                  <a:cubicBezTo>
                    <a:pt x="640842" y="497332"/>
                    <a:pt x="497332" y="640842"/>
                    <a:pt x="320421" y="640842"/>
                  </a:cubicBez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843248" y="9772364"/>
            <a:ext cx="16610648" cy="38976"/>
            <a:chOff x="0" y="0"/>
            <a:chExt cx="22147530" cy="5196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2147530" cy="51943"/>
            </a:xfrm>
            <a:custGeom>
              <a:avLst/>
              <a:gdLst/>
              <a:ahLst/>
              <a:cxnLst/>
              <a:rect l="l" t="t" r="r" b="b"/>
              <a:pathLst>
                <a:path w="22147530" h="51943">
                  <a:moveTo>
                    <a:pt x="0" y="0"/>
                  </a:moveTo>
                  <a:lnTo>
                    <a:pt x="22147530" y="0"/>
                  </a:lnTo>
                  <a:lnTo>
                    <a:pt x="22147530" y="51943"/>
                  </a:lnTo>
                  <a:lnTo>
                    <a:pt x="0" y="51943"/>
                  </a:lnTo>
                  <a:close/>
                </a:path>
              </a:pathLst>
            </a:custGeom>
            <a:solidFill>
              <a:srgbClr val="EFE4CB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419526" y="2361438"/>
            <a:ext cx="7360630" cy="3467338"/>
            <a:chOff x="0" y="0"/>
            <a:chExt cx="1938602" cy="9132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38602" cy="913208"/>
            </a:xfrm>
            <a:custGeom>
              <a:avLst/>
              <a:gdLst/>
              <a:ahLst/>
              <a:cxnLst/>
              <a:rect l="l" t="t" r="r" b="b"/>
              <a:pathLst>
                <a:path w="1938602" h="913208">
                  <a:moveTo>
                    <a:pt x="31554" y="0"/>
                  </a:moveTo>
                  <a:lnTo>
                    <a:pt x="1907048" y="0"/>
                  </a:lnTo>
                  <a:cubicBezTo>
                    <a:pt x="1924475" y="0"/>
                    <a:pt x="1938602" y="14127"/>
                    <a:pt x="1938602" y="31554"/>
                  </a:cubicBezTo>
                  <a:lnTo>
                    <a:pt x="1938602" y="881654"/>
                  </a:lnTo>
                  <a:cubicBezTo>
                    <a:pt x="1938602" y="899081"/>
                    <a:pt x="1924475" y="913208"/>
                    <a:pt x="1907048" y="913208"/>
                  </a:cubicBezTo>
                  <a:lnTo>
                    <a:pt x="31554" y="913208"/>
                  </a:lnTo>
                  <a:cubicBezTo>
                    <a:pt x="14127" y="913208"/>
                    <a:pt x="0" y="899081"/>
                    <a:pt x="0" y="881654"/>
                  </a:cubicBezTo>
                  <a:lnTo>
                    <a:pt x="0" y="31554"/>
                  </a:lnTo>
                  <a:cubicBezTo>
                    <a:pt x="0" y="14127"/>
                    <a:pt x="14127" y="0"/>
                    <a:pt x="3155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938602" cy="932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11344" y="2708624"/>
            <a:ext cx="480632" cy="480632"/>
            <a:chOff x="0" y="0"/>
            <a:chExt cx="640842" cy="6408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40842" cy="640842"/>
            </a:xfrm>
            <a:custGeom>
              <a:avLst/>
              <a:gdLst/>
              <a:ahLst/>
              <a:cxnLst/>
              <a:rect l="l" t="t" r="r" b="b"/>
              <a:pathLst>
                <a:path w="640842" h="640842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cubicBezTo>
                    <a:pt x="497332" y="0"/>
                    <a:pt x="640842" y="143510"/>
                    <a:pt x="640842" y="320421"/>
                  </a:cubicBezTo>
                  <a:cubicBezTo>
                    <a:pt x="640842" y="497332"/>
                    <a:pt x="497332" y="640842"/>
                    <a:pt x="320421" y="640842"/>
                  </a:cubicBez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26" name="Freeform 26"/>
          <p:cNvSpPr/>
          <p:nvPr/>
        </p:nvSpPr>
        <p:spPr>
          <a:xfrm>
            <a:off x="2418588" y="4028313"/>
            <a:ext cx="1547659" cy="1547659"/>
          </a:xfrm>
          <a:custGeom>
            <a:avLst/>
            <a:gdLst/>
            <a:ahLst/>
            <a:cxnLst/>
            <a:rect l="l" t="t" r="r" b="b"/>
            <a:pathLst>
              <a:path w="1547659" h="1547659">
                <a:moveTo>
                  <a:pt x="0" y="0"/>
                </a:moveTo>
                <a:lnTo>
                  <a:pt x="1547659" y="0"/>
                </a:lnTo>
                <a:lnTo>
                  <a:pt x="1547659" y="1547659"/>
                </a:lnTo>
                <a:lnTo>
                  <a:pt x="0" y="15476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978" r="-19978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4328197" y="4028313"/>
            <a:ext cx="1543288" cy="1543288"/>
          </a:xfrm>
          <a:custGeom>
            <a:avLst/>
            <a:gdLst/>
            <a:ahLst/>
            <a:cxnLst/>
            <a:rect l="l" t="t" r="r" b="b"/>
            <a:pathLst>
              <a:path w="1543288" h="1543288">
                <a:moveTo>
                  <a:pt x="0" y="0"/>
                </a:moveTo>
                <a:lnTo>
                  <a:pt x="1543288" y="0"/>
                </a:lnTo>
                <a:lnTo>
                  <a:pt x="1543288" y="1543288"/>
                </a:lnTo>
                <a:lnTo>
                  <a:pt x="0" y="1543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233435" y="4028313"/>
            <a:ext cx="1543050" cy="1543050"/>
          </a:xfrm>
          <a:custGeom>
            <a:avLst/>
            <a:gdLst/>
            <a:ahLst/>
            <a:cxnLst/>
            <a:rect l="l" t="t" r="r" b="b"/>
            <a:pathLst>
              <a:path w="1543050" h="1543050">
                <a:moveTo>
                  <a:pt x="0" y="0"/>
                </a:moveTo>
                <a:lnTo>
                  <a:pt x="1543050" y="0"/>
                </a:lnTo>
                <a:lnTo>
                  <a:pt x="154305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703" r="-45703"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1733204" y="4017210"/>
            <a:ext cx="1569865" cy="1569865"/>
          </a:xfrm>
          <a:custGeom>
            <a:avLst/>
            <a:gdLst/>
            <a:ahLst/>
            <a:cxnLst/>
            <a:rect l="l" t="t" r="r" b="b"/>
            <a:pathLst>
              <a:path w="1569865" h="1569865">
                <a:moveTo>
                  <a:pt x="0" y="0"/>
                </a:moveTo>
                <a:lnTo>
                  <a:pt x="1569864" y="0"/>
                </a:lnTo>
                <a:lnTo>
                  <a:pt x="1569864" y="1569865"/>
                </a:lnTo>
                <a:lnTo>
                  <a:pt x="0" y="1569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3613130" y="4017210"/>
            <a:ext cx="1540984" cy="1540984"/>
          </a:xfrm>
          <a:custGeom>
            <a:avLst/>
            <a:gdLst/>
            <a:ahLst/>
            <a:cxnLst/>
            <a:rect l="l" t="t" r="r" b="b"/>
            <a:pathLst>
              <a:path w="1540984" h="1540984">
                <a:moveTo>
                  <a:pt x="0" y="0"/>
                </a:moveTo>
                <a:lnTo>
                  <a:pt x="1540984" y="0"/>
                </a:lnTo>
                <a:lnTo>
                  <a:pt x="1540984" y="1540984"/>
                </a:lnTo>
                <a:lnTo>
                  <a:pt x="0" y="15409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3178136" y="7609951"/>
            <a:ext cx="1516712" cy="1516712"/>
          </a:xfrm>
          <a:custGeom>
            <a:avLst/>
            <a:gdLst/>
            <a:ahLst/>
            <a:cxnLst/>
            <a:rect l="l" t="t" r="r" b="b"/>
            <a:pathLst>
              <a:path w="1516712" h="1516712">
                <a:moveTo>
                  <a:pt x="0" y="0"/>
                </a:moveTo>
                <a:lnTo>
                  <a:pt x="1516712" y="0"/>
                </a:lnTo>
                <a:lnTo>
                  <a:pt x="1516712" y="1516712"/>
                </a:lnTo>
                <a:lnTo>
                  <a:pt x="0" y="15167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5099841" y="7646527"/>
            <a:ext cx="1516712" cy="1516712"/>
          </a:xfrm>
          <a:custGeom>
            <a:avLst/>
            <a:gdLst/>
            <a:ahLst/>
            <a:cxnLst/>
            <a:rect l="l" t="t" r="r" b="b"/>
            <a:pathLst>
              <a:path w="1516712" h="1516712">
                <a:moveTo>
                  <a:pt x="0" y="0"/>
                </a:moveTo>
                <a:lnTo>
                  <a:pt x="1516712" y="0"/>
                </a:lnTo>
                <a:lnTo>
                  <a:pt x="1516712" y="1516712"/>
                </a:lnTo>
                <a:lnTo>
                  <a:pt x="0" y="15167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2569643" y="7696389"/>
            <a:ext cx="1466850" cy="1466850"/>
          </a:xfrm>
          <a:custGeom>
            <a:avLst/>
            <a:gdLst/>
            <a:ahLst/>
            <a:cxnLst/>
            <a:rect l="l" t="t" r="r" b="b"/>
            <a:pathLst>
              <a:path w="1466850" h="1466850">
                <a:moveTo>
                  <a:pt x="0" y="0"/>
                </a:moveTo>
                <a:lnTo>
                  <a:pt x="1466850" y="0"/>
                </a:lnTo>
                <a:lnTo>
                  <a:pt x="146685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868680" y="438150"/>
            <a:ext cx="6522720" cy="742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Công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nghệ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sử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dụng</a:t>
            </a:r>
            <a:endParaRPr lang="en-US" sz="480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2418588" y="2564130"/>
            <a:ext cx="5792724" cy="421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Nền tảng &amp; giao diện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418588" y="3208782"/>
            <a:ext cx="5655564" cy="695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React Native, Expo SDK </a:t>
            </a:r>
            <a:r>
              <a:rPr lang="en-US" sz="2250" dirty="0" smtClean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25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Expo Router, </a:t>
            </a:r>
            <a:r>
              <a:rPr lang="en-US" sz="225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NativeWind</a:t>
            </a:r>
            <a:r>
              <a:rPr lang="en-US" sz="225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25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TailwindCSS</a:t>
            </a:r>
            <a:endParaRPr lang="en-US" sz="225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0716768" y="2564130"/>
            <a:ext cx="5792724" cy="421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Ngôn ngữ lập trình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716768" y="3208782"/>
            <a:ext cx="5655564" cy="695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TypeScript, JavaScript, định kiểu dữ liệu bằng Interface/Type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418588" y="6229969"/>
            <a:ext cx="5792724" cy="421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Dữ liệu &amp; xác thực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418588" y="6874621"/>
            <a:ext cx="5655564" cy="695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Firebase Authentication, Cloud Firestore, Security Rules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716768" y="6229969"/>
            <a:ext cx="5792724" cy="421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Hình ảnh &amp; bản đồ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716768" y="6874621"/>
            <a:ext cx="5655564" cy="695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Cloudinary CDN, Google Maps Platform / Map component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145768" y="9861042"/>
            <a:ext cx="3255264" cy="22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Triệu Chanh Đa - DA22TTA  |  07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144" y="-7144"/>
            <a:ext cx="18301830" cy="178880"/>
            <a:chOff x="0" y="0"/>
            <a:chExt cx="24402440" cy="2385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38506"/>
            </a:xfrm>
            <a:custGeom>
              <a:avLst/>
              <a:gdLst/>
              <a:ahLst/>
              <a:cxnLst/>
              <a:rect l="l" t="t" r="r" b="b"/>
              <a:pathLst>
                <a:path w="24402414" h="238506">
                  <a:moveTo>
                    <a:pt x="0" y="0"/>
                  </a:moveTo>
                  <a:lnTo>
                    <a:pt x="24402414" y="0"/>
                  </a:lnTo>
                  <a:lnTo>
                    <a:pt x="24402414" y="238506"/>
                  </a:lnTo>
                  <a:lnTo>
                    <a:pt x="0" y="238506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868680" y="438150"/>
            <a:ext cx="11856720" cy="742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Đối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tượng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sử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dụng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và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chức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năng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chính</a:t>
            </a:r>
            <a:endParaRPr lang="en-US" sz="480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158716" y="2118836"/>
            <a:ext cx="4883468" cy="6460808"/>
            <a:chOff x="0" y="0"/>
            <a:chExt cx="6511290" cy="86144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511290" cy="8614410"/>
            </a:xfrm>
            <a:custGeom>
              <a:avLst/>
              <a:gdLst/>
              <a:ahLst/>
              <a:cxnLst/>
              <a:rect l="l" t="t" r="r" b="b"/>
              <a:pathLst>
                <a:path w="6511290" h="8614410">
                  <a:moveTo>
                    <a:pt x="0" y="1085215"/>
                  </a:moveTo>
                  <a:cubicBezTo>
                    <a:pt x="0" y="485902"/>
                    <a:pt x="485902" y="0"/>
                    <a:pt x="1085215" y="0"/>
                  </a:cubicBezTo>
                  <a:lnTo>
                    <a:pt x="5426075" y="0"/>
                  </a:lnTo>
                  <a:cubicBezTo>
                    <a:pt x="6025388" y="0"/>
                    <a:pt x="6511290" y="485902"/>
                    <a:pt x="6511290" y="1085215"/>
                  </a:cubicBezTo>
                  <a:lnTo>
                    <a:pt x="6511290" y="7529195"/>
                  </a:lnTo>
                  <a:cubicBezTo>
                    <a:pt x="6511290" y="8128508"/>
                    <a:pt x="6025388" y="8614410"/>
                    <a:pt x="5426075" y="8614410"/>
                  </a:cubicBezTo>
                  <a:lnTo>
                    <a:pt x="1085215" y="8614410"/>
                  </a:lnTo>
                  <a:cubicBezTo>
                    <a:pt x="485902" y="8614410"/>
                    <a:pt x="0" y="8128508"/>
                    <a:pt x="0" y="752919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158716" y="2118836"/>
            <a:ext cx="4883468" cy="220028"/>
            <a:chOff x="0" y="0"/>
            <a:chExt cx="6511290" cy="2933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1290" cy="293370"/>
            </a:xfrm>
            <a:custGeom>
              <a:avLst/>
              <a:gdLst/>
              <a:ahLst/>
              <a:cxnLst/>
              <a:rect l="l" t="t" r="r" b="b"/>
              <a:pathLst>
                <a:path w="6511290" h="293370">
                  <a:moveTo>
                    <a:pt x="0" y="0"/>
                  </a:moveTo>
                  <a:lnTo>
                    <a:pt x="6511290" y="0"/>
                  </a:lnTo>
                  <a:lnTo>
                    <a:pt x="6511290" y="293370"/>
                  </a:lnTo>
                  <a:lnTo>
                    <a:pt x="0" y="293370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527048" y="2673858"/>
            <a:ext cx="4146804" cy="462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Khách vãng lai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38776" y="3847052"/>
            <a:ext cx="233744" cy="233744"/>
            <a:chOff x="0" y="0"/>
            <a:chExt cx="311658" cy="3116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1658" cy="311658"/>
            </a:xfrm>
            <a:custGeom>
              <a:avLst/>
              <a:gdLst/>
              <a:ahLst/>
              <a:cxnLst/>
              <a:rect l="l" t="t" r="r" b="b"/>
              <a:pathLst>
                <a:path w="311658" h="311658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cubicBezTo>
                    <a:pt x="241935" y="0"/>
                    <a:pt x="311658" y="69723"/>
                    <a:pt x="311658" y="155829"/>
                  </a:cubicBezTo>
                  <a:cubicBezTo>
                    <a:pt x="311658" y="241935"/>
                    <a:pt x="241935" y="311658"/>
                    <a:pt x="155829" y="311658"/>
                  </a:cubicBezTo>
                  <a:cubicBezTo>
                    <a:pt x="69723" y="311658"/>
                    <a:pt x="0" y="241935"/>
                    <a:pt x="0" y="155829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2034540" y="3771138"/>
            <a:ext cx="3461004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Xem di sản, lễ hội, bài viết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38776" y="4807172"/>
            <a:ext cx="233744" cy="233744"/>
            <a:chOff x="0" y="0"/>
            <a:chExt cx="311658" cy="3116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11658" cy="311658"/>
            </a:xfrm>
            <a:custGeom>
              <a:avLst/>
              <a:gdLst/>
              <a:ahLst/>
              <a:cxnLst/>
              <a:rect l="l" t="t" r="r" b="b"/>
              <a:pathLst>
                <a:path w="311658" h="311658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cubicBezTo>
                    <a:pt x="241935" y="0"/>
                    <a:pt x="311658" y="69723"/>
                    <a:pt x="311658" y="155829"/>
                  </a:cubicBezTo>
                  <a:cubicBezTo>
                    <a:pt x="311658" y="241935"/>
                    <a:pt x="241935" y="311658"/>
                    <a:pt x="155829" y="311658"/>
                  </a:cubicBezTo>
                  <a:cubicBezTo>
                    <a:pt x="69723" y="311658"/>
                    <a:pt x="0" y="241935"/>
                    <a:pt x="0" y="155829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2034540" y="4731258"/>
            <a:ext cx="3461004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Xem bản đồ và vị trí di sản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638776" y="5767292"/>
            <a:ext cx="233744" cy="233744"/>
            <a:chOff x="0" y="0"/>
            <a:chExt cx="311658" cy="31165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11658" cy="311658"/>
            </a:xfrm>
            <a:custGeom>
              <a:avLst/>
              <a:gdLst/>
              <a:ahLst/>
              <a:cxnLst/>
              <a:rect l="l" t="t" r="r" b="b"/>
              <a:pathLst>
                <a:path w="311658" h="311658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cubicBezTo>
                    <a:pt x="241935" y="0"/>
                    <a:pt x="311658" y="69723"/>
                    <a:pt x="311658" y="155829"/>
                  </a:cubicBezTo>
                  <a:cubicBezTo>
                    <a:pt x="311658" y="241935"/>
                    <a:pt x="241935" y="311658"/>
                    <a:pt x="155829" y="311658"/>
                  </a:cubicBezTo>
                  <a:cubicBezTo>
                    <a:pt x="69723" y="311658"/>
                    <a:pt x="0" y="241935"/>
                    <a:pt x="0" y="155829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2034540" y="5700903"/>
            <a:ext cx="3461004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Chuyển đổi ngôn ngữ, sáng/tối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850856" y="2118836"/>
            <a:ext cx="4883468" cy="6460808"/>
            <a:chOff x="0" y="0"/>
            <a:chExt cx="6511290" cy="861441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511290" cy="8614410"/>
            </a:xfrm>
            <a:custGeom>
              <a:avLst/>
              <a:gdLst/>
              <a:ahLst/>
              <a:cxnLst/>
              <a:rect l="l" t="t" r="r" b="b"/>
              <a:pathLst>
                <a:path w="6511290" h="8614410">
                  <a:moveTo>
                    <a:pt x="0" y="1085215"/>
                  </a:moveTo>
                  <a:cubicBezTo>
                    <a:pt x="0" y="485902"/>
                    <a:pt x="485902" y="0"/>
                    <a:pt x="1085215" y="0"/>
                  </a:cubicBezTo>
                  <a:lnTo>
                    <a:pt x="5426075" y="0"/>
                  </a:lnTo>
                  <a:cubicBezTo>
                    <a:pt x="6025388" y="0"/>
                    <a:pt x="6511290" y="485902"/>
                    <a:pt x="6511290" y="1085215"/>
                  </a:cubicBezTo>
                  <a:lnTo>
                    <a:pt x="6511290" y="7529195"/>
                  </a:lnTo>
                  <a:cubicBezTo>
                    <a:pt x="6511290" y="8128508"/>
                    <a:pt x="6025388" y="8614410"/>
                    <a:pt x="5426075" y="8614410"/>
                  </a:cubicBezTo>
                  <a:lnTo>
                    <a:pt x="1085215" y="8614410"/>
                  </a:lnTo>
                  <a:cubicBezTo>
                    <a:pt x="485902" y="8614410"/>
                    <a:pt x="0" y="8128508"/>
                    <a:pt x="0" y="752919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850856" y="2118836"/>
            <a:ext cx="4883468" cy="220028"/>
            <a:chOff x="0" y="0"/>
            <a:chExt cx="6511290" cy="29337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511290" cy="293370"/>
            </a:xfrm>
            <a:custGeom>
              <a:avLst/>
              <a:gdLst/>
              <a:ahLst/>
              <a:cxnLst/>
              <a:rect l="l" t="t" r="r" b="b"/>
              <a:pathLst>
                <a:path w="6511290" h="293370">
                  <a:moveTo>
                    <a:pt x="0" y="0"/>
                  </a:moveTo>
                  <a:lnTo>
                    <a:pt x="6511290" y="0"/>
                  </a:lnTo>
                  <a:lnTo>
                    <a:pt x="6511290" y="293370"/>
                  </a:lnTo>
                  <a:lnTo>
                    <a:pt x="0" y="293370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7219188" y="2673858"/>
            <a:ext cx="4146804" cy="462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Thành viên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330916" y="3847052"/>
            <a:ext cx="233744" cy="233744"/>
            <a:chOff x="0" y="0"/>
            <a:chExt cx="311658" cy="31165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11658" cy="311658"/>
            </a:xfrm>
            <a:custGeom>
              <a:avLst/>
              <a:gdLst/>
              <a:ahLst/>
              <a:cxnLst/>
              <a:rect l="l" t="t" r="r" b="b"/>
              <a:pathLst>
                <a:path w="311658" h="311658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cubicBezTo>
                    <a:pt x="241935" y="0"/>
                    <a:pt x="311658" y="69723"/>
                    <a:pt x="311658" y="155829"/>
                  </a:cubicBezTo>
                  <a:cubicBezTo>
                    <a:pt x="311658" y="241935"/>
                    <a:pt x="241935" y="311658"/>
                    <a:pt x="155829" y="311658"/>
                  </a:cubicBezTo>
                  <a:cubicBezTo>
                    <a:pt x="69723" y="311658"/>
                    <a:pt x="0" y="241935"/>
                    <a:pt x="0" y="155829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7726680" y="3771138"/>
            <a:ext cx="3461004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Kế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thừa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quyền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khách</a:t>
            </a:r>
            <a:endParaRPr lang="en-US" sz="28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7330916" y="4807172"/>
            <a:ext cx="233744" cy="233744"/>
            <a:chOff x="0" y="0"/>
            <a:chExt cx="311658" cy="31165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11658" cy="311658"/>
            </a:xfrm>
            <a:custGeom>
              <a:avLst/>
              <a:gdLst/>
              <a:ahLst/>
              <a:cxnLst/>
              <a:rect l="l" t="t" r="r" b="b"/>
              <a:pathLst>
                <a:path w="311658" h="311658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cubicBezTo>
                    <a:pt x="241935" y="0"/>
                    <a:pt x="311658" y="69723"/>
                    <a:pt x="311658" y="155829"/>
                  </a:cubicBezTo>
                  <a:cubicBezTo>
                    <a:pt x="311658" y="241935"/>
                    <a:pt x="241935" y="311658"/>
                    <a:pt x="155829" y="311658"/>
                  </a:cubicBezTo>
                  <a:cubicBezTo>
                    <a:pt x="69723" y="311658"/>
                    <a:pt x="0" y="241935"/>
                    <a:pt x="0" y="155829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7726680" y="4731258"/>
            <a:ext cx="3461004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Lưu yêu thích, bình luận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330916" y="5767292"/>
            <a:ext cx="233744" cy="233744"/>
            <a:chOff x="0" y="0"/>
            <a:chExt cx="311658" cy="31165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11658" cy="311658"/>
            </a:xfrm>
            <a:custGeom>
              <a:avLst/>
              <a:gdLst/>
              <a:ahLst/>
              <a:cxnLst/>
              <a:rect l="l" t="t" r="r" b="b"/>
              <a:pathLst>
                <a:path w="311658" h="311658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cubicBezTo>
                    <a:pt x="241935" y="0"/>
                    <a:pt x="311658" y="69723"/>
                    <a:pt x="311658" y="155829"/>
                  </a:cubicBezTo>
                  <a:cubicBezTo>
                    <a:pt x="311658" y="241935"/>
                    <a:pt x="241935" y="311658"/>
                    <a:pt x="155829" y="311658"/>
                  </a:cubicBezTo>
                  <a:cubicBezTo>
                    <a:pt x="69723" y="311658"/>
                    <a:pt x="0" y="241935"/>
                    <a:pt x="0" y="155829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7726680" y="5700903"/>
            <a:ext cx="3461004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Gửi bài đóng góp cộng đồng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2542996" y="2118836"/>
            <a:ext cx="4883468" cy="6460808"/>
            <a:chOff x="0" y="0"/>
            <a:chExt cx="6511290" cy="861441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511290" cy="8614410"/>
            </a:xfrm>
            <a:custGeom>
              <a:avLst/>
              <a:gdLst/>
              <a:ahLst/>
              <a:cxnLst/>
              <a:rect l="l" t="t" r="r" b="b"/>
              <a:pathLst>
                <a:path w="6511290" h="8614410">
                  <a:moveTo>
                    <a:pt x="0" y="1085215"/>
                  </a:moveTo>
                  <a:cubicBezTo>
                    <a:pt x="0" y="485902"/>
                    <a:pt x="485902" y="0"/>
                    <a:pt x="1085215" y="0"/>
                  </a:cubicBezTo>
                  <a:lnTo>
                    <a:pt x="5426075" y="0"/>
                  </a:lnTo>
                  <a:cubicBezTo>
                    <a:pt x="6025388" y="0"/>
                    <a:pt x="6511290" y="485902"/>
                    <a:pt x="6511290" y="1085215"/>
                  </a:cubicBezTo>
                  <a:lnTo>
                    <a:pt x="6511290" y="7529195"/>
                  </a:lnTo>
                  <a:cubicBezTo>
                    <a:pt x="6511290" y="8128508"/>
                    <a:pt x="6025388" y="8614410"/>
                    <a:pt x="5426075" y="8614410"/>
                  </a:cubicBezTo>
                  <a:lnTo>
                    <a:pt x="1085215" y="8614410"/>
                  </a:lnTo>
                  <a:cubicBezTo>
                    <a:pt x="485902" y="8614410"/>
                    <a:pt x="0" y="8128508"/>
                    <a:pt x="0" y="752919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2542996" y="2118836"/>
            <a:ext cx="4883468" cy="220028"/>
            <a:chOff x="0" y="0"/>
            <a:chExt cx="6511290" cy="29337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511290" cy="293370"/>
            </a:xfrm>
            <a:custGeom>
              <a:avLst/>
              <a:gdLst/>
              <a:ahLst/>
              <a:cxnLst/>
              <a:rect l="l" t="t" r="r" b="b"/>
              <a:pathLst>
                <a:path w="6511290" h="293370">
                  <a:moveTo>
                    <a:pt x="0" y="0"/>
                  </a:moveTo>
                  <a:lnTo>
                    <a:pt x="6511290" y="0"/>
                  </a:lnTo>
                  <a:lnTo>
                    <a:pt x="6511290" y="293370"/>
                  </a:lnTo>
                  <a:lnTo>
                    <a:pt x="0" y="293370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38" name="TextBox 38"/>
          <p:cNvSpPr txBox="1"/>
          <p:nvPr/>
        </p:nvSpPr>
        <p:spPr>
          <a:xfrm>
            <a:off x="12911328" y="2673858"/>
            <a:ext cx="4146804" cy="462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Quản trị viên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3023056" y="3847052"/>
            <a:ext cx="233744" cy="233744"/>
            <a:chOff x="0" y="0"/>
            <a:chExt cx="311658" cy="31165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11658" cy="311658"/>
            </a:xfrm>
            <a:custGeom>
              <a:avLst/>
              <a:gdLst/>
              <a:ahLst/>
              <a:cxnLst/>
              <a:rect l="l" t="t" r="r" b="b"/>
              <a:pathLst>
                <a:path w="311658" h="311658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cubicBezTo>
                    <a:pt x="241935" y="0"/>
                    <a:pt x="311658" y="69723"/>
                    <a:pt x="311658" y="155829"/>
                  </a:cubicBezTo>
                  <a:cubicBezTo>
                    <a:pt x="311658" y="241935"/>
                    <a:pt x="241935" y="311658"/>
                    <a:pt x="155829" y="311658"/>
                  </a:cubicBezTo>
                  <a:cubicBezTo>
                    <a:pt x="69723" y="311658"/>
                    <a:pt x="0" y="241935"/>
                    <a:pt x="0" y="155829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41" name="TextBox 41"/>
          <p:cNvSpPr txBox="1"/>
          <p:nvPr/>
        </p:nvSpPr>
        <p:spPr>
          <a:xfrm>
            <a:off x="13418820" y="3771138"/>
            <a:ext cx="3461004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Quản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lý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dữ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 smtClean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liệu</a:t>
            </a:r>
            <a:endParaRPr lang="en-US" sz="2800" dirty="0" smtClean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lang="en-US" sz="2800" dirty="0" err="1" smtClean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hệ</a:t>
            </a:r>
            <a:r>
              <a:rPr lang="en-US" sz="2800" dirty="0" smtClean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thống</a:t>
            </a:r>
            <a:endParaRPr lang="en-US" sz="28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13023056" y="4807172"/>
            <a:ext cx="233744" cy="233744"/>
            <a:chOff x="0" y="0"/>
            <a:chExt cx="311658" cy="31165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11658" cy="311658"/>
            </a:xfrm>
            <a:custGeom>
              <a:avLst/>
              <a:gdLst/>
              <a:ahLst/>
              <a:cxnLst/>
              <a:rect l="l" t="t" r="r" b="b"/>
              <a:pathLst>
                <a:path w="311658" h="311658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cubicBezTo>
                    <a:pt x="241935" y="0"/>
                    <a:pt x="311658" y="69723"/>
                    <a:pt x="311658" y="155829"/>
                  </a:cubicBezTo>
                  <a:cubicBezTo>
                    <a:pt x="311658" y="241935"/>
                    <a:pt x="241935" y="311658"/>
                    <a:pt x="155829" y="311658"/>
                  </a:cubicBezTo>
                  <a:cubicBezTo>
                    <a:pt x="69723" y="311658"/>
                    <a:pt x="0" y="241935"/>
                    <a:pt x="0" y="155829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44" name="TextBox 44"/>
          <p:cNvSpPr txBox="1"/>
          <p:nvPr/>
        </p:nvSpPr>
        <p:spPr>
          <a:xfrm>
            <a:off x="13418820" y="4731258"/>
            <a:ext cx="3461004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Duyệt/từ chối bài đóng góp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3023056" y="5767292"/>
            <a:ext cx="233744" cy="233744"/>
            <a:chOff x="0" y="0"/>
            <a:chExt cx="311658" cy="31165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11658" cy="311658"/>
            </a:xfrm>
            <a:custGeom>
              <a:avLst/>
              <a:gdLst/>
              <a:ahLst/>
              <a:cxnLst/>
              <a:rect l="l" t="t" r="r" b="b"/>
              <a:pathLst>
                <a:path w="311658" h="311658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cubicBezTo>
                    <a:pt x="241935" y="0"/>
                    <a:pt x="311658" y="69723"/>
                    <a:pt x="311658" y="155829"/>
                  </a:cubicBezTo>
                  <a:cubicBezTo>
                    <a:pt x="311658" y="241935"/>
                    <a:pt x="241935" y="311658"/>
                    <a:pt x="155829" y="311658"/>
                  </a:cubicBezTo>
                  <a:cubicBezTo>
                    <a:pt x="69723" y="311658"/>
                    <a:pt x="0" y="241935"/>
                    <a:pt x="0" y="155829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47" name="TextBox 47"/>
          <p:cNvSpPr txBox="1"/>
          <p:nvPr/>
        </p:nvSpPr>
        <p:spPr>
          <a:xfrm>
            <a:off x="13418820" y="5700903"/>
            <a:ext cx="3461004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Phân quyền và theo dõi Dashboard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843248" y="9772364"/>
            <a:ext cx="16610648" cy="38976"/>
            <a:chOff x="0" y="0"/>
            <a:chExt cx="22147530" cy="5196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2147530" cy="51943"/>
            </a:xfrm>
            <a:custGeom>
              <a:avLst/>
              <a:gdLst/>
              <a:ahLst/>
              <a:cxnLst/>
              <a:rect l="l" t="t" r="r" b="b"/>
              <a:pathLst>
                <a:path w="22147530" h="51943">
                  <a:moveTo>
                    <a:pt x="0" y="0"/>
                  </a:moveTo>
                  <a:lnTo>
                    <a:pt x="22147530" y="0"/>
                  </a:lnTo>
                  <a:lnTo>
                    <a:pt x="22147530" y="51943"/>
                  </a:lnTo>
                  <a:lnTo>
                    <a:pt x="0" y="51943"/>
                  </a:lnTo>
                  <a:close/>
                </a:path>
              </a:pathLst>
            </a:custGeom>
            <a:solidFill>
              <a:srgbClr val="EFE4CB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sp>
        <p:nvSpPr>
          <p:cNvPr id="51" name="TextBox 51"/>
          <p:cNvSpPr txBox="1"/>
          <p:nvPr/>
        </p:nvSpPr>
        <p:spPr>
          <a:xfrm>
            <a:off x="14145768" y="9861042"/>
            <a:ext cx="3255264" cy="22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Triệu Chanh Đa - DA22TTA  |  08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144" y="-7144"/>
            <a:ext cx="18301830" cy="178880"/>
            <a:chOff x="0" y="0"/>
            <a:chExt cx="24402440" cy="2385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38506"/>
            </a:xfrm>
            <a:custGeom>
              <a:avLst/>
              <a:gdLst/>
              <a:ahLst/>
              <a:cxnLst/>
              <a:rect l="l" t="t" r="r" b="b"/>
              <a:pathLst>
                <a:path w="24402414" h="238506">
                  <a:moveTo>
                    <a:pt x="0" y="0"/>
                  </a:moveTo>
                  <a:lnTo>
                    <a:pt x="24402414" y="0"/>
                  </a:lnTo>
                  <a:lnTo>
                    <a:pt x="24402414" y="238506"/>
                  </a:lnTo>
                  <a:lnTo>
                    <a:pt x="0" y="238506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868680" y="438150"/>
            <a:ext cx="7818120" cy="742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Sơ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đồ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kiến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trúc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tổng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thể</a:t>
            </a:r>
            <a:endParaRPr lang="en-US" sz="480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3711312" y="1674552"/>
            <a:ext cx="10864920" cy="8117300"/>
            <a:chOff x="0" y="0"/>
            <a:chExt cx="11580952" cy="8652256"/>
          </a:xfrm>
        </p:grpSpPr>
        <p:sp>
          <p:nvSpPr>
            <p:cNvPr id="7" name="Freeform 7" descr="image3.png"/>
            <p:cNvSpPr/>
            <p:nvPr/>
          </p:nvSpPr>
          <p:spPr>
            <a:xfrm>
              <a:off x="0" y="0"/>
              <a:ext cx="11581003" cy="8652256"/>
            </a:xfrm>
            <a:custGeom>
              <a:avLst/>
              <a:gdLst/>
              <a:ahLst/>
              <a:cxnLst/>
              <a:rect l="l" t="t" r="r" b="b"/>
              <a:pathLst>
                <a:path w="11581003" h="8652256">
                  <a:moveTo>
                    <a:pt x="0" y="0"/>
                  </a:moveTo>
                  <a:lnTo>
                    <a:pt x="11581003" y="0"/>
                  </a:lnTo>
                  <a:lnTo>
                    <a:pt x="11581003" y="8652256"/>
                  </a:lnTo>
                  <a:lnTo>
                    <a:pt x="0" y="865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9" r="-29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843248" y="9772364"/>
            <a:ext cx="16610648" cy="38976"/>
            <a:chOff x="0" y="0"/>
            <a:chExt cx="22147530" cy="519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147530" cy="51943"/>
            </a:xfrm>
            <a:custGeom>
              <a:avLst/>
              <a:gdLst/>
              <a:ahLst/>
              <a:cxnLst/>
              <a:rect l="l" t="t" r="r" b="b"/>
              <a:pathLst>
                <a:path w="22147530" h="51943">
                  <a:moveTo>
                    <a:pt x="0" y="0"/>
                  </a:moveTo>
                  <a:lnTo>
                    <a:pt x="22147530" y="0"/>
                  </a:lnTo>
                  <a:lnTo>
                    <a:pt x="22147530" y="51943"/>
                  </a:lnTo>
                  <a:lnTo>
                    <a:pt x="0" y="51943"/>
                  </a:lnTo>
                  <a:close/>
                </a:path>
              </a:pathLst>
            </a:custGeom>
            <a:solidFill>
              <a:srgbClr val="EFE4CB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4145768" y="9861042"/>
            <a:ext cx="3255264" cy="22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Triệu Chanh Đa - DA22TTA  |  09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144" y="-7144"/>
            <a:ext cx="18301830" cy="178880"/>
            <a:chOff x="0" y="0"/>
            <a:chExt cx="24402440" cy="2385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38506"/>
            </a:xfrm>
            <a:custGeom>
              <a:avLst/>
              <a:gdLst/>
              <a:ahLst/>
              <a:cxnLst/>
              <a:rect l="l" t="t" r="r" b="b"/>
              <a:pathLst>
                <a:path w="24402414" h="238506">
                  <a:moveTo>
                    <a:pt x="0" y="0"/>
                  </a:moveTo>
                  <a:lnTo>
                    <a:pt x="24402414" y="0"/>
                  </a:lnTo>
                  <a:lnTo>
                    <a:pt x="24402414" y="238506"/>
                  </a:lnTo>
                  <a:lnTo>
                    <a:pt x="0" y="238506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868680" y="438150"/>
            <a:ext cx="8503920" cy="742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Sơ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đồ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Use Case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tổng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quát</a:t>
            </a:r>
            <a:endParaRPr lang="en-US" sz="480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843248" y="9772364"/>
            <a:ext cx="16610648" cy="38976"/>
            <a:chOff x="0" y="0"/>
            <a:chExt cx="22147530" cy="519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147530" cy="51943"/>
            </a:xfrm>
            <a:custGeom>
              <a:avLst/>
              <a:gdLst/>
              <a:ahLst/>
              <a:cxnLst/>
              <a:rect l="l" t="t" r="r" b="b"/>
              <a:pathLst>
                <a:path w="22147530" h="51943">
                  <a:moveTo>
                    <a:pt x="0" y="0"/>
                  </a:moveTo>
                  <a:lnTo>
                    <a:pt x="22147530" y="0"/>
                  </a:lnTo>
                  <a:lnTo>
                    <a:pt x="22147530" y="51943"/>
                  </a:lnTo>
                  <a:lnTo>
                    <a:pt x="0" y="51943"/>
                  </a:lnTo>
                  <a:close/>
                </a:path>
              </a:pathLst>
            </a:custGeom>
            <a:solidFill>
              <a:srgbClr val="EFE4CB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4145768" y="9861042"/>
            <a:ext cx="3255264" cy="22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Triệu Chanh Đa - DA22TTA  |  10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638300"/>
            <a:ext cx="8153400" cy="815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144" y="-7144"/>
            <a:ext cx="18301830" cy="178880"/>
            <a:chOff x="0" y="0"/>
            <a:chExt cx="24402440" cy="2385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38506"/>
            </a:xfrm>
            <a:custGeom>
              <a:avLst/>
              <a:gdLst/>
              <a:ahLst/>
              <a:cxnLst/>
              <a:rect l="l" t="t" r="r" b="b"/>
              <a:pathLst>
                <a:path w="24402414" h="238506">
                  <a:moveTo>
                    <a:pt x="0" y="0"/>
                  </a:moveTo>
                  <a:lnTo>
                    <a:pt x="24402414" y="0"/>
                  </a:lnTo>
                  <a:lnTo>
                    <a:pt x="24402414" y="238506"/>
                  </a:lnTo>
                  <a:lnTo>
                    <a:pt x="0" y="238506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868680" y="438150"/>
            <a:ext cx="7970520" cy="742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Cấu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trúc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dữ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liệu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Firestore</a:t>
            </a:r>
            <a:endParaRPr lang="en-US" sz="480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2859448" y="1770240"/>
            <a:ext cx="12578247" cy="8041100"/>
            <a:chOff x="0" y="0"/>
            <a:chExt cx="10444480" cy="6677012"/>
          </a:xfrm>
        </p:grpSpPr>
        <p:sp>
          <p:nvSpPr>
            <p:cNvPr id="7" name="Freeform 7" descr="image10.png"/>
            <p:cNvSpPr/>
            <p:nvPr/>
          </p:nvSpPr>
          <p:spPr>
            <a:xfrm>
              <a:off x="0" y="0"/>
              <a:ext cx="10444480" cy="6677025"/>
            </a:xfrm>
            <a:custGeom>
              <a:avLst/>
              <a:gdLst/>
              <a:ahLst/>
              <a:cxnLst/>
              <a:rect l="l" t="t" r="r" b="b"/>
              <a:pathLst>
                <a:path w="10444480" h="6677025">
                  <a:moveTo>
                    <a:pt x="0" y="0"/>
                  </a:moveTo>
                  <a:lnTo>
                    <a:pt x="10444480" y="0"/>
                  </a:lnTo>
                  <a:lnTo>
                    <a:pt x="10444480" y="6677025"/>
                  </a:lnTo>
                  <a:lnTo>
                    <a:pt x="0" y="6677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5" r="-5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843248" y="9772364"/>
            <a:ext cx="16610648" cy="38976"/>
            <a:chOff x="0" y="0"/>
            <a:chExt cx="22147530" cy="519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147530" cy="51943"/>
            </a:xfrm>
            <a:custGeom>
              <a:avLst/>
              <a:gdLst/>
              <a:ahLst/>
              <a:cxnLst/>
              <a:rect l="l" t="t" r="r" b="b"/>
              <a:pathLst>
                <a:path w="22147530" h="51943">
                  <a:moveTo>
                    <a:pt x="0" y="0"/>
                  </a:moveTo>
                  <a:lnTo>
                    <a:pt x="22147530" y="0"/>
                  </a:lnTo>
                  <a:lnTo>
                    <a:pt x="22147530" y="51943"/>
                  </a:lnTo>
                  <a:lnTo>
                    <a:pt x="0" y="51943"/>
                  </a:lnTo>
                  <a:close/>
                </a:path>
              </a:pathLst>
            </a:custGeom>
            <a:solidFill>
              <a:srgbClr val="EFE4CB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4145768" y="9861042"/>
            <a:ext cx="3255264" cy="22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Triệu Chanh Đa - DA22TTA  | 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144" y="-7144"/>
            <a:ext cx="18301830" cy="178880"/>
            <a:chOff x="0" y="0"/>
            <a:chExt cx="24402440" cy="2385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38506"/>
            </a:xfrm>
            <a:custGeom>
              <a:avLst/>
              <a:gdLst/>
              <a:ahLst/>
              <a:cxnLst/>
              <a:rect l="l" t="t" r="r" b="b"/>
              <a:pathLst>
                <a:path w="24402414" h="238506">
                  <a:moveTo>
                    <a:pt x="0" y="0"/>
                  </a:moveTo>
                  <a:lnTo>
                    <a:pt x="24402414" y="0"/>
                  </a:lnTo>
                  <a:lnTo>
                    <a:pt x="24402414" y="238506"/>
                  </a:lnTo>
                  <a:lnTo>
                    <a:pt x="0" y="238506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868680" y="438150"/>
            <a:ext cx="9494520" cy="742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Các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phân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hệ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chức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năng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cốt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lõi</a:t>
            </a:r>
            <a:endParaRPr lang="en-US" sz="480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254728" y="2214848"/>
            <a:ext cx="151448" cy="1042988"/>
            <a:chOff x="0" y="0"/>
            <a:chExt cx="201930" cy="1390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1930" cy="1390650"/>
            </a:xfrm>
            <a:custGeom>
              <a:avLst/>
              <a:gdLst/>
              <a:ahLst/>
              <a:cxnLst/>
              <a:rect l="l" t="t" r="r" b="b"/>
              <a:pathLst>
                <a:path w="201930" h="1390650">
                  <a:moveTo>
                    <a:pt x="0" y="0"/>
                  </a:moveTo>
                  <a:lnTo>
                    <a:pt x="201930" y="0"/>
                  </a:lnTo>
                  <a:lnTo>
                    <a:pt x="20193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664208" y="2255520"/>
            <a:ext cx="4279392" cy="438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Xác</a:t>
            </a:r>
            <a:r>
              <a:rPr lang="en-US" sz="2799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799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thực</a:t>
            </a:r>
            <a:r>
              <a:rPr lang="en-US" sz="2799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&amp; </a:t>
            </a:r>
            <a:r>
              <a:rPr lang="en-US" sz="2799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phân</a:t>
            </a:r>
            <a:r>
              <a:rPr lang="en-US" sz="2799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799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quyền</a:t>
            </a:r>
            <a:endParaRPr lang="en-US" sz="2799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64208" y="2841117"/>
            <a:ext cx="6409944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Đăng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ký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đăng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nhập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phân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vai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User/Admin.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511760" y="2214848"/>
            <a:ext cx="151448" cy="1042988"/>
            <a:chOff x="0" y="0"/>
            <a:chExt cx="201930" cy="13906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1930" cy="1390650"/>
            </a:xfrm>
            <a:custGeom>
              <a:avLst/>
              <a:gdLst/>
              <a:ahLst/>
              <a:cxnLst/>
              <a:rect l="l" t="t" r="r" b="b"/>
              <a:pathLst>
                <a:path w="201930" h="1390650">
                  <a:moveTo>
                    <a:pt x="0" y="0"/>
                  </a:moveTo>
                  <a:lnTo>
                    <a:pt x="201930" y="0"/>
                  </a:lnTo>
                  <a:lnTo>
                    <a:pt x="20193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9921240" y="2272094"/>
            <a:ext cx="2596896" cy="438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Quản</a:t>
            </a:r>
            <a:r>
              <a:rPr lang="en-US" sz="2799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799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lý</a:t>
            </a:r>
            <a:r>
              <a:rPr lang="en-US" sz="2799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di </a:t>
            </a:r>
            <a:r>
              <a:rPr lang="en-US" sz="2799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sản</a:t>
            </a:r>
            <a:endParaRPr lang="en-US" sz="2799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921240" y="2857691"/>
            <a:ext cx="6409944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Hiển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thị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tìm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kiếm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phân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loại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quản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trị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dữ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liệu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sản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54728" y="4436840"/>
            <a:ext cx="151448" cy="1042988"/>
            <a:chOff x="0" y="0"/>
            <a:chExt cx="201930" cy="13906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1930" cy="1390650"/>
            </a:xfrm>
            <a:custGeom>
              <a:avLst/>
              <a:gdLst/>
              <a:ahLst/>
              <a:cxnLst/>
              <a:rect l="l" t="t" r="r" b="b"/>
              <a:pathLst>
                <a:path w="201930" h="1390650">
                  <a:moveTo>
                    <a:pt x="0" y="0"/>
                  </a:moveTo>
                  <a:lnTo>
                    <a:pt x="201930" y="0"/>
                  </a:lnTo>
                  <a:lnTo>
                    <a:pt x="20193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664208" y="4494086"/>
            <a:ext cx="2450592" cy="438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Bản</a:t>
            </a:r>
            <a:r>
              <a:rPr lang="en-US" sz="2799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799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đồ</a:t>
            </a:r>
            <a:r>
              <a:rPr lang="en-US" sz="2799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di </a:t>
            </a:r>
            <a:r>
              <a:rPr lang="en-US" sz="2799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sản</a:t>
            </a:r>
            <a:endParaRPr lang="en-US" sz="2799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664208" y="5079683"/>
            <a:ext cx="6409944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Định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vị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GPS,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xem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điểm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sản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trên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bản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đồ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tương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tác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511760" y="4436840"/>
            <a:ext cx="151448" cy="1042988"/>
            <a:chOff x="0" y="0"/>
            <a:chExt cx="201930" cy="13906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1930" cy="1390650"/>
            </a:xfrm>
            <a:custGeom>
              <a:avLst/>
              <a:gdLst/>
              <a:ahLst/>
              <a:cxnLst/>
              <a:rect l="l" t="t" r="r" b="b"/>
              <a:pathLst>
                <a:path w="201930" h="1390650">
                  <a:moveTo>
                    <a:pt x="0" y="0"/>
                  </a:moveTo>
                  <a:lnTo>
                    <a:pt x="201930" y="0"/>
                  </a:lnTo>
                  <a:lnTo>
                    <a:pt x="20193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9920382" y="4477512"/>
            <a:ext cx="3795617" cy="438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Đóng</a:t>
            </a:r>
            <a:r>
              <a:rPr lang="en-US" sz="2799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799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góp</a:t>
            </a:r>
            <a:r>
              <a:rPr lang="en-US" sz="2799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799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cộng</a:t>
            </a:r>
            <a:r>
              <a:rPr lang="en-US" sz="2799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799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đồng</a:t>
            </a:r>
            <a:endParaRPr lang="en-US" sz="2799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920383" y="5063109"/>
            <a:ext cx="6409944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Người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dùng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gửi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bài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Admin </a:t>
            </a:r>
            <a:r>
              <a:rPr lang="en-US" sz="2800" dirty="0" err="1" smtClean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duyệt</a:t>
            </a:r>
            <a:endParaRPr lang="en-US" sz="2800" dirty="0" smtClean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800" dirty="0" err="1" smtClean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oặc</a:t>
            </a:r>
            <a:r>
              <a:rPr lang="en-US" sz="2800" dirty="0" smtClean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 smtClean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từ</a:t>
            </a:r>
            <a:r>
              <a:rPr lang="en-US" sz="2800" dirty="0" smtClean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chối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54728" y="6658832"/>
            <a:ext cx="151448" cy="1042988"/>
            <a:chOff x="0" y="0"/>
            <a:chExt cx="201930" cy="13906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1930" cy="1390650"/>
            </a:xfrm>
            <a:custGeom>
              <a:avLst/>
              <a:gdLst/>
              <a:ahLst/>
              <a:cxnLst/>
              <a:rect l="l" t="t" r="r" b="b"/>
              <a:pathLst>
                <a:path w="201930" h="1390650">
                  <a:moveTo>
                    <a:pt x="0" y="0"/>
                  </a:moveTo>
                  <a:lnTo>
                    <a:pt x="201930" y="0"/>
                  </a:lnTo>
                  <a:lnTo>
                    <a:pt x="20193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664208" y="6558915"/>
            <a:ext cx="2602992" cy="438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Đa</a:t>
            </a:r>
            <a:r>
              <a:rPr lang="en-US" sz="2799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799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ngôn</a:t>
            </a:r>
            <a:r>
              <a:rPr lang="en-US" sz="2799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799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ngữ</a:t>
            </a:r>
            <a:endParaRPr lang="en-US" sz="2799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664208" y="7144512"/>
            <a:ext cx="6409944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Việt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- Khmer -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Anh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hỗ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trợ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trải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nghiệm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cho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nhiều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nhóm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người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dùng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511760" y="6658832"/>
            <a:ext cx="151448" cy="1042988"/>
            <a:chOff x="0" y="0"/>
            <a:chExt cx="201930" cy="13906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1930" cy="1390650"/>
            </a:xfrm>
            <a:custGeom>
              <a:avLst/>
              <a:gdLst/>
              <a:ahLst/>
              <a:cxnLst/>
              <a:rect l="l" t="t" r="r" b="b"/>
              <a:pathLst>
                <a:path w="201930" h="1390650">
                  <a:moveTo>
                    <a:pt x="0" y="0"/>
                  </a:moveTo>
                  <a:lnTo>
                    <a:pt x="201930" y="0"/>
                  </a:lnTo>
                  <a:lnTo>
                    <a:pt x="20193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9921240" y="6558915"/>
            <a:ext cx="2956560" cy="438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Lưu</a:t>
            </a:r>
            <a:r>
              <a:rPr lang="en-US" sz="2799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799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trữ</a:t>
            </a:r>
            <a:r>
              <a:rPr lang="en-US" sz="2799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799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cục</a:t>
            </a:r>
            <a:r>
              <a:rPr lang="en-US" sz="2799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799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bộ</a:t>
            </a:r>
            <a:endParaRPr lang="en-US" sz="2799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921240" y="7144512"/>
            <a:ext cx="6409944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Cache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dữ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liệu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cấu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hình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cá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nhân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hóa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khi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sử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dụng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ứng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dụng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43248" y="9772364"/>
            <a:ext cx="16610648" cy="38976"/>
            <a:chOff x="0" y="0"/>
            <a:chExt cx="22147530" cy="5196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147530" cy="51943"/>
            </a:xfrm>
            <a:custGeom>
              <a:avLst/>
              <a:gdLst/>
              <a:ahLst/>
              <a:cxnLst/>
              <a:rect l="l" t="t" r="r" b="b"/>
              <a:pathLst>
                <a:path w="22147530" h="51943">
                  <a:moveTo>
                    <a:pt x="0" y="0"/>
                  </a:moveTo>
                  <a:lnTo>
                    <a:pt x="22147530" y="0"/>
                  </a:lnTo>
                  <a:lnTo>
                    <a:pt x="22147530" y="51943"/>
                  </a:lnTo>
                  <a:lnTo>
                    <a:pt x="0" y="51943"/>
                  </a:lnTo>
                  <a:close/>
                </a:path>
              </a:pathLst>
            </a:custGeom>
            <a:solidFill>
              <a:srgbClr val="EFE4CB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4145768" y="9861042"/>
            <a:ext cx="3255264" cy="22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Triệu Chanh Đa - DA22TTA  | 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144" y="-7144"/>
            <a:ext cx="18301830" cy="178880"/>
            <a:chOff x="0" y="0"/>
            <a:chExt cx="24402440" cy="2385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38506"/>
            </a:xfrm>
            <a:custGeom>
              <a:avLst/>
              <a:gdLst/>
              <a:ahLst/>
              <a:cxnLst/>
              <a:rect l="l" t="t" r="r" b="b"/>
              <a:pathLst>
                <a:path w="24402414" h="238506">
                  <a:moveTo>
                    <a:pt x="0" y="0"/>
                  </a:moveTo>
                  <a:lnTo>
                    <a:pt x="24402414" y="0"/>
                  </a:lnTo>
                  <a:lnTo>
                    <a:pt x="24402414" y="238506"/>
                  </a:lnTo>
                  <a:lnTo>
                    <a:pt x="0" y="238506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868680" y="438150"/>
            <a:ext cx="5455920" cy="742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Kết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quả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đạt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được</a:t>
            </a:r>
            <a:endParaRPr lang="en-US" sz="480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433036" y="2091404"/>
            <a:ext cx="398336" cy="398336"/>
            <a:chOff x="0" y="0"/>
            <a:chExt cx="531114" cy="5311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1114" cy="531114"/>
            </a:xfrm>
            <a:custGeom>
              <a:avLst/>
              <a:gdLst/>
              <a:ahLst/>
              <a:cxnLst/>
              <a:rect l="l" t="t" r="r" b="b"/>
              <a:pathLst>
                <a:path w="531114" h="531114">
                  <a:moveTo>
                    <a:pt x="0" y="265557"/>
                  </a:moveTo>
                  <a:cubicBezTo>
                    <a:pt x="0" y="118872"/>
                    <a:pt x="118872" y="0"/>
                    <a:pt x="265557" y="0"/>
                  </a:cubicBezTo>
                  <a:cubicBezTo>
                    <a:pt x="412242" y="0"/>
                    <a:pt x="531114" y="118872"/>
                    <a:pt x="531114" y="265557"/>
                  </a:cubicBezTo>
                  <a:cubicBezTo>
                    <a:pt x="531114" y="412242"/>
                    <a:pt x="412242" y="531114"/>
                    <a:pt x="265557" y="531114"/>
                  </a:cubicBezTo>
                  <a:cubicBezTo>
                    <a:pt x="118872" y="531114"/>
                    <a:pt x="0" y="412242"/>
                    <a:pt x="0" y="265557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2144268" y="2072354"/>
            <a:ext cx="14478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Kỹ thuật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24292" y="2100072"/>
            <a:ext cx="12596908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Ứng dụng đa nền tảng chạy ổn định bằng React Native/Expo SDK 54.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33036" y="3353276"/>
            <a:ext cx="398336" cy="398336"/>
            <a:chOff x="0" y="0"/>
            <a:chExt cx="531114" cy="53111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1114" cy="531114"/>
            </a:xfrm>
            <a:custGeom>
              <a:avLst/>
              <a:gdLst/>
              <a:ahLst/>
              <a:cxnLst/>
              <a:rect l="l" t="t" r="r" b="b"/>
              <a:pathLst>
                <a:path w="531114" h="531114">
                  <a:moveTo>
                    <a:pt x="0" y="265557"/>
                  </a:moveTo>
                  <a:cubicBezTo>
                    <a:pt x="0" y="118872"/>
                    <a:pt x="118872" y="0"/>
                    <a:pt x="265557" y="0"/>
                  </a:cubicBezTo>
                  <a:cubicBezTo>
                    <a:pt x="412242" y="0"/>
                    <a:pt x="531114" y="118872"/>
                    <a:pt x="531114" y="265557"/>
                  </a:cubicBezTo>
                  <a:cubicBezTo>
                    <a:pt x="531114" y="412242"/>
                    <a:pt x="412242" y="531114"/>
                    <a:pt x="265557" y="531114"/>
                  </a:cubicBezTo>
                  <a:cubicBezTo>
                    <a:pt x="118872" y="531114"/>
                    <a:pt x="0" y="412242"/>
                    <a:pt x="0" y="265557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2144268" y="3319082"/>
            <a:ext cx="1247656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Dữ liệu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24292" y="3361944"/>
            <a:ext cx="12596908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2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Số</a:t>
            </a:r>
            <a:r>
              <a:rPr lang="en-US" sz="3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hóa</a:t>
            </a:r>
            <a:r>
              <a:rPr lang="en-US" sz="3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kho</a:t>
            </a:r>
            <a:r>
              <a:rPr lang="en-US" sz="3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dữ</a:t>
            </a:r>
            <a:r>
              <a:rPr lang="en-US" sz="3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liệu</a:t>
            </a:r>
            <a:r>
              <a:rPr lang="en-US" sz="3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32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sản</a:t>
            </a:r>
            <a:r>
              <a:rPr lang="en-US" sz="3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Khmer Nam </a:t>
            </a:r>
            <a:r>
              <a:rPr lang="en-US" sz="32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Bộ</a:t>
            </a:r>
            <a:r>
              <a:rPr lang="en-US" sz="3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trên</a:t>
            </a:r>
            <a:r>
              <a:rPr lang="en-US" sz="3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Cloud </a:t>
            </a:r>
            <a:r>
              <a:rPr lang="en-US" sz="32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Firestore</a:t>
            </a:r>
            <a:r>
              <a:rPr lang="en-US" sz="3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433036" y="4615148"/>
            <a:ext cx="398336" cy="398336"/>
            <a:chOff x="0" y="0"/>
            <a:chExt cx="531114" cy="5311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1114" cy="531114"/>
            </a:xfrm>
            <a:custGeom>
              <a:avLst/>
              <a:gdLst/>
              <a:ahLst/>
              <a:cxnLst/>
              <a:rect l="l" t="t" r="r" b="b"/>
              <a:pathLst>
                <a:path w="531114" h="531114">
                  <a:moveTo>
                    <a:pt x="0" y="265557"/>
                  </a:moveTo>
                  <a:cubicBezTo>
                    <a:pt x="0" y="118872"/>
                    <a:pt x="118872" y="0"/>
                    <a:pt x="265557" y="0"/>
                  </a:cubicBezTo>
                  <a:cubicBezTo>
                    <a:pt x="412242" y="0"/>
                    <a:pt x="531114" y="118872"/>
                    <a:pt x="531114" y="265557"/>
                  </a:cubicBezTo>
                  <a:cubicBezTo>
                    <a:pt x="531114" y="412242"/>
                    <a:pt x="412242" y="531114"/>
                    <a:pt x="265557" y="531114"/>
                  </a:cubicBezTo>
                  <a:cubicBezTo>
                    <a:pt x="118872" y="531114"/>
                    <a:pt x="0" y="412242"/>
                    <a:pt x="0" y="265557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2144268" y="4580954"/>
            <a:ext cx="1729026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Tính năng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13148" y="4623816"/>
            <a:ext cx="12596908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Bản đồ định vị, đa ngôn ngữ, bình luận, yêu thích, gửi bài đóng góp.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433036" y="5877020"/>
            <a:ext cx="398336" cy="398336"/>
            <a:chOff x="0" y="0"/>
            <a:chExt cx="531114" cy="53111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31114" cy="531114"/>
            </a:xfrm>
            <a:custGeom>
              <a:avLst/>
              <a:gdLst/>
              <a:ahLst/>
              <a:cxnLst/>
              <a:rect l="l" t="t" r="r" b="b"/>
              <a:pathLst>
                <a:path w="531114" h="531114">
                  <a:moveTo>
                    <a:pt x="0" y="265557"/>
                  </a:moveTo>
                  <a:cubicBezTo>
                    <a:pt x="0" y="118872"/>
                    <a:pt x="118872" y="0"/>
                    <a:pt x="265557" y="0"/>
                  </a:cubicBezTo>
                  <a:cubicBezTo>
                    <a:pt x="412242" y="0"/>
                    <a:pt x="531114" y="118872"/>
                    <a:pt x="531114" y="265557"/>
                  </a:cubicBezTo>
                  <a:cubicBezTo>
                    <a:pt x="531114" y="412242"/>
                    <a:pt x="412242" y="531114"/>
                    <a:pt x="265557" y="531114"/>
                  </a:cubicBezTo>
                  <a:cubicBezTo>
                    <a:pt x="118872" y="531114"/>
                    <a:pt x="0" y="412242"/>
                    <a:pt x="0" y="265557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2144268" y="5842825"/>
            <a:ext cx="1387554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Quản trị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13148" y="5885688"/>
            <a:ext cx="12596908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Admin Dashboard hỗ trợ duyệt bài và quản lý dữ liệu hệ thống.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433036" y="7138892"/>
            <a:ext cx="398336" cy="398336"/>
            <a:chOff x="0" y="0"/>
            <a:chExt cx="531114" cy="53111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31114" cy="531114"/>
            </a:xfrm>
            <a:custGeom>
              <a:avLst/>
              <a:gdLst/>
              <a:ahLst/>
              <a:cxnLst/>
              <a:rect l="l" t="t" r="r" b="b"/>
              <a:pathLst>
                <a:path w="531114" h="531114">
                  <a:moveTo>
                    <a:pt x="0" y="265557"/>
                  </a:moveTo>
                  <a:cubicBezTo>
                    <a:pt x="0" y="118872"/>
                    <a:pt x="118872" y="0"/>
                    <a:pt x="265557" y="0"/>
                  </a:cubicBezTo>
                  <a:cubicBezTo>
                    <a:pt x="412242" y="0"/>
                    <a:pt x="531114" y="118872"/>
                    <a:pt x="531114" y="265557"/>
                  </a:cubicBezTo>
                  <a:cubicBezTo>
                    <a:pt x="531114" y="412242"/>
                    <a:pt x="412242" y="531114"/>
                    <a:pt x="265557" y="531114"/>
                  </a:cubicBezTo>
                  <a:cubicBezTo>
                    <a:pt x="118872" y="531114"/>
                    <a:pt x="0" y="412242"/>
                    <a:pt x="0" y="265557"/>
                  </a:cubicBez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2144268" y="7104697"/>
            <a:ext cx="172974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Sản phẩm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13148" y="7147560"/>
            <a:ext cx="12596908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Hoàn thiện mã nguồn theo Repository Pattern và build được APK Android.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843248" y="9772364"/>
            <a:ext cx="16610648" cy="38976"/>
            <a:chOff x="0" y="0"/>
            <a:chExt cx="22147530" cy="5196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2147530" cy="51943"/>
            </a:xfrm>
            <a:custGeom>
              <a:avLst/>
              <a:gdLst/>
              <a:ahLst/>
              <a:cxnLst/>
              <a:rect l="l" t="t" r="r" b="b"/>
              <a:pathLst>
                <a:path w="22147530" h="51943">
                  <a:moveTo>
                    <a:pt x="0" y="0"/>
                  </a:moveTo>
                  <a:lnTo>
                    <a:pt x="22147530" y="0"/>
                  </a:lnTo>
                  <a:lnTo>
                    <a:pt x="22147530" y="51943"/>
                  </a:lnTo>
                  <a:lnTo>
                    <a:pt x="0" y="51943"/>
                  </a:lnTo>
                  <a:close/>
                </a:path>
              </a:pathLst>
            </a:custGeom>
            <a:solidFill>
              <a:srgbClr val="EFE4CB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14145768" y="9861042"/>
            <a:ext cx="3255264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Triệu Chanh Đa - DA22TTA  | 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144" y="-7144"/>
            <a:ext cx="18301830" cy="178880"/>
            <a:chOff x="0" y="0"/>
            <a:chExt cx="24402440" cy="2385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38506"/>
            </a:xfrm>
            <a:custGeom>
              <a:avLst/>
              <a:gdLst/>
              <a:ahLst/>
              <a:cxnLst/>
              <a:rect l="l" t="t" r="r" b="b"/>
              <a:pathLst>
                <a:path w="24402414" h="238506">
                  <a:moveTo>
                    <a:pt x="0" y="0"/>
                  </a:moveTo>
                  <a:lnTo>
                    <a:pt x="24402414" y="0"/>
                  </a:lnTo>
                  <a:lnTo>
                    <a:pt x="24402414" y="238506"/>
                  </a:lnTo>
                  <a:lnTo>
                    <a:pt x="0" y="238506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868680" y="438150"/>
            <a:ext cx="5838444" cy="742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Đánh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giá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hệ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thống</a:t>
            </a:r>
            <a:endParaRPr lang="en-US" sz="480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227296" y="2118836"/>
            <a:ext cx="7832407" cy="6186488"/>
            <a:chOff x="0" y="0"/>
            <a:chExt cx="10443210" cy="8248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43210" cy="8248650"/>
            </a:xfrm>
            <a:custGeom>
              <a:avLst/>
              <a:gdLst/>
              <a:ahLst/>
              <a:cxnLst/>
              <a:rect l="l" t="t" r="r" b="b"/>
              <a:pathLst>
                <a:path w="10443210" h="8248650">
                  <a:moveTo>
                    <a:pt x="0" y="1374775"/>
                  </a:moveTo>
                  <a:cubicBezTo>
                    <a:pt x="0" y="615569"/>
                    <a:pt x="615569" y="0"/>
                    <a:pt x="1374775" y="0"/>
                  </a:cubicBezTo>
                  <a:lnTo>
                    <a:pt x="9068435" y="0"/>
                  </a:lnTo>
                  <a:cubicBezTo>
                    <a:pt x="9827641" y="0"/>
                    <a:pt x="10443210" y="615569"/>
                    <a:pt x="10443210" y="1374775"/>
                  </a:cubicBezTo>
                  <a:lnTo>
                    <a:pt x="10443210" y="6873875"/>
                  </a:lnTo>
                  <a:cubicBezTo>
                    <a:pt x="10443210" y="7633208"/>
                    <a:pt x="9827641" y="8248650"/>
                    <a:pt x="9068435" y="8248650"/>
                  </a:cubicBezTo>
                  <a:lnTo>
                    <a:pt x="1374775" y="8248650"/>
                  </a:lnTo>
                  <a:cubicBezTo>
                    <a:pt x="615569" y="8248650"/>
                    <a:pt x="0" y="7633081"/>
                    <a:pt x="0" y="6873875"/>
                  </a:cubicBezTo>
                  <a:close/>
                </a:path>
              </a:pathLst>
            </a:custGeom>
            <a:solidFill>
              <a:srgbClr val="FFFDF5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4217134" y="2595753"/>
            <a:ext cx="185273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38705B"/>
                </a:solidFill>
                <a:latin typeface="Arial Bold"/>
                <a:ea typeface="Arial Bold"/>
                <a:cs typeface="Arial Bold"/>
                <a:sym typeface="Arial Bold"/>
              </a:rPr>
              <a:t>Ưu điểm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707356" y="3641312"/>
            <a:ext cx="261176" cy="261176"/>
            <a:chOff x="0" y="0"/>
            <a:chExt cx="348234" cy="34823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8234" cy="348234"/>
            </a:xfrm>
            <a:custGeom>
              <a:avLst/>
              <a:gdLst/>
              <a:ahLst/>
              <a:cxnLst/>
              <a:rect l="l" t="t" r="r" b="b"/>
              <a:pathLst>
                <a:path w="348234" h="348234">
                  <a:moveTo>
                    <a:pt x="0" y="174117"/>
                  </a:moveTo>
                  <a:cubicBezTo>
                    <a:pt x="0" y="77978"/>
                    <a:pt x="77978" y="0"/>
                    <a:pt x="174117" y="0"/>
                  </a:cubicBezTo>
                  <a:cubicBezTo>
                    <a:pt x="270256" y="0"/>
                    <a:pt x="348234" y="77978"/>
                    <a:pt x="348234" y="174117"/>
                  </a:cubicBezTo>
                  <a:cubicBezTo>
                    <a:pt x="348234" y="270256"/>
                    <a:pt x="270256" y="348234"/>
                    <a:pt x="174117" y="348234"/>
                  </a:cubicBezTo>
                  <a:cubicBezTo>
                    <a:pt x="77978" y="348234"/>
                    <a:pt x="0" y="270256"/>
                    <a:pt x="0" y="174117"/>
                  </a:cubicBezTo>
                  <a:close/>
                </a:path>
              </a:pathLst>
            </a:custGeom>
            <a:solidFill>
              <a:srgbClr val="38705B"/>
            </a:solidFill>
            <a:ln w="14288" cap="sq">
              <a:solidFill>
                <a:srgbClr val="38705B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2192274" y="3467100"/>
            <a:ext cx="5902452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Hiệu năng:</a:t>
            </a:r>
            <a:r>
              <a:rPr lang="en-US" sz="28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Giao diện phản hồi mượt, tối ưu cho thiết bị di động.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707356" y="4807172"/>
            <a:ext cx="261176" cy="261176"/>
            <a:chOff x="0" y="0"/>
            <a:chExt cx="348234" cy="34823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8234" cy="348234"/>
            </a:xfrm>
            <a:custGeom>
              <a:avLst/>
              <a:gdLst/>
              <a:ahLst/>
              <a:cxnLst/>
              <a:rect l="l" t="t" r="r" b="b"/>
              <a:pathLst>
                <a:path w="348234" h="348234">
                  <a:moveTo>
                    <a:pt x="0" y="174117"/>
                  </a:moveTo>
                  <a:cubicBezTo>
                    <a:pt x="0" y="77978"/>
                    <a:pt x="77978" y="0"/>
                    <a:pt x="174117" y="0"/>
                  </a:cubicBezTo>
                  <a:cubicBezTo>
                    <a:pt x="270256" y="0"/>
                    <a:pt x="348234" y="77978"/>
                    <a:pt x="348234" y="174117"/>
                  </a:cubicBezTo>
                  <a:cubicBezTo>
                    <a:pt x="348234" y="270256"/>
                    <a:pt x="270256" y="348234"/>
                    <a:pt x="174117" y="348234"/>
                  </a:cubicBezTo>
                  <a:cubicBezTo>
                    <a:pt x="77978" y="348234"/>
                    <a:pt x="0" y="270256"/>
                    <a:pt x="0" y="174117"/>
                  </a:cubicBezTo>
                  <a:close/>
                </a:path>
              </a:pathLst>
            </a:custGeom>
            <a:solidFill>
              <a:srgbClr val="38705B"/>
            </a:solidFill>
            <a:ln w="14288" cap="sq">
              <a:solidFill>
                <a:srgbClr val="38705B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2192274" y="4632960"/>
            <a:ext cx="5902452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Dữ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liệu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thời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gian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thực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: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Đồng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bộ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Firebase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nhanh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thuận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tiện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cho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bình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luận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duyệt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bài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707356" y="6177724"/>
            <a:ext cx="261176" cy="261176"/>
            <a:chOff x="0" y="0"/>
            <a:chExt cx="348234" cy="34823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48234" cy="348234"/>
            </a:xfrm>
            <a:custGeom>
              <a:avLst/>
              <a:gdLst/>
              <a:ahLst/>
              <a:cxnLst/>
              <a:rect l="l" t="t" r="r" b="b"/>
              <a:pathLst>
                <a:path w="348234" h="348234">
                  <a:moveTo>
                    <a:pt x="0" y="174117"/>
                  </a:moveTo>
                  <a:cubicBezTo>
                    <a:pt x="0" y="77978"/>
                    <a:pt x="77978" y="0"/>
                    <a:pt x="174117" y="0"/>
                  </a:cubicBezTo>
                  <a:cubicBezTo>
                    <a:pt x="270256" y="0"/>
                    <a:pt x="348234" y="77978"/>
                    <a:pt x="348234" y="174117"/>
                  </a:cubicBezTo>
                  <a:cubicBezTo>
                    <a:pt x="348234" y="270256"/>
                    <a:pt x="270256" y="348234"/>
                    <a:pt x="174117" y="348234"/>
                  </a:cubicBezTo>
                  <a:cubicBezTo>
                    <a:pt x="77978" y="348234"/>
                    <a:pt x="0" y="270256"/>
                    <a:pt x="0" y="174117"/>
                  </a:cubicBezTo>
                  <a:close/>
                </a:path>
              </a:pathLst>
            </a:custGeom>
            <a:solidFill>
              <a:srgbClr val="38705B"/>
            </a:solidFill>
            <a:ln w="14288" cap="sq">
              <a:solidFill>
                <a:srgbClr val="38705B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2192274" y="6034326"/>
            <a:ext cx="5902452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Trải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nghiệm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: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Hỗ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trợ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bản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đồ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đa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ngôn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ngữ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sáng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tối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lưu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yêu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thích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525476" y="2118836"/>
            <a:ext cx="7489507" cy="6186488"/>
            <a:chOff x="0" y="0"/>
            <a:chExt cx="9986010" cy="82486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986010" cy="8248650"/>
            </a:xfrm>
            <a:custGeom>
              <a:avLst/>
              <a:gdLst/>
              <a:ahLst/>
              <a:cxnLst/>
              <a:rect l="l" t="t" r="r" b="b"/>
              <a:pathLst>
                <a:path w="9986010" h="8248650">
                  <a:moveTo>
                    <a:pt x="0" y="1374775"/>
                  </a:moveTo>
                  <a:cubicBezTo>
                    <a:pt x="0" y="615569"/>
                    <a:pt x="615569" y="0"/>
                    <a:pt x="1374775" y="0"/>
                  </a:cubicBezTo>
                  <a:lnTo>
                    <a:pt x="8611235" y="0"/>
                  </a:lnTo>
                  <a:cubicBezTo>
                    <a:pt x="9370441" y="0"/>
                    <a:pt x="9986010" y="615569"/>
                    <a:pt x="9986010" y="1374775"/>
                  </a:cubicBezTo>
                  <a:lnTo>
                    <a:pt x="9986010" y="6873875"/>
                  </a:lnTo>
                  <a:cubicBezTo>
                    <a:pt x="9986010" y="7633208"/>
                    <a:pt x="9370441" y="8248650"/>
                    <a:pt x="8611235" y="8248650"/>
                  </a:cubicBezTo>
                  <a:lnTo>
                    <a:pt x="1374775" y="8248650"/>
                  </a:lnTo>
                  <a:cubicBezTo>
                    <a:pt x="615569" y="8248650"/>
                    <a:pt x="0" y="7633081"/>
                    <a:pt x="0" y="6873875"/>
                  </a:cubicBezTo>
                  <a:close/>
                </a:path>
              </a:pathLst>
            </a:custGeom>
            <a:solidFill>
              <a:srgbClr val="FFFDF5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2380893" y="2595753"/>
            <a:ext cx="1778675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953127"/>
                </a:solidFill>
                <a:latin typeface="Arial Bold"/>
                <a:ea typeface="Arial Bold"/>
                <a:cs typeface="Arial Bold"/>
                <a:sym typeface="Arial Bold"/>
              </a:rPr>
              <a:t>Hạn chế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005536" y="3641312"/>
            <a:ext cx="261176" cy="261176"/>
            <a:chOff x="0" y="0"/>
            <a:chExt cx="348234" cy="34823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48234" cy="348234"/>
            </a:xfrm>
            <a:custGeom>
              <a:avLst/>
              <a:gdLst/>
              <a:ahLst/>
              <a:cxnLst/>
              <a:rect l="l" t="t" r="r" b="b"/>
              <a:pathLst>
                <a:path w="348234" h="348234">
                  <a:moveTo>
                    <a:pt x="0" y="174117"/>
                  </a:moveTo>
                  <a:cubicBezTo>
                    <a:pt x="0" y="77978"/>
                    <a:pt x="77978" y="0"/>
                    <a:pt x="174117" y="0"/>
                  </a:cubicBezTo>
                  <a:cubicBezTo>
                    <a:pt x="270256" y="0"/>
                    <a:pt x="348234" y="77978"/>
                    <a:pt x="348234" y="174117"/>
                  </a:cubicBezTo>
                  <a:cubicBezTo>
                    <a:pt x="348234" y="270256"/>
                    <a:pt x="270256" y="348234"/>
                    <a:pt x="174117" y="348234"/>
                  </a:cubicBezTo>
                  <a:cubicBezTo>
                    <a:pt x="77978" y="348234"/>
                    <a:pt x="0" y="270256"/>
                    <a:pt x="0" y="174117"/>
                  </a:cubicBezTo>
                  <a:close/>
                </a:path>
              </a:pathLst>
            </a:custGeom>
            <a:solidFill>
              <a:srgbClr val="953127"/>
            </a:solidFill>
            <a:ln w="14288" cap="sq">
              <a:solidFill>
                <a:srgbClr val="953127"/>
              </a:solidFill>
              <a:prstDash val="solid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0485787" y="3467100"/>
            <a:ext cx="5628132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Phụ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thuộc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Internet: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Ảnh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bản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đồ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một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số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dữ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liệu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cần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kết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nối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mạng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005536" y="5034724"/>
            <a:ext cx="261176" cy="261176"/>
            <a:chOff x="0" y="0"/>
            <a:chExt cx="348234" cy="34823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48234" cy="348234"/>
            </a:xfrm>
            <a:custGeom>
              <a:avLst/>
              <a:gdLst/>
              <a:ahLst/>
              <a:cxnLst/>
              <a:rect l="l" t="t" r="r" b="b"/>
              <a:pathLst>
                <a:path w="348234" h="348234">
                  <a:moveTo>
                    <a:pt x="0" y="174117"/>
                  </a:moveTo>
                  <a:cubicBezTo>
                    <a:pt x="0" y="77978"/>
                    <a:pt x="77978" y="0"/>
                    <a:pt x="174117" y="0"/>
                  </a:cubicBezTo>
                  <a:cubicBezTo>
                    <a:pt x="270256" y="0"/>
                    <a:pt x="348234" y="77978"/>
                    <a:pt x="348234" y="174117"/>
                  </a:cubicBezTo>
                  <a:cubicBezTo>
                    <a:pt x="348234" y="270256"/>
                    <a:pt x="270256" y="348234"/>
                    <a:pt x="174117" y="348234"/>
                  </a:cubicBezTo>
                  <a:cubicBezTo>
                    <a:pt x="77978" y="348234"/>
                    <a:pt x="0" y="270256"/>
                    <a:pt x="0" y="174117"/>
                  </a:cubicBezTo>
                  <a:close/>
                </a:path>
              </a:pathLst>
            </a:custGeom>
            <a:solidFill>
              <a:srgbClr val="953127"/>
            </a:solidFill>
            <a:ln w="14288" cap="sq">
              <a:solidFill>
                <a:srgbClr val="953127"/>
              </a:solidFill>
              <a:prstDash val="solid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0469880" y="4841438"/>
            <a:ext cx="5628132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Dữ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liệu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mẫu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: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Nguồn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tư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liệu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ban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đầu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còn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giới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hạn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cần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mở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rộng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thêm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005536" y="6406324"/>
            <a:ext cx="261176" cy="261176"/>
            <a:chOff x="0" y="0"/>
            <a:chExt cx="348234" cy="34823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48234" cy="348234"/>
            </a:xfrm>
            <a:custGeom>
              <a:avLst/>
              <a:gdLst/>
              <a:ahLst/>
              <a:cxnLst/>
              <a:rect l="l" t="t" r="r" b="b"/>
              <a:pathLst>
                <a:path w="348234" h="348234">
                  <a:moveTo>
                    <a:pt x="0" y="174117"/>
                  </a:moveTo>
                  <a:cubicBezTo>
                    <a:pt x="0" y="77978"/>
                    <a:pt x="77978" y="0"/>
                    <a:pt x="174117" y="0"/>
                  </a:cubicBezTo>
                  <a:cubicBezTo>
                    <a:pt x="270256" y="0"/>
                    <a:pt x="348234" y="77978"/>
                    <a:pt x="348234" y="174117"/>
                  </a:cubicBezTo>
                  <a:cubicBezTo>
                    <a:pt x="348234" y="270256"/>
                    <a:pt x="270256" y="348234"/>
                    <a:pt x="174117" y="348234"/>
                  </a:cubicBezTo>
                  <a:cubicBezTo>
                    <a:pt x="77978" y="348234"/>
                    <a:pt x="0" y="270256"/>
                    <a:pt x="0" y="174117"/>
                  </a:cubicBezTo>
                  <a:close/>
                </a:path>
              </a:pathLst>
            </a:custGeom>
            <a:solidFill>
              <a:srgbClr val="953127"/>
            </a:solidFill>
            <a:ln w="14288" cap="sq">
              <a:solidFill>
                <a:srgbClr val="953127"/>
              </a:solidFill>
              <a:prstDash val="solid"/>
              <a:miter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10469880" y="6213038"/>
            <a:ext cx="5628132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Tính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năng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nâng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cao</a:t>
            </a:r>
            <a:r>
              <a:rPr lang="en-US" sz="2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: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Chưa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tích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hợp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AR/VR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hoặc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audio guide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trong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phiên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bản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hiện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tại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43248" y="9772364"/>
            <a:ext cx="16610648" cy="38976"/>
            <a:chOff x="0" y="0"/>
            <a:chExt cx="22147530" cy="5196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147530" cy="51943"/>
            </a:xfrm>
            <a:custGeom>
              <a:avLst/>
              <a:gdLst/>
              <a:ahLst/>
              <a:cxnLst/>
              <a:rect l="l" t="t" r="r" b="b"/>
              <a:pathLst>
                <a:path w="22147530" h="51943">
                  <a:moveTo>
                    <a:pt x="0" y="0"/>
                  </a:moveTo>
                  <a:lnTo>
                    <a:pt x="22147530" y="0"/>
                  </a:lnTo>
                  <a:lnTo>
                    <a:pt x="22147530" y="51943"/>
                  </a:lnTo>
                  <a:lnTo>
                    <a:pt x="0" y="51943"/>
                  </a:lnTo>
                  <a:close/>
                </a:path>
              </a:pathLst>
            </a:custGeom>
            <a:solidFill>
              <a:srgbClr val="EFE4CB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4145768" y="9861042"/>
            <a:ext cx="3255264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Triệu Chanh Đa - DA22TTA  | 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144" y="-7144"/>
            <a:ext cx="18301830" cy="178880"/>
            <a:chOff x="0" y="0"/>
            <a:chExt cx="24402440" cy="2385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38506"/>
            </a:xfrm>
            <a:custGeom>
              <a:avLst/>
              <a:gdLst/>
              <a:ahLst/>
              <a:cxnLst/>
              <a:rect l="l" t="t" r="r" b="b"/>
              <a:pathLst>
                <a:path w="24402414" h="238506">
                  <a:moveTo>
                    <a:pt x="0" y="0"/>
                  </a:moveTo>
                  <a:lnTo>
                    <a:pt x="24402414" y="0"/>
                  </a:lnTo>
                  <a:lnTo>
                    <a:pt x="24402414" y="238506"/>
                  </a:lnTo>
                  <a:lnTo>
                    <a:pt x="0" y="238506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868680" y="438150"/>
            <a:ext cx="7589520" cy="742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Hướng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phát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triển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đề</a:t>
            </a:r>
            <a:r>
              <a:rPr lang="en-US" sz="4800" b="1" dirty="0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1" dirty="0" err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tài</a:t>
            </a:r>
            <a:endParaRPr lang="en-US" sz="4800" b="1" dirty="0">
              <a:solidFill>
                <a:srgbClr val="0C2B4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295876" y="2255996"/>
            <a:ext cx="3374708" cy="6255068"/>
            <a:chOff x="0" y="0"/>
            <a:chExt cx="4499610" cy="8340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99610" cy="8340089"/>
            </a:xfrm>
            <a:custGeom>
              <a:avLst/>
              <a:gdLst/>
              <a:ahLst/>
              <a:cxnLst/>
              <a:rect l="l" t="t" r="r" b="b"/>
              <a:pathLst>
                <a:path w="4499610" h="8340089">
                  <a:moveTo>
                    <a:pt x="0" y="749935"/>
                  </a:moveTo>
                  <a:cubicBezTo>
                    <a:pt x="0" y="335788"/>
                    <a:pt x="335788" y="0"/>
                    <a:pt x="749935" y="0"/>
                  </a:cubicBezTo>
                  <a:lnTo>
                    <a:pt x="3749675" y="0"/>
                  </a:lnTo>
                  <a:cubicBezTo>
                    <a:pt x="4163822" y="0"/>
                    <a:pt x="4499610" y="335788"/>
                    <a:pt x="4499610" y="749935"/>
                  </a:cubicBezTo>
                  <a:lnTo>
                    <a:pt x="4499610" y="7590155"/>
                  </a:lnTo>
                  <a:cubicBezTo>
                    <a:pt x="4499610" y="8004301"/>
                    <a:pt x="4163822" y="8340089"/>
                    <a:pt x="3749675" y="8340089"/>
                  </a:cubicBezTo>
                  <a:lnTo>
                    <a:pt x="749935" y="8340089"/>
                  </a:lnTo>
                  <a:cubicBezTo>
                    <a:pt x="335788" y="8340090"/>
                    <a:pt x="0" y="8004302"/>
                    <a:pt x="0" y="75901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2283428" y="2804636"/>
            <a:ext cx="1385888" cy="1385888"/>
            <a:chOff x="0" y="0"/>
            <a:chExt cx="1847850" cy="18478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47850" cy="1847850"/>
            </a:xfrm>
            <a:custGeom>
              <a:avLst/>
              <a:gdLst/>
              <a:ahLst/>
              <a:cxnLst/>
              <a:rect l="l" t="t" r="r" b="b"/>
              <a:pathLst>
                <a:path w="1847850" h="1847850">
                  <a:moveTo>
                    <a:pt x="0" y="923925"/>
                  </a:moveTo>
                  <a:cubicBezTo>
                    <a:pt x="0" y="413639"/>
                    <a:pt x="413639" y="0"/>
                    <a:pt x="923925" y="0"/>
                  </a:cubicBezTo>
                  <a:cubicBezTo>
                    <a:pt x="1434211" y="0"/>
                    <a:pt x="1847850" y="413639"/>
                    <a:pt x="1847850" y="923925"/>
                  </a:cubicBezTo>
                  <a:cubicBezTo>
                    <a:pt x="1847850" y="1434211"/>
                    <a:pt x="1434211" y="1847850"/>
                    <a:pt x="923925" y="1847850"/>
                  </a:cubicBezTo>
                  <a:cubicBezTo>
                    <a:pt x="413639" y="1847850"/>
                    <a:pt x="0" y="1434211"/>
                    <a:pt x="0" y="923925"/>
                  </a:cubicBezTo>
                  <a:close/>
                </a:path>
              </a:pathLst>
            </a:custGeom>
            <a:solidFill>
              <a:srgbClr val="F3E2A8"/>
            </a:solidFill>
            <a:ln w="14288" cap="sq">
              <a:solidFill>
                <a:srgbClr val="F3E2A8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2308860" y="3284220"/>
            <a:ext cx="1335024" cy="36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95628" y="4594098"/>
            <a:ext cx="277520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AR/VR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05356" y="5769483"/>
            <a:ext cx="2569464" cy="1723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Tương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tác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mô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hình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3D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chùa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cổ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không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gian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2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sản</a:t>
            </a:r>
            <a:r>
              <a:rPr lang="en-US" sz="2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479256" y="2255996"/>
            <a:ext cx="3374708" cy="6255068"/>
            <a:chOff x="0" y="0"/>
            <a:chExt cx="4499610" cy="834009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610" cy="8340089"/>
            </a:xfrm>
            <a:custGeom>
              <a:avLst/>
              <a:gdLst/>
              <a:ahLst/>
              <a:cxnLst/>
              <a:rect l="l" t="t" r="r" b="b"/>
              <a:pathLst>
                <a:path w="4499610" h="8340089">
                  <a:moveTo>
                    <a:pt x="0" y="749935"/>
                  </a:moveTo>
                  <a:cubicBezTo>
                    <a:pt x="0" y="335788"/>
                    <a:pt x="335788" y="0"/>
                    <a:pt x="749935" y="0"/>
                  </a:cubicBezTo>
                  <a:lnTo>
                    <a:pt x="3749675" y="0"/>
                  </a:lnTo>
                  <a:cubicBezTo>
                    <a:pt x="4163822" y="0"/>
                    <a:pt x="4499610" y="335788"/>
                    <a:pt x="4499610" y="749935"/>
                  </a:cubicBezTo>
                  <a:lnTo>
                    <a:pt x="4499610" y="7590155"/>
                  </a:lnTo>
                  <a:cubicBezTo>
                    <a:pt x="4499610" y="8004301"/>
                    <a:pt x="4163822" y="8340089"/>
                    <a:pt x="3749675" y="8340089"/>
                  </a:cubicBezTo>
                  <a:lnTo>
                    <a:pt x="749935" y="8340089"/>
                  </a:lnTo>
                  <a:cubicBezTo>
                    <a:pt x="335788" y="8340090"/>
                    <a:pt x="0" y="8004302"/>
                    <a:pt x="0" y="75901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466808" y="2804636"/>
            <a:ext cx="1385888" cy="1385888"/>
            <a:chOff x="0" y="0"/>
            <a:chExt cx="1847850" cy="18478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47850" cy="1847850"/>
            </a:xfrm>
            <a:custGeom>
              <a:avLst/>
              <a:gdLst/>
              <a:ahLst/>
              <a:cxnLst/>
              <a:rect l="l" t="t" r="r" b="b"/>
              <a:pathLst>
                <a:path w="1847850" h="1847850">
                  <a:moveTo>
                    <a:pt x="0" y="923925"/>
                  </a:moveTo>
                  <a:cubicBezTo>
                    <a:pt x="0" y="413639"/>
                    <a:pt x="413639" y="0"/>
                    <a:pt x="923925" y="0"/>
                  </a:cubicBezTo>
                  <a:cubicBezTo>
                    <a:pt x="1434211" y="0"/>
                    <a:pt x="1847850" y="413639"/>
                    <a:pt x="1847850" y="923925"/>
                  </a:cubicBezTo>
                  <a:cubicBezTo>
                    <a:pt x="1847850" y="1434211"/>
                    <a:pt x="1434211" y="1847850"/>
                    <a:pt x="923925" y="1847850"/>
                  </a:cubicBezTo>
                  <a:cubicBezTo>
                    <a:pt x="413639" y="1847850"/>
                    <a:pt x="0" y="1434211"/>
                    <a:pt x="0" y="923925"/>
                  </a:cubicBezTo>
                  <a:close/>
                </a:path>
              </a:pathLst>
            </a:custGeom>
            <a:solidFill>
              <a:srgbClr val="F3E2A8"/>
            </a:solidFill>
            <a:ln w="14288" cap="sq">
              <a:solidFill>
                <a:srgbClr val="F3E2A8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6527387" y="3284220"/>
            <a:ext cx="1335024" cy="36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79008" y="4594098"/>
            <a:ext cx="277520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Audio Guide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888736" y="5769483"/>
            <a:ext cx="2569464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8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Thuyết minh giọng nói đa ngôn ngữ tại điểm tham quan.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662636" y="2255996"/>
            <a:ext cx="3374708" cy="6255068"/>
            <a:chOff x="0" y="0"/>
            <a:chExt cx="4499610" cy="834009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499610" cy="8340089"/>
            </a:xfrm>
            <a:custGeom>
              <a:avLst/>
              <a:gdLst/>
              <a:ahLst/>
              <a:cxnLst/>
              <a:rect l="l" t="t" r="r" b="b"/>
              <a:pathLst>
                <a:path w="4499610" h="8340089">
                  <a:moveTo>
                    <a:pt x="0" y="749935"/>
                  </a:moveTo>
                  <a:cubicBezTo>
                    <a:pt x="0" y="335788"/>
                    <a:pt x="335788" y="0"/>
                    <a:pt x="749935" y="0"/>
                  </a:cubicBezTo>
                  <a:lnTo>
                    <a:pt x="3749675" y="0"/>
                  </a:lnTo>
                  <a:cubicBezTo>
                    <a:pt x="4163822" y="0"/>
                    <a:pt x="4499610" y="335788"/>
                    <a:pt x="4499610" y="749935"/>
                  </a:cubicBezTo>
                  <a:lnTo>
                    <a:pt x="4499610" y="7590155"/>
                  </a:lnTo>
                  <a:cubicBezTo>
                    <a:pt x="4499610" y="8004301"/>
                    <a:pt x="4163822" y="8340089"/>
                    <a:pt x="3749675" y="8340089"/>
                  </a:cubicBezTo>
                  <a:lnTo>
                    <a:pt x="749935" y="8340089"/>
                  </a:lnTo>
                  <a:cubicBezTo>
                    <a:pt x="335788" y="8340090"/>
                    <a:pt x="0" y="8004302"/>
                    <a:pt x="0" y="75901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0650188" y="2804636"/>
            <a:ext cx="1385888" cy="1385888"/>
            <a:chOff x="0" y="0"/>
            <a:chExt cx="1847850" cy="18478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847850" cy="1847850"/>
            </a:xfrm>
            <a:custGeom>
              <a:avLst/>
              <a:gdLst/>
              <a:ahLst/>
              <a:cxnLst/>
              <a:rect l="l" t="t" r="r" b="b"/>
              <a:pathLst>
                <a:path w="1847850" h="1847850">
                  <a:moveTo>
                    <a:pt x="0" y="923925"/>
                  </a:moveTo>
                  <a:cubicBezTo>
                    <a:pt x="0" y="413639"/>
                    <a:pt x="413639" y="0"/>
                    <a:pt x="923925" y="0"/>
                  </a:cubicBezTo>
                  <a:cubicBezTo>
                    <a:pt x="1434211" y="0"/>
                    <a:pt x="1847850" y="413639"/>
                    <a:pt x="1847850" y="923925"/>
                  </a:cubicBezTo>
                  <a:cubicBezTo>
                    <a:pt x="1847850" y="1434211"/>
                    <a:pt x="1434211" y="1847850"/>
                    <a:pt x="923925" y="1847850"/>
                  </a:cubicBezTo>
                  <a:cubicBezTo>
                    <a:pt x="413639" y="1847850"/>
                    <a:pt x="0" y="1434211"/>
                    <a:pt x="0" y="923925"/>
                  </a:cubicBezTo>
                  <a:close/>
                </a:path>
              </a:pathLst>
            </a:custGeom>
            <a:solidFill>
              <a:srgbClr val="F3E2A8"/>
            </a:solidFill>
            <a:ln w="14288" cap="sq">
              <a:solidFill>
                <a:srgbClr val="F3E2A8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0701052" y="3284220"/>
            <a:ext cx="1335024" cy="36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62388" y="4603623"/>
            <a:ext cx="2775204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AI gợi ý hành trình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072116" y="5769483"/>
            <a:ext cx="2569464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8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Phân tích sở thích người dùng để đề xuất điểm đến phù hợp.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3846016" y="2255996"/>
            <a:ext cx="3374708" cy="6255068"/>
            <a:chOff x="0" y="0"/>
            <a:chExt cx="4499610" cy="834009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499610" cy="8340089"/>
            </a:xfrm>
            <a:custGeom>
              <a:avLst/>
              <a:gdLst/>
              <a:ahLst/>
              <a:cxnLst/>
              <a:rect l="l" t="t" r="r" b="b"/>
              <a:pathLst>
                <a:path w="4499610" h="8340089">
                  <a:moveTo>
                    <a:pt x="0" y="749935"/>
                  </a:moveTo>
                  <a:cubicBezTo>
                    <a:pt x="0" y="335788"/>
                    <a:pt x="335788" y="0"/>
                    <a:pt x="749935" y="0"/>
                  </a:cubicBezTo>
                  <a:lnTo>
                    <a:pt x="3749675" y="0"/>
                  </a:lnTo>
                  <a:cubicBezTo>
                    <a:pt x="4163822" y="0"/>
                    <a:pt x="4499610" y="335788"/>
                    <a:pt x="4499610" y="749935"/>
                  </a:cubicBezTo>
                  <a:lnTo>
                    <a:pt x="4499610" y="7590155"/>
                  </a:lnTo>
                  <a:cubicBezTo>
                    <a:pt x="4499610" y="8004301"/>
                    <a:pt x="4163822" y="8340089"/>
                    <a:pt x="3749675" y="8340089"/>
                  </a:cubicBezTo>
                  <a:lnTo>
                    <a:pt x="749935" y="8340089"/>
                  </a:lnTo>
                  <a:cubicBezTo>
                    <a:pt x="335788" y="8340090"/>
                    <a:pt x="0" y="8004302"/>
                    <a:pt x="0" y="75901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4833568" y="2804636"/>
            <a:ext cx="1385888" cy="1385888"/>
            <a:chOff x="0" y="0"/>
            <a:chExt cx="1847850" cy="18478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847850" cy="1847850"/>
            </a:xfrm>
            <a:custGeom>
              <a:avLst/>
              <a:gdLst/>
              <a:ahLst/>
              <a:cxnLst/>
              <a:rect l="l" t="t" r="r" b="b"/>
              <a:pathLst>
                <a:path w="1847850" h="1847850">
                  <a:moveTo>
                    <a:pt x="0" y="923925"/>
                  </a:moveTo>
                  <a:cubicBezTo>
                    <a:pt x="0" y="413639"/>
                    <a:pt x="413639" y="0"/>
                    <a:pt x="923925" y="0"/>
                  </a:cubicBezTo>
                  <a:cubicBezTo>
                    <a:pt x="1434211" y="0"/>
                    <a:pt x="1847850" y="413639"/>
                    <a:pt x="1847850" y="923925"/>
                  </a:cubicBezTo>
                  <a:cubicBezTo>
                    <a:pt x="1847850" y="1434211"/>
                    <a:pt x="1434211" y="1847850"/>
                    <a:pt x="923925" y="1847850"/>
                  </a:cubicBezTo>
                  <a:cubicBezTo>
                    <a:pt x="413639" y="1847850"/>
                    <a:pt x="0" y="1434211"/>
                    <a:pt x="0" y="923925"/>
                  </a:cubicBezTo>
                  <a:close/>
                </a:path>
              </a:pathLst>
            </a:custGeom>
            <a:solidFill>
              <a:srgbClr val="F3E2A8"/>
            </a:solidFill>
            <a:ln w="14288" cap="sq">
              <a:solidFill>
                <a:srgbClr val="F3E2A8"/>
              </a:solidFill>
              <a:prstDash val="solid"/>
              <a:miter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5431143" y="3253169"/>
            <a:ext cx="19073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145768" y="4613148"/>
            <a:ext cx="277520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1">
                <a:solidFill>
                  <a:srgbClr val="0C2B4C"/>
                </a:solidFill>
                <a:latin typeface="Arial Bold"/>
                <a:ea typeface="Arial Bold"/>
                <a:cs typeface="Arial Bold"/>
                <a:sym typeface="Arial Bold"/>
              </a:rPr>
              <a:t>Liên kết du lịch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255496" y="5769483"/>
            <a:ext cx="2569464" cy="1723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8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Kết nối đơn vị địa phương để quảng bá tour Khmer Nam Bộ.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843248" y="9772364"/>
            <a:ext cx="16610648" cy="38976"/>
            <a:chOff x="0" y="0"/>
            <a:chExt cx="22147530" cy="5196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2147530" cy="51943"/>
            </a:xfrm>
            <a:custGeom>
              <a:avLst/>
              <a:gdLst/>
              <a:ahLst/>
              <a:cxnLst/>
              <a:rect l="l" t="t" r="r" b="b"/>
              <a:pathLst>
                <a:path w="22147530" h="51943">
                  <a:moveTo>
                    <a:pt x="0" y="0"/>
                  </a:moveTo>
                  <a:lnTo>
                    <a:pt x="22147530" y="0"/>
                  </a:lnTo>
                  <a:lnTo>
                    <a:pt x="22147530" y="51943"/>
                  </a:lnTo>
                  <a:lnTo>
                    <a:pt x="0" y="51943"/>
                  </a:lnTo>
                  <a:close/>
                </a:path>
              </a:pathLst>
            </a:custGeom>
            <a:solidFill>
              <a:srgbClr val="EFE4CB"/>
            </a:solidFill>
            <a:ln w="14288" cap="sq">
              <a:solidFill>
                <a:srgbClr val="EFE4CB"/>
              </a:solidFill>
              <a:prstDash val="solid"/>
              <a:miter/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14145768" y="9861042"/>
            <a:ext cx="3255264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Triệu Chanh Đa - DA22TTA  |  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144" y="-7144"/>
            <a:ext cx="18301830" cy="10301288"/>
            <a:chOff x="0" y="0"/>
            <a:chExt cx="24402440" cy="13735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35050"/>
            </a:xfrm>
            <a:custGeom>
              <a:avLst/>
              <a:gdLst/>
              <a:ahLst/>
              <a:cxnLst/>
              <a:rect l="l" t="t" r="r" b="b"/>
              <a:pathLst>
                <a:path w="24402414" h="13735050">
                  <a:moveTo>
                    <a:pt x="0" y="0"/>
                  </a:moveTo>
                  <a:lnTo>
                    <a:pt x="24402414" y="0"/>
                  </a:lnTo>
                  <a:lnTo>
                    <a:pt x="24402414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0C2B4C"/>
            </a:solidFill>
            <a:ln w="14288" cap="sq">
              <a:solidFill>
                <a:srgbClr val="0C2B4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7144" y="9731216"/>
            <a:ext cx="18301830" cy="178880"/>
            <a:chOff x="0" y="0"/>
            <a:chExt cx="24402440" cy="2385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238506"/>
            </a:xfrm>
            <a:custGeom>
              <a:avLst/>
              <a:gdLst/>
              <a:ahLst/>
              <a:cxnLst/>
              <a:rect l="l" t="t" r="r" b="b"/>
              <a:pathLst>
                <a:path w="24402414" h="238506">
                  <a:moveTo>
                    <a:pt x="0" y="0"/>
                  </a:moveTo>
                  <a:lnTo>
                    <a:pt x="24402414" y="0"/>
                  </a:lnTo>
                  <a:lnTo>
                    <a:pt x="24402414" y="238506"/>
                  </a:lnTo>
                  <a:lnTo>
                    <a:pt x="0" y="238506"/>
                  </a:lnTo>
                  <a:close/>
                </a:path>
              </a:pathLst>
            </a:custGeom>
            <a:solidFill>
              <a:srgbClr val="D39F25"/>
            </a:solidFill>
            <a:ln w="14288" cap="sq">
              <a:solidFill>
                <a:srgbClr val="D39F25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6020285" y="4171950"/>
            <a:ext cx="7064573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DEMO ỨNG DỤNG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1531</TotalTime>
  <Words>1364</Words>
  <Application>Microsoft Office PowerPoint</Application>
  <PresentationFormat>Custom</PresentationFormat>
  <Paragraphs>159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TRƯỜNG KỸ THUẬT VÀ CÔNG NGHỆ KHOA CÔNG NGHỆ THÔNG TIN</dc:title>
  <cp:lastModifiedBy>HP</cp:lastModifiedBy>
  <cp:revision>10</cp:revision>
  <dcterms:created xsi:type="dcterms:W3CDTF">2006-08-16T00:00:00Z</dcterms:created>
  <dcterms:modified xsi:type="dcterms:W3CDTF">2026-07-07T12:25:12Z</dcterms:modified>
  <dc:identifier>DAHOleq1fpw</dc:identifier>
</cp:coreProperties>
</file>