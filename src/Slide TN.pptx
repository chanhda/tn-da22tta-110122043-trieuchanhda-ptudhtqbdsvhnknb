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libri" pitchFamily="34" charset="0"/>
      <p:regular r:id="rId17"/>
      <p:bold r:id="rId18"/>
      <p:italic r:id="rId19"/>
      <p:boldItalic r:id="rId20"/>
    </p:embeddedFont>
    <p:embeddedFont>
      <p:font typeface="Muli" charset="0"/>
      <p:regular r:id="rId21"/>
    </p:embeddedFont>
    <p:embeddedFont>
      <p:font typeface="Muli Bold" charset="0"/>
      <p:regular r:id="rId22"/>
    </p:embeddedFont>
    <p:embeddedFont>
      <p:font typeface="Arial Bold" pitchFamily="3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4" d="100"/>
          <a:sy n="54" d="100"/>
        </p:scale>
        <p:origin x="1709" y="6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33FC2B-F18A-471B-BF41-C00956751C47}" type="datetimeFigureOut">
              <a:rPr lang="vi-VN" smtClean="0"/>
              <a:t>05/07/2026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A7FF6B-278C-4E24-A25A-E2CC47A39139}" type="slidenum">
              <a:rPr lang="vi-VN" smtClean="0"/>
              <a:t>‹#›</a:t>
            </a:fld>
            <a:endParaRPr lang="vi-VN"/>
          </a:p>
        </p:txBody>
      </p:sp>
    </p:spTree>
    <p:extLst>
      <p:ext uri="{BB962C8B-B14F-4D97-AF65-F5344CB8AC3E}">
        <p14:creationId xmlns:p14="http://schemas.microsoft.com/office/powerpoint/2010/main" val="24496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 Lời thoại thuyết trình:</a:t>
            </a:r>
          </a:p>
          <a:p>
            <a:r>
              <a:rPr lang="en-US" smtClean="0"/>
              <a:t>"Kính thưa Hội đồng, khu vực Nam Bộ sở hữu một kho tàng di sản văn hóa Khmer cực kỳ độc đáo và đa dạng, từ chùa chiền cổ kính đến các lễ hội truyền thống lớn. Tuy nhiên, các phương pháp quảng bá cũ như sách báo, tờ rơi hiện tại có phạm vi tiếp cận rất hẹp, thông tin phân tán và chưa thu hút được du khách trẻ. Để giải quyết nguy cơ mai một bản sắc văn hóa dân tộc trong làn sóng số hóa, em quyết định phát triển một ứng dụng di động đa nền tảng hiện đại giúp số hóa dữ liệu và giới thiệu di sản một cách sinh động, trực quan."</a:t>
            </a:r>
          </a:p>
        </p:txBody>
      </p:sp>
      <p:sp>
        <p:nvSpPr>
          <p:cNvPr id="4" name="Slide Number Placeholder 3"/>
          <p:cNvSpPr>
            <a:spLocks noGrp="1"/>
          </p:cNvSpPr>
          <p:nvPr>
            <p:ph type="sldNum" sz="quarter" idx="10"/>
          </p:nvPr>
        </p:nvSpPr>
        <p:spPr/>
        <p:txBody>
          <a:bodyPr/>
          <a:lstStyle/>
          <a:p>
            <a:fld id="{7FA7FF6B-278C-4E24-A25A-E2CC47A39139}" type="slidenum">
              <a:rPr lang="vi-VN" smtClean="0"/>
              <a:t>2</a:t>
            </a:fld>
            <a:endParaRPr lang="vi-VN"/>
          </a:p>
        </p:txBody>
      </p:sp>
    </p:spTree>
    <p:extLst>
      <p:ext uri="{BB962C8B-B14F-4D97-AF65-F5344CB8AC3E}">
        <p14:creationId xmlns:p14="http://schemas.microsoft.com/office/powerpoint/2010/main" val="1387750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 Lời thoại thuyết trình:</a:t>
            </a:r>
          </a:p>
          <a:p>
            <a:r>
              <a:rPr lang="vi-VN" smtClean="0"/>
              <a:t>"Để trình bày mạch lạc, em chia 8 công nghệ cốt lõi của đồ án thành 4 nhóm chính.</a:t>
            </a:r>
          </a:p>
          <a:p>
            <a:r>
              <a:rPr lang="vi-VN" smtClean="0"/>
              <a:t>Nhóm thứ nhất là Nền tảng &amp; Giao diện gồm Expo, React Native và Tailwind CSS giúp phát triển ứng dụng di động đa nền tảng mượt mà.</a:t>
            </a:r>
          </a:p>
          <a:p>
            <a:r>
              <a:rPr lang="vi-VN" smtClean="0"/>
              <a:t>Nhóm thứ hai là Ngôn ngữ lập trình gồm TypeScript và JavaScript làm lõi vận hành ứng dụng.</a:t>
            </a:r>
          </a:p>
          <a:p>
            <a:r>
              <a:rPr lang="vi-VN" smtClean="0"/>
              <a:t>Nhóm thứ ba là Dịch vụ đám mây gồm Firebase quản lý dữ liệu thời gian thực, đăng nhập và Cloudinary tối ưu hóa hình ảnh tải lên.</a:t>
            </a:r>
          </a:p>
          <a:p>
            <a:r>
              <a:rPr lang="vi-VN" smtClean="0"/>
              <a:t>Nhóm cuối cùng là Bản đồ số Leaflet phục vụ việc kết xuất bản đồ và dẫn đường định vị di sản."</a:t>
            </a:r>
          </a:p>
        </p:txBody>
      </p:sp>
      <p:sp>
        <p:nvSpPr>
          <p:cNvPr id="4" name="Slide Number Placeholder 3"/>
          <p:cNvSpPr>
            <a:spLocks noGrp="1"/>
          </p:cNvSpPr>
          <p:nvPr>
            <p:ph type="sldNum" sz="quarter" idx="10"/>
          </p:nvPr>
        </p:nvSpPr>
        <p:spPr/>
        <p:txBody>
          <a:bodyPr/>
          <a:lstStyle/>
          <a:p>
            <a:fld id="{7FA7FF6B-278C-4E24-A25A-E2CC47A39139}" type="slidenum">
              <a:rPr lang="vi-VN" smtClean="0"/>
              <a:t>6</a:t>
            </a:fld>
            <a:endParaRPr lang="vi-VN"/>
          </a:p>
        </p:txBody>
      </p:sp>
    </p:spTree>
    <p:extLst>
      <p:ext uri="{BB962C8B-B14F-4D97-AF65-F5344CB8AC3E}">
        <p14:creationId xmlns:p14="http://schemas.microsoft.com/office/powerpoint/2010/main" val="620619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 Lời thoại thuyết trình:</a:t>
            </a:r>
          </a:p>
          <a:p>
            <a:r>
              <a:rPr lang="vi-VN" smtClean="0"/>
              <a:t>"Hệ thống được thiết kế tối ưu hóa chức năng dựa trên 3 đối tượng sử dụng chính.</a:t>
            </a:r>
          </a:p>
          <a:p>
            <a:r>
              <a:rPr lang="vi-VN" smtClean="0"/>
              <a:t>Đối tượng thứ nhất là Khách vãng lai, phục vụ nhu cầu đọc tin tức, tra cứu di sản, xem lịch lễ hội và bản đồ chỉ đường.</a:t>
            </a:r>
          </a:p>
          <a:p>
            <a:r>
              <a:rPr lang="vi-VN" smtClean="0"/>
              <a:t>Đối tượng thứ hai là Thành viên đã đăng nhập, được bổ sung các tính năng tương tác hai chiều như yêu thích, bình luận và đặc biệt là gửi bài đóng góp giới thiệu di sản mới cho hệ thống.</a:t>
            </a:r>
          </a:p>
          <a:p>
            <a:r>
              <a:rPr lang="vi-VN" smtClean="0"/>
              <a:t>Đối tượng thứ ba là phân hệ Quản trị dành cho Admin và Staff, cung cấp trang Dashboard điều hành để quản lý cơ sở dữ liệu, kiểm duyệt bài viết thành viên đóng góp và cấu hình phân quyền người dùng."</a:t>
            </a:r>
          </a:p>
        </p:txBody>
      </p:sp>
      <p:sp>
        <p:nvSpPr>
          <p:cNvPr id="4" name="Slide Number Placeholder 3"/>
          <p:cNvSpPr>
            <a:spLocks noGrp="1"/>
          </p:cNvSpPr>
          <p:nvPr>
            <p:ph type="sldNum" sz="quarter" idx="10"/>
          </p:nvPr>
        </p:nvSpPr>
        <p:spPr/>
        <p:txBody>
          <a:bodyPr/>
          <a:lstStyle/>
          <a:p>
            <a:fld id="{7FA7FF6B-278C-4E24-A25A-E2CC47A39139}" type="slidenum">
              <a:rPr lang="vi-VN" smtClean="0"/>
              <a:t>7</a:t>
            </a:fld>
            <a:endParaRPr lang="vi-VN"/>
          </a:p>
        </p:txBody>
      </p:sp>
    </p:spTree>
    <p:extLst>
      <p:ext uri="{BB962C8B-B14F-4D97-AF65-F5344CB8AC3E}">
        <p14:creationId xmlns:p14="http://schemas.microsoft.com/office/powerpoint/2010/main" val="225377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 Lời thoại thuyết trình:</a:t>
            </a:r>
          </a:p>
          <a:p>
            <a:r>
              <a:rPr lang="vi-VN" smtClean="0"/>
              <a:t>"Sau khi thử nghiệm hoạt động của phần mềm, em đưa ra một số đánh giá khách quan.</a:t>
            </a:r>
          </a:p>
          <a:p>
            <a:r>
              <a:rPr lang="vi-VN" smtClean="0"/>
              <a:t>Về ưu điểm, ứng dụng đạt được hiệu năng phản hồi tốt, chuyển động mượt mà, định vị chính xác và dịch thuật đa ngôn ngữ hoạt động ổn định. Cơ sở dữ liệu đồng bộ đám mây bảo mật cao.</a:t>
            </a:r>
          </a:p>
          <a:p>
            <a:r>
              <a:rPr lang="vi-VN" smtClean="0"/>
              <a:t>Tuy nhiên, ứng dụng vẫn có một số hạn chế nhỏ, đó là việc tải ảnh và hiển thị bản đồ vẫn phụ thuộc vào kết nối Internet. Ngoài ra, dữ liệu mẫu ban đầu tự thu thập nên số lượng di sản còn giới hạn, cần được cập nhật thêm thông tin chuyên sâu trong tương lai."</a:t>
            </a:r>
          </a:p>
        </p:txBody>
      </p:sp>
      <p:sp>
        <p:nvSpPr>
          <p:cNvPr id="4" name="Slide Number Placeholder 3"/>
          <p:cNvSpPr>
            <a:spLocks noGrp="1"/>
          </p:cNvSpPr>
          <p:nvPr>
            <p:ph type="sldNum" sz="quarter" idx="10"/>
          </p:nvPr>
        </p:nvSpPr>
        <p:spPr/>
        <p:txBody>
          <a:bodyPr/>
          <a:lstStyle/>
          <a:p>
            <a:fld id="{7FA7FF6B-278C-4E24-A25A-E2CC47A39139}" type="slidenum">
              <a:rPr lang="vi-VN" smtClean="0"/>
              <a:t>12</a:t>
            </a:fld>
            <a:endParaRPr lang="vi-VN"/>
          </a:p>
        </p:txBody>
      </p:sp>
    </p:spTree>
    <p:extLst>
      <p:ext uri="{BB962C8B-B14F-4D97-AF65-F5344CB8AC3E}">
        <p14:creationId xmlns:p14="http://schemas.microsoft.com/office/powerpoint/2010/main" val="286720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r>
              <a:rPr lang="vi-VN" dirty="0"/>
              <a:t>🗣️ Lời thoại thuyết trình:</a:t>
            </a:r>
          </a:p>
          <a:p xmlns:a="http://schemas.openxmlformats.org/drawingml/2006/main">
            <a:r>
              <a:rPr lang="vi-VN" dirty="0"/>
              <a:t>"Kính thưa Hội đồng cùng các thầy cô giáo, em tên là Triệu Chanh Đa, sinh viên lớp DA22TTA. Hôm nay, em xin phép được báo cáo khóa luận tốt nghiệp với đề tài: 'Phát triển ứng dụng hỗ trợ quảng bá di sản người Khmer Nam Bộ' dưới sự hướng dẫn khoa học của thầy Thạch Kọng Saoane. Sau đây em xin bắt đầu bài trình bày."</a:t>
            </a:r>
          </a:p>
        </p:txBody>
      </p:sp>
      <p:sp>
        <p:nvSpPr>
          <p:cNvPr id="4" name="Slide Number Placeholder 3"/>
          <p:cNvSpPr>
            <a:spLocks noGrp="1"/>
          </p:cNvSpPr>
          <p:nvPr>
            <p:ph type="sldNum" sz="quarter" idx="10"/>
          </p:nvPr>
        </p:nvSpPr>
        <p:spPr/>
        <p:txBody>
          <a:bodyPr/>
          <a:lstStyle/>
          <a:p>
            <a:fld id="{B6F15528-F159-4107-801B-301E9E2E1C3A}" type="slidenum">
              <a:rPr lang="vi-VN" smtClean="0"/>
              <a:t>1</a:t>
            </a:fld>
            <a:endParaRPr lang="vi-V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r>
              <a:rPr lang="vi-VN" dirty="0"/>
              <a:t>🗣️ Lời thoại thuyết trình:</a:t>
            </a:r>
          </a:p>
          <a:p xmlns:a="http://schemas.openxmlformats.org/drawingml/2006/main">
            <a:r>
              <a:rPr lang="vi-VN" dirty="0"/>
              <a:t>"Kính thưa Hội đồng cùng các thầy cô giáo, em tên là Triệu Chanh Đa, sinh viên lớp DA22TTA. Hôm nay, em xin phép được báo cáo khóa luận tốt nghiệp với đề tài: 'Phát triển ứng dụng hỗ trợ quảng bá di sản người Khmer Nam Bộ' dưới sự hướng dẫn khoa học của thầy Thạch Kọng Saoane. Sau đây em xin bắt đầu bài trình bày."</a:t>
            </a:r>
          </a:p>
        </p:txBody>
      </p:sp>
      <p:sp>
        <p:nvSpPr>
          <p:cNvPr id="4" name="Slide Number Placeholder 3"/>
          <p:cNvSpPr>
            <a:spLocks noGrp="1"/>
          </p:cNvSpPr>
          <p:nvPr>
            <p:ph type="sldNum" sz="quarter" idx="10"/>
          </p:nvPr>
        </p:nvSpPr>
        <p:spPr/>
        <p:txBody>
          <a:bodyPr/>
          <a:lstStyle/>
          <a:p>
            <a:fld id="{B6F15528-F159-4107-801B-301E9E2E1C3A}" type="slidenum">
              <a:rPr lang="vi-VN" smtClean="0"/>
              <a:t>1</a:t>
            </a:fld>
            <a:endParaRPr lang="vi-V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"Về đối tượng nghiên cứu, đề tài tập trung vào di sản vật thể là các kiến trúc chùa cổ và di sản phi vật thể gồm các lễ hội truyền thống, các loại hình nghệ thuật dân gian. Về phạm vi địa lý, đề tài nghiên cứu trên toàn khu vực Nam Bộ, bao gồm cả Đông Nam Bộ và Tây Nam Bộ, trọng tâm tại các địa phương có đông đồng bào Khmer sinh sống hoặc lưu trữ di tích như Trà Vinh, Sóc Trăng, An Giang, Bạc Liêu, Kiên Giang và TP. Hồ Chí Minh. Đối tượng thụ hưởng hướng đến du khách, các nhà nghiên cứu và chính đồng bào Khmer."</a:t>
            </a:r>
          </a:p>
        </p:txBody>
      </p:sp>
      <p:sp>
        <p:nvSpPr>
          <p:cNvPr id="4" name="Slide Number Placeholder 3"/>
          <p:cNvSpPr>
            <a:spLocks noGrp="1"/>
          </p:cNvSpPr>
          <p:nvPr>
            <p:ph type="sldNum" sz="quarter" idx="10"/>
          </p:nvPr>
        </p:nvSpPr>
        <p:spPr/>
        <p:txBody>
          <a:bodyPr/>
          <a:lstStyle/>
          <a:p>
            <a:fld id="{B6F15528-F159-4107-801B-301E9E2E1C3A}" type="slidenum">
              <a:rPr lang="vi-VN" smtClean="0"/>
              <a:t>4</a:t>
            </a:fld>
            <a:endParaRPr lang="vi-V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"Về phương pháp nghiên cứu, đề tài kết hợp giữa lý thuyết và thực nghiệm. Đầu tiên, em tiến hành nghiên cứu văn hóa, thu thập thông tin và tọa độ định vị GPS của các chùa Khmer. Về công nghệ, em nghiên cứu lập trình React Native kết hợp database NoSQL Firestore. Dựa trên phân tích đó, em đã thiết kế sơ đồ Use Case, sơ đồ luồng hoạt động duyệt bài, sơ đồ điều hướng tệp tin và sơ đồ cơ sở dữ liệu. Cuối cùng, em tiến hành lập trình ứng dụng thực tế theo mô hình Agile, tích hợp bản đồ Leaflet và CDN lưu ảnh Cloudinary."</a:t>
            </a:r>
          </a:p>
        </p:txBody>
      </p:sp>
      <p:sp>
        <p:nvSpPr>
          <p:cNvPr id="4" name="Slide Number Placeholder 3"/>
          <p:cNvSpPr>
            <a:spLocks noGrp="1"/>
          </p:cNvSpPr>
          <p:nvPr>
            <p:ph type="sldNum" sz="quarter" idx="10"/>
          </p:nvPr>
        </p:nvSpPr>
        <p:spPr/>
        <p:txBody>
          <a:bodyPr/>
          <a:lstStyle/>
          <a:p>
            <a:fld id="{B6F15528-F159-4107-801B-301E9E2E1C3A}" type="slidenum">
              <a:rPr lang="vi-VN" smtClean="0"/>
              <a:t>5</a:t>
            </a:fld>
            <a:endParaRPr lang="vi-V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"Về kiến trúc tổng thể, hệ thống được thiết kế theo mô hình Serverless kết hợp với Repository Pattern ở phía Client.</a:t>
            </a:r>
          </a:p>
          <a:p>
            <a:r>
              <a:rPr lang="vi-VN" dirty="0"/>
              <a:t>Cách thiết kế này giúp tách biệt hoàn toàn giao diện hiển thị với tầng truy cập dữ liệu API, giúp mã nguồn sạch sẽ, dễ nâng cấp và tăng tốc độ xử lý của thiết bị di động.</a:t>
            </a:r>
          </a:p>
          <a:p>
            <a:r>
              <a:rPr lang="vi-VN" dirty="0"/>
              <a:t>Phía backend sử dụng cơ sở dữ liệu đám mây Firebase Firestore, kết hợp Firebase Auth để xác thực và Cloudinary CDN để lưu trữ hình ảnh."</a:t>
            </a:r>
          </a:p>
        </p:txBody>
      </p:sp>
      <p:sp>
        <p:nvSpPr>
          <p:cNvPr id="4" name="Slide Number Placeholder 3"/>
          <p:cNvSpPr>
            <a:spLocks noGrp="1"/>
          </p:cNvSpPr>
          <p:nvPr>
            <p:ph type="sldNum" sz="quarter" idx="10"/>
          </p:nvPr>
        </p:nvSpPr>
        <p:spPr/>
        <p:txBody>
          <a:bodyPr/>
          <a:lstStyle/>
          <a:p>
            <a:fld id="{B6F15528-F159-4107-801B-301E9E2E1C3A}" type="slidenum">
              <a:rPr lang="vi-VN" smtClean="0"/>
              <a:t>8</a:t>
            </a:fld>
            <a:endParaRPr 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"Ở slide này, em trình bày sơ đồ Use Case tổng quát của hệ thống.</a:t>
            </a:r>
          </a:p>
          <a:p>
            <a:r>
              <a:rPr lang="vi-VN" dirty="0"/>
              <a:t>Ứng dụng phân chia người dùng thành 3 nhóm tác nhân chính gồm: Khách vãng lai có quyền đọc thông tin; Thành viên đăng nhập được cấp thêm các quyền bình luận, thích và gửi bài viết mới; và Quản trị viên quản lý toàn bộ hệ thống dữ liệu di sản.</a:t>
            </a:r>
          </a:p>
          <a:p>
            <a:r>
              <a:rPr lang="vi-VN" dirty="0"/>
              <a:t>Để xác định rõ các yêu cầu nghiệp vụ, em xây dựng sơ đồ Use Case tổng quát. Tác nhân chính gồm Người dùng thường với các chức năng tra cứu thông tin di sản, xem bản đồ, yêu thích, bình luận và đóng góp bài viết; và Quản trị viên quản lý toàn bộ cơ sở dữ liệu và duyệt nội dung."</a:t>
            </a:r>
          </a:p>
        </p:txBody>
      </p:sp>
      <p:sp>
        <p:nvSpPr>
          <p:cNvPr id="4" name="Slide Number Placeholder 3"/>
          <p:cNvSpPr>
            <a:spLocks noGrp="1"/>
          </p:cNvSpPr>
          <p:nvPr>
            <p:ph type="sldNum" sz="quarter" idx="10"/>
          </p:nvPr>
        </p:nvSpPr>
        <p:spPr/>
        <p:txBody>
          <a:bodyPr/>
          <a:lstStyle/>
          <a:p>
            <a:fld id="{B6F15528-F159-4107-801B-301E9E2E1C3A}" type="slidenum">
              <a:rPr lang="vi-VN" smtClean="0"/>
              <a:t>9</a:t>
            </a:fld>
            <a:endParaRPr lang="vi-V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"Cơ sở dữ liệu của đồ án sử dụng cấu trúc NoSQL Cloud Firestore, được thiết kế theo mô hình dữ liệu phẳng (Denormalization) nhằm tối ưu hóa cho các thao tác đọc.</a:t>
            </a:r>
          </a:p>
          <a:p>
            <a:r>
              <a:rPr lang="vi-VN" dirty="0"/>
              <a:t>Hệ thống quản lý thông tin thông qua 5 collection chính gồm: users, heritages, categories, articles và comments, có các liên kết mềm và ánh xạ dữ liệu trực tiếp lên thiết bị di động.</a:t>
            </a:r>
          </a:p>
          <a:p>
            <a:r>
              <a:rPr lang="vi-VN" dirty="0"/>
              <a:t>Vì sử dụng cơ sở dữ liệu NoSQL Firestore, dữ liệu được thiết kế tối ưu hóa cho thao tác đọc nhanh trên thiết bị di động. Cấu trúc gồm 5 collection chính liên kết lỏng lẻo với nhau, đảm bảo dữ liệu truy xuất mượt mà ngay cả khi kết nối mạng không ổn định."</a:t>
            </a:r>
          </a:p>
        </p:txBody>
      </p:sp>
      <p:sp>
        <p:nvSpPr>
          <p:cNvPr id="4" name="Slide Number Placeholder 3"/>
          <p:cNvSpPr>
            <a:spLocks noGrp="1"/>
          </p:cNvSpPr>
          <p:nvPr>
            <p:ph type="sldNum" sz="quarter" idx="10"/>
          </p:nvPr>
        </p:nvSpPr>
        <p:spPr/>
        <p:txBody>
          <a:bodyPr/>
          <a:lstStyle/>
          <a:p>
            <a:fld id="{B6F15528-F159-4107-801B-301E9E2E1C3A}" type="slidenum">
              <a:rPr lang="vi-VN" smtClean="0"/>
              <a:t>10</a:t>
            </a:fld>
            <a:endParaRPr lang="vi-V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"Sau quá trình nghiên cứu và thực nghiệm lập trình, đề tài đã đạt được các kết quả cụ thể.</a:t>
            </a:r>
          </a:p>
          <a:p>
            <a:r>
              <a:rPr lang="vi-VN" dirty="0"/>
              <a:t>Về mặt kỹ thuật, em đã phát triển ứng dụng di động đa nền tảng chạy ổn định bằng Expo SDK 54 với giao diện hiện đại và hỗ trợ Dark/Light Mode.</a:t>
            </a:r>
          </a:p>
          <a:p>
            <a:r>
              <a:rPr lang="vi-VN" dirty="0"/>
              <a:t>Về mặt dữ liệu, kho dữ liệu di sản Khmer Nam Bộ đã được số hóa hoàn chỉnh trên Cloud Firestore. Các tính năng như bản đồ Leaflet định vị và đếm ngược lễ hội hoạt động chuẩn xác.</a:t>
            </a:r>
          </a:p>
          <a:p>
            <a:r>
              <a:rPr lang="vi-VN" dirty="0"/>
              <a:t>Về sản phẩm bàn giao, em đã hoàn thành mã nguồn sạch theo Repository Pattern và đóng gói thành công file APK để cài đặt trực tiếp trên các thiết bị Android."</a:t>
            </a:r>
          </a:p>
        </p:txBody>
      </p:sp>
      <p:sp>
        <p:nvSpPr>
          <p:cNvPr id="4" name="Slide Number Placeholder 3"/>
          <p:cNvSpPr>
            <a:spLocks noGrp="1"/>
          </p:cNvSpPr>
          <p:nvPr>
            <p:ph type="sldNum" sz="quarter" idx="10"/>
          </p:nvPr>
        </p:nvSpPr>
        <p:spPr/>
        <p:txBody>
          <a:bodyPr/>
          <a:lstStyle/>
          <a:p>
            <a:fld id="{B6F15528-F159-4107-801B-301E9E2E1C3A}" type="slidenum">
              <a:rPr lang="vi-VN" smtClean="0"/>
              <a:t>11</a:t>
            </a:fld>
            <a:endParaRPr lang="vi-V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"Để ứng dụng ngày càng hoàn thiện và mang lại giá trị cao hơn, em đề xuất các hướng phát triển tiếp theo.</a:t>
            </a:r>
          </a:p>
          <a:p>
            <a:r>
              <a:rPr lang="vi-VN" dirty="0"/>
              <a:t>Đầu tiên, em dự định tích hợp công nghệ thực tế ảo tăng cường AR để du khách có thể tương tác với mô hình 3D sinh động của các ngôi chùa.</a:t>
            </a:r>
          </a:p>
          <a:p>
            <a:r>
              <a:rPr lang="vi-VN" dirty="0"/>
              <a:t>Thứ hai là phát triển tính năng Audio Guide đa ngôn ngữ giúp du khách nghe thuyết minh tại điểm di tích.</a:t>
            </a:r>
          </a:p>
          <a:p>
            <a:r>
              <a:rPr lang="vi-VN" dirty="0"/>
              <a:t>Thứ ba là ứng dụng trí tuệ nhân tạo AI để đề xuất lịch trình tham quan cá nhân hóa dựa trên sở thích của từng người dùng.</a:t>
            </a:r>
          </a:p>
          <a:p>
            <a:r>
              <a:rPr lang="vi-VN" dirty="0"/>
              <a:t>Cuối cùng là liên kết ứng dụng với các đơn vị du lịch địa phương để phát triển quảng bá các tour du lịch văn hóa Khmer Nam Bộ rộng rãi hơn."</a:t>
            </a:r>
          </a:p>
        </p:txBody>
      </p:sp>
      <p:sp>
        <p:nvSpPr>
          <p:cNvPr id="4" name="Slide Number Placeholder 3"/>
          <p:cNvSpPr>
            <a:spLocks noGrp="1"/>
          </p:cNvSpPr>
          <p:nvPr>
            <p:ph type="sldNum" sz="quarter" idx="10"/>
          </p:nvPr>
        </p:nvSpPr>
        <p:spPr/>
        <p:txBody>
          <a:bodyPr/>
          <a:lstStyle/>
          <a:p>
            <a:fld id="{B6F15528-F159-4107-801B-301E9E2E1C3A}" type="slidenum">
              <a:rPr lang="vi-VN" smtClean="0"/>
              <a:t>13</a:t>
            </a:fld>
            <a:endParaRPr lang="vi-V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Lời thoại thuyết trình:</a:t>
            </a:r>
          </a:p>
          <a:p>
            <a:r>
              <a:rPr lang="vi-VN" dirty="0"/>
              <a:t>"Để hội đồng có cái nhìn thực tế và trực quan nhất về sản phẩm, em xin phép được bắt đầu phần chạy thử ứng dụng (Demo) trực tiếp trên thiết bị di động.</a:t>
            </a:r>
          </a:p>
          <a:p>
            <a:r>
              <a:rPr lang="vi-VN" dirty="0"/>
              <a:t>Kịch bản demo chính gồm 3 luồng: Luồng tài khoản (Đăng nhập, Đổi mật khẩu), Luồng khám phá (Bản đồ di sản, Lịch lễ hội, chuyển đổi ngôn ngữ), và Luồng tương tác (Gửi bài viết đóng góp và Admin phê duyệt).</a:t>
            </a:r>
          </a:p>
          <a:p>
            <a:r>
              <a:rPr lang="vi-VN" dirty="0"/>
              <a:t>Sau phần demo, em xin chân thành cảm ơn quý thầy cô đã lắng nghe và em sẵn sàng nhận câu hỏi góp ý từ Hội đồng."</a:t>
            </a:r>
          </a:p>
        </p:txBody>
      </p:sp>
      <p:sp>
        <p:nvSpPr>
          <p:cNvPr id="4" name="Slide Number Placeholder 3"/>
          <p:cNvSpPr>
            <a:spLocks noGrp="1"/>
          </p:cNvSpPr>
          <p:nvPr>
            <p:ph type="sldNum" sz="quarter" idx="10"/>
          </p:nvPr>
        </p:nvSpPr>
        <p:spPr/>
        <p:txBody>
          <a:bodyPr/>
          <a:lstStyle/>
          <a:p>
            <a:fld id="{B6F15528-F159-4107-801B-301E9E2E1C3A}" type="slidenum">
              <a:rPr lang="vi-VN" smtClean="0"/>
              <a:t>14</a:t>
            </a:fld>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  <Relationship Id="rId3" Type="http://schemas.openxmlformats.org/officeDocument/2006/relationships/notesSlide" Target="../notesSlides/notesSlide5.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95250" y="0"/>
            <a:ext cx="4779052" cy="10287000"/>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a:off x="-95250"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grpSp>
        <p:nvGrpSpPr>
          <p:cNvPr id="6" name="Group 6"/>
          <p:cNvGrpSpPr/>
          <p:nvPr/>
        </p:nvGrpSpPr>
        <p:grpSpPr>
          <a:xfrm>
            <a:off x="1870953" y="190500"/>
            <a:ext cx="14546094" cy="5932752"/>
            <a:chOff x="0" y="170657"/>
            <a:chExt cx="19394792" cy="7910337"/>
          </a:xfrm>
        </p:grpSpPr>
        <p:sp>
          <p:nvSpPr>
            <p:cNvPr id="7" name="TextBox 7"/>
            <p:cNvSpPr txBox="1"/>
            <p:nvPr/>
          </p:nvSpPr>
          <p:spPr>
            <a:xfrm>
              <a:off x="0" y="7541456"/>
              <a:ext cx="19394792" cy="539538"/>
            </a:xfrm>
            <a:prstGeom prst="rect">
              <a:avLst/>
            </a:prstGeom>
          </p:spPr>
          <p:txBody>
            <a:bodyPr lIns="0" tIns="0" rIns="0" bIns="0" rtlCol="0" anchor="t">
              <a:spAutoFit/>
            </a:bodyPr>
            <a:lstStyle/>
            <a:p>
              <a:pPr algn="ctr">
                <a:lnSpc>
                  <a:spcPts val="3079"/>
                </a:lnSpc>
              </a:pPr>
              <a:endParaRPr/>
            </a:p>
          </p:txBody>
        </p:sp>
        <p:sp>
          <p:nvSpPr>
            <p:cNvPr id="8" name="TextBox 8"/>
            <p:cNvSpPr txBox="1"/>
            <p:nvPr/>
          </p:nvSpPr>
          <p:spPr>
            <a:xfrm>
              <a:off x="2345535" y="3052032"/>
              <a:ext cx="14703722" cy="2095500"/>
            </a:xfrm>
            <a:prstGeom prst="rect">
              <a:avLst/>
            </a:prstGeom>
          </p:spPr>
          <p:txBody>
            <a:bodyPr lIns="0" tIns="0" rIns="0" bIns="0" rtlCol="0" anchor="t">
              <a:spAutoFit/>
            </a:bodyPr>
            <a:lstStyle/>
            <a:p>
              <a:pPr algn="ctr">
                <a:lnSpc>
                  <a:spcPts val="4200"/>
                </a:lnSpc>
              </a:pPr>
              <a:r>
                <a:rPr lang="en-US" sz="3000" b="1">
                  <a:solidFill>
                    <a:srgbClr val="000000"/>
                  </a:solidFill>
                  <a:latin typeface="Arial Bold"/>
                  <a:ea typeface="Arial Bold"/>
                  <a:cs typeface="Arial Bold"/>
                  <a:sym typeface="Arial Bold"/>
                </a:rPr>
                <a:t>Báo Cáo Đồ Án Tốt Nghiệp</a:t>
              </a:r>
            </a:p>
            <a:p>
              <a:pPr algn="ctr">
                <a:lnSpc>
                  <a:spcPts val="4200"/>
                </a:lnSpc>
              </a:pPr>
              <a:endParaRPr lang="en-US" sz="3000" b="1">
                <a:solidFill>
                  <a:srgbClr val="000000"/>
                </a:solidFill>
                <a:latin typeface="Arial Bold"/>
                <a:ea typeface="Arial Bold"/>
                <a:cs typeface="Arial Bold"/>
                <a:sym typeface="Arial Bold"/>
              </a:endParaRPr>
            </a:p>
            <a:p>
              <a:pPr algn="ctr">
                <a:lnSpc>
                  <a:spcPts val="4199"/>
                </a:lnSpc>
              </a:pPr>
              <a:r>
                <a:rPr lang="en-US" sz="2999" b="1">
                  <a:solidFill>
                    <a:srgbClr val="000000"/>
                  </a:solidFill>
                  <a:latin typeface="Arial Bold"/>
                  <a:ea typeface="Arial Bold"/>
                  <a:cs typeface="Arial Bold"/>
                  <a:sym typeface="Arial Bold"/>
                </a:rPr>
                <a:t>Đề Tài</a:t>
              </a:r>
            </a:p>
          </p:txBody>
        </p:sp>
        <p:sp>
          <p:nvSpPr>
            <p:cNvPr id="9" name="TextBox 9"/>
            <p:cNvSpPr txBox="1"/>
            <p:nvPr/>
          </p:nvSpPr>
          <p:spPr>
            <a:xfrm>
              <a:off x="4942737" y="170657"/>
              <a:ext cx="12106519" cy="1532889"/>
            </a:xfrm>
            <a:prstGeom prst="rect">
              <a:avLst/>
            </a:prstGeom>
          </p:spPr>
          <p:txBody>
            <a:bodyPr lIns="0" tIns="0" rIns="0" bIns="0" rtlCol="0" anchor="t">
              <a:spAutoFit/>
            </a:bodyPr>
            <a:lstStyle/>
            <a:p>
              <a:pPr algn="ctr">
                <a:lnSpc>
                  <a:spcPts val="4620"/>
                </a:lnSpc>
              </a:pPr>
              <a:r>
                <a:rPr lang="en-US" sz="3300" b="1" dirty="0">
                  <a:solidFill>
                    <a:srgbClr val="000000"/>
                  </a:solidFill>
                  <a:latin typeface="Arial Bold"/>
                  <a:ea typeface="Arial Bold"/>
                  <a:cs typeface="Arial Bold"/>
                  <a:sym typeface="Arial Bold"/>
                </a:rPr>
                <a:t>TRƯỜNG KỸ THUẬT VÀ CÔNG NGHỆ</a:t>
              </a:r>
            </a:p>
            <a:p>
              <a:pPr algn="ctr">
                <a:lnSpc>
                  <a:spcPts val="4620"/>
                </a:lnSpc>
                <a:spcBef>
                  <a:spcPct val="0"/>
                </a:spcBef>
              </a:pPr>
              <a:r>
                <a:rPr lang="en-US" sz="3300" b="1" dirty="0">
                  <a:solidFill>
                    <a:srgbClr val="000000"/>
                  </a:solidFill>
                  <a:latin typeface="Arial Bold"/>
                  <a:ea typeface="Arial Bold"/>
                  <a:cs typeface="Arial Bold"/>
                  <a:sym typeface="Arial Bold"/>
                </a:rPr>
                <a:t>KHOA CÔNG NGHỆ THÔNG TIN</a:t>
              </a:r>
            </a:p>
          </p:txBody>
        </p:sp>
      </p:grpSp>
      <p:sp>
        <p:nvSpPr>
          <p:cNvPr id="10" name="Freeform 10"/>
          <p:cNvSpPr/>
          <p:nvPr/>
        </p:nvSpPr>
        <p:spPr>
          <a:xfrm>
            <a:off x="5102234" y="190500"/>
            <a:ext cx="1144703" cy="1145181"/>
          </a:xfrm>
          <a:custGeom>
            <a:avLst/>
            <a:gdLst/>
            <a:ahLst/>
            <a:cxnLst/>
            <a:rect l="l" t="t" r="r" b="b"/>
            <a:pathLst>
              <a:path w="1144703" h="1145181">
                <a:moveTo>
                  <a:pt x="0" y="0"/>
                </a:moveTo>
                <a:lnTo>
                  <a:pt x="1144703" y="0"/>
                </a:lnTo>
                <a:lnTo>
                  <a:pt x="1144703" y="1145181"/>
                </a:lnTo>
                <a:lnTo>
                  <a:pt x="0" y="1145181"/>
                </a:lnTo>
                <a:lnTo>
                  <a:pt x="0" y="0"/>
                </a:lnTo>
                <a:close/>
              </a:path>
            </a:pathLst>
          </a:custGeom>
          <a:blipFill>
            <a:blip r:embed="rId2"/>
            <a:stretch>
              <a:fillRect/>
            </a:stretch>
          </a:blipFill>
        </p:spPr>
      </p:sp>
      <p:sp>
        <p:nvSpPr>
          <p:cNvPr id="11" name="TextBox 11"/>
          <p:cNvSpPr txBox="1"/>
          <p:nvPr/>
        </p:nvSpPr>
        <p:spPr>
          <a:xfrm>
            <a:off x="1953155" y="4509135"/>
            <a:ext cx="14381689" cy="1173480"/>
          </a:xfrm>
          <a:prstGeom prst="rect">
            <a:avLst/>
          </a:prstGeom>
        </p:spPr>
        <p:txBody>
          <a:bodyPr lIns="0" tIns="0" rIns="0" bIns="0" rtlCol="0" anchor="t">
            <a:spAutoFit/>
          </a:bodyPr>
          <a:lstStyle/>
          <a:p>
            <a:pPr algn="ctr">
              <a:lnSpc>
                <a:spcPts val="4620"/>
              </a:lnSpc>
              <a:spcBef>
                <a:spcPct val="0"/>
              </a:spcBef>
            </a:pPr>
            <a:r>
              <a:rPr lang="en-US" sz="3300" b="1">
                <a:solidFill>
                  <a:srgbClr val="000000"/>
                </a:solidFill>
                <a:latin typeface="Arial Bold"/>
                <a:ea typeface="Arial Bold"/>
                <a:cs typeface="Arial Bold"/>
                <a:sym typeface="Arial Bold"/>
              </a:rPr>
              <a:t>PHÁT TRIỂN ỨNG DỤNG HỖ TRỢ QUẢNG BÁ DI SẢN VĂN HÓA </a:t>
            </a:r>
          </a:p>
          <a:p>
            <a:pPr algn="ctr">
              <a:lnSpc>
                <a:spcPts val="4620"/>
              </a:lnSpc>
              <a:spcBef>
                <a:spcPct val="0"/>
              </a:spcBef>
            </a:pPr>
            <a:r>
              <a:rPr lang="en-US" sz="3300" b="1">
                <a:solidFill>
                  <a:srgbClr val="000000"/>
                </a:solidFill>
                <a:latin typeface="Arial Bold"/>
                <a:ea typeface="Arial Bold"/>
                <a:cs typeface="Arial Bold"/>
                <a:sym typeface="Arial Bold"/>
              </a:rPr>
              <a:t>NGƯỜI KHMER NAM BỘ</a:t>
            </a:r>
          </a:p>
        </p:txBody>
      </p:sp>
      <p:sp>
        <p:nvSpPr>
          <p:cNvPr id="12" name="TextBox 12"/>
          <p:cNvSpPr txBox="1"/>
          <p:nvPr/>
        </p:nvSpPr>
        <p:spPr>
          <a:xfrm>
            <a:off x="3252405" y="6337565"/>
            <a:ext cx="5472524" cy="1066800"/>
          </a:xfrm>
          <a:prstGeom prst="rect">
            <a:avLst/>
          </a:prstGeom>
        </p:spPr>
        <p:txBody>
          <a:bodyPr lIns="0" tIns="0" rIns="0" bIns="0" rtlCol="0" anchor="t">
            <a:spAutoFit/>
          </a:bodyPr>
          <a:lstStyle/>
          <a:p>
            <a:pPr algn="ctr">
              <a:lnSpc>
                <a:spcPts val="4200"/>
              </a:lnSpc>
            </a:pPr>
            <a:r>
              <a:rPr lang="en-US" sz="3000">
                <a:solidFill>
                  <a:srgbClr val="000000"/>
                </a:solidFill>
                <a:latin typeface="Arial"/>
                <a:ea typeface="Arial"/>
                <a:cs typeface="Arial"/>
                <a:sym typeface="Arial"/>
              </a:rPr>
              <a:t>Giảng viên hướng dẫn:</a:t>
            </a:r>
          </a:p>
          <a:p>
            <a:pPr algn="ctr">
              <a:lnSpc>
                <a:spcPts val="4200"/>
              </a:lnSpc>
            </a:pPr>
            <a:r>
              <a:rPr lang="en-US" sz="3000">
                <a:solidFill>
                  <a:srgbClr val="000000"/>
                </a:solidFill>
                <a:latin typeface="Arial"/>
                <a:ea typeface="Arial"/>
                <a:cs typeface="Arial"/>
                <a:sym typeface="Arial"/>
              </a:rPr>
              <a:t>TS. Thạch Kọng Saoane</a:t>
            </a:r>
          </a:p>
        </p:txBody>
      </p:sp>
      <p:sp>
        <p:nvSpPr>
          <p:cNvPr id="13" name="TextBox 13"/>
          <p:cNvSpPr txBox="1"/>
          <p:nvPr/>
        </p:nvSpPr>
        <p:spPr>
          <a:xfrm>
            <a:off x="9786705" y="6337565"/>
            <a:ext cx="8142453" cy="1066800"/>
          </a:xfrm>
          <a:prstGeom prst="rect">
            <a:avLst/>
          </a:prstGeom>
        </p:spPr>
        <p:txBody>
          <a:bodyPr lIns="0" tIns="0" rIns="0" bIns="0" rtlCol="0" anchor="t">
            <a:spAutoFit/>
          </a:bodyPr>
          <a:lstStyle/>
          <a:p>
            <a:pPr algn="ctr">
              <a:lnSpc>
                <a:spcPts val="4200"/>
              </a:lnSpc>
            </a:pPr>
            <a:r>
              <a:rPr lang="en-US" sz="3000">
                <a:solidFill>
                  <a:srgbClr val="000000"/>
                </a:solidFill>
                <a:latin typeface="Arial"/>
                <a:ea typeface="Arial"/>
                <a:cs typeface="Arial"/>
                <a:sym typeface="Arial"/>
              </a:rPr>
              <a:t>Sinh viên thực hiện:</a:t>
            </a:r>
          </a:p>
          <a:p>
            <a:pPr algn="ctr">
              <a:lnSpc>
                <a:spcPts val="4200"/>
              </a:lnSpc>
            </a:pPr>
            <a:r>
              <a:rPr lang="en-US" sz="3000">
                <a:solidFill>
                  <a:srgbClr val="000000"/>
                </a:solidFill>
                <a:latin typeface="Arial"/>
                <a:ea typeface="Arial"/>
                <a:cs typeface="Arial"/>
                <a:sym typeface="Arial"/>
              </a:rPr>
              <a:t>Triệu Chanh Đa - 110122043 - DA22TTA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258401" y="0"/>
            <a:ext cx="2067430" cy="4450182"/>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rot="-10800000">
            <a:off x="13631224" y="2877572"/>
            <a:ext cx="7942901" cy="8561970"/>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660456" y="95250"/>
            <a:ext cx="15597945" cy="628650"/>
          </a:xfrm>
          <a:prstGeom prst="rect">
            <a:avLst/>
          </a:prstGeom>
        </p:spPr>
        <p:txBody>
          <a:bodyPr lIns="0" tIns="0" rIns="0" bIns="0" rtlCol="0" anchor="t">
            <a:spAutoFit/>
          </a:bodyPr>
          <a:lstStyle/>
          <a:p>
            <a:r>
              <a:rPr lang="vi-VN" sz="4000" b="1" smtClean="0">
                <a:solidFill>
                  <a:srgbClr val="000000"/>
                </a:solidFill>
                <a:latin typeface="Arial Bold"/>
                <a:ea typeface="Arial Bold"/>
                <a:cs typeface="Arial Bold"/>
                <a:sym typeface="Arial Bold"/>
              </a:rPr>
              <a:t>Lý do chọn đề tài (Đặt vấn đề)</a:t>
            </a:r>
          </a:p>
        </p:txBody>
      </p:sp>
      <p:sp>
        <p:nvSpPr>
          <p:cNvPr id="7" name="TextBox 7"/>
          <p:cNvSpPr txBox="1"/>
          <p:nvPr/>
        </p:nvSpPr>
        <p:spPr>
          <a:xfrm>
            <a:off x="5706631" y="5940668"/>
            <a:ext cx="609820" cy="405765"/>
          </a:xfrm>
          <a:prstGeom prst="rect">
            <a:avLst/>
          </a:prstGeom>
        </p:spPr>
        <p:txBody>
          <a:bodyPr lIns="0" tIns="0" rIns="0" bIns="0" rtlCol="0" anchor="t">
            <a:spAutoFit/>
          </a:bodyPr>
          <a:lstStyle/>
          <a:p>
            <a:pPr algn="ctr">
              <a:lnSpc>
                <a:spcPts val="3359"/>
              </a:lnSpc>
            </a:pPr>
            <a:r>
              <a:rPr lang="en-US" sz="2400">
                <a:solidFill>
                  <a:srgbClr val="FEFFFD"/>
                </a:solidFill>
                <a:latin typeface="Muli"/>
                <a:ea typeface="Muli"/>
                <a:cs typeface="Muli"/>
                <a:sym typeface="Muli"/>
              </a:rPr>
              <a:t>6</a:t>
            </a:r>
          </a:p>
        </p:txBody>
      </p:sp>
      <p:sp>
        <p:nvSpPr>
          <p:cNvPr id="8" name="TextBox 8"/>
          <p:cNvSpPr txBox="1"/>
          <p:nvPr/>
        </p:nvSpPr>
        <p:spPr>
          <a:xfrm>
            <a:off x="660456" y="1296155"/>
            <a:ext cx="14950091" cy="2500877"/>
          </a:xfrm>
          <a:prstGeom prst="rect">
            <a:avLst/>
          </a:prstGeom>
        </p:spPr>
        <p:txBody>
          <a:bodyPr lIns="0" tIns="0" rIns="0" bIns="0" rtlCol="0" anchor="t">
            <a:spAutoFit/>
          </a:bodyPr>
          <a:lstStyle/>
          <a:p>
            <a:pPr>
              <a:buChar char="•"/>
            </a:pPr>
            <a:r>
              <a:rPr lang="vi-VN" sz="3300" smtClean="0">
                <a:solidFill>
                  <a:srgbClr val="000000"/>
                </a:solidFill>
                <a:latin typeface="Arial"/>
                <a:ea typeface="Arial"/>
                <a:cs typeface="Arial"/>
                <a:sym typeface="Arial"/>
              </a:rPr>
              <a:t>Văn hóa Khmer: Kho tàng di sản Nam Bộ vô cùng phong phú và đồ sộ.</a:t>
            </a:r>
          </a:p>
          <a:p>
            <a:pPr>
              <a:buChar char="•"/>
            </a:pPr>
            <a:r>
              <a:rPr lang="vi-VN" sz="3300" smtClean="0">
                <a:solidFill>
                  <a:srgbClr val="000000"/>
                </a:solidFill>
                <a:latin typeface="Arial"/>
                <a:ea typeface="Arial"/>
                <a:cs typeface="Arial"/>
                <a:sym typeface="Arial"/>
              </a:rPr>
              <a:t>Quảng bá cũ: Các kênh truyền thống phạm vi tiếp cận hẹp, rời rạc.</a:t>
            </a:r>
          </a:p>
          <a:p>
            <a:pPr>
              <a:buChar char="•"/>
            </a:pPr>
            <a:r>
              <a:rPr lang="vi-VN" sz="3300" smtClean="0">
                <a:solidFill>
                  <a:srgbClr val="000000"/>
                </a:solidFill>
                <a:latin typeface="Arial"/>
                <a:ea typeface="Arial"/>
                <a:cs typeface="Arial"/>
                <a:sym typeface="Arial"/>
              </a:rPr>
              <a:t>Nguy cơ mai một: Bản sắc văn hóa đối mặt thách thức trong thời đại số.</a:t>
            </a:r>
          </a:p>
          <a:p>
            <a:pPr>
              <a:buChar char="•"/>
            </a:pPr>
            <a:r>
              <a:rPr lang="vi-VN" sz="3300" smtClean="0">
                <a:solidFill>
                  <a:srgbClr val="000000"/>
                </a:solidFill>
                <a:latin typeface="Arial"/>
                <a:ea typeface="Arial"/>
                <a:cs typeface="Arial"/>
                <a:sym typeface="Arial"/>
              </a:rPr>
              <a:t>Giải pháp công nghệ: Xây dựng ứng dụng di động số hóa và quảng bá di sản.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673828" y="0"/>
            <a:ext cx="3347655" cy="3608571"/>
            <a:chOff x="0" y="0"/>
            <a:chExt cx="1204093" cy="1297940"/>
          </a:xfrm>
        </p:grpSpPr>
        <p:sp>
          <p:nvSpPr>
            <p:cNvPr id="3" name="Freeform 3"/>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B57F4"/>
            </a:solidFill>
          </p:spPr>
        </p:sp>
      </p:grpSp>
      <p:grpSp>
        <p:nvGrpSpPr>
          <p:cNvPr id="4" name="Group 4"/>
          <p:cNvGrpSpPr/>
          <p:nvPr/>
        </p:nvGrpSpPr>
        <p:grpSpPr>
          <a:xfrm rot="-10800000">
            <a:off x="16614172" y="6678429"/>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1661355" y="95250"/>
            <a:ext cx="15597945" cy="628650"/>
          </a:xfrm>
          <a:prstGeom prst="rect">
            <a:avLst/>
          </a:prstGeom>
        </p:spPr>
        <p:txBody>
          <a:bodyPr lIns="0" tIns="0" rIns="0" bIns="0" rtlCol="0" anchor="t">
            <a:spAutoFit/>
          </a:bodyPr>
          <a:lstStyle/>
          <a:p>
            <a:r>
              <a:rPr lang="en-US" sz="4000" b="1" smtClean="0">
                <a:solidFill>
                  <a:srgbClr val="000000"/>
                </a:solidFill>
                <a:latin typeface="Arial Bold"/>
                <a:ea typeface="Arial Bold"/>
                <a:cs typeface="Arial Bold"/>
                <a:sym typeface="Arial Bold"/>
              </a:rPr>
              <a:t>Mục tiêu nghiên cứu</a:t>
            </a:r>
          </a:p>
        </p:txBody>
      </p:sp>
      <p:sp>
        <p:nvSpPr>
          <p:cNvPr id="7" name="TextBox 7"/>
          <p:cNvSpPr txBox="1"/>
          <p:nvPr/>
        </p:nvSpPr>
        <p:spPr>
          <a:xfrm>
            <a:off x="1028700" y="1479158"/>
            <a:ext cx="16230600" cy="2452723"/>
          </a:xfrm>
          <a:prstGeom prst="rect">
            <a:avLst/>
          </a:prstGeom>
        </p:spPr>
        <p:txBody>
          <a:bodyPr lIns="0" tIns="0" rIns="0" bIns="0" rtlCol="0" anchor="t">
            <a:spAutoFit/>
          </a:bodyPr>
          <a:lstStyle/>
          <a:p>
            <a:pPr>
              <a:buChar char="•"/>
            </a:pPr>
            <a:r>
              <a:rPr lang="vi-VN" sz="3299" smtClean="0">
                <a:solidFill>
                  <a:srgbClr val="000000"/>
                </a:solidFill>
                <a:latin typeface="Arial"/>
                <a:ea typeface="Arial"/>
                <a:cs typeface="Arial"/>
                <a:sym typeface="Arial"/>
              </a:rPr>
              <a:t>Số hóa: Xây dựng dữ liệu chùa cổ, lịch lễ hội và nghệ thuật dân gian.</a:t>
            </a:r>
          </a:p>
          <a:p>
            <a:pPr>
              <a:buChar char="•"/>
            </a:pPr>
            <a:r>
              <a:rPr lang="vi-VN" sz="3299" smtClean="0">
                <a:solidFill>
                  <a:srgbClr val="000000"/>
                </a:solidFill>
                <a:latin typeface="Arial"/>
                <a:ea typeface="Arial"/>
                <a:cs typeface="Arial"/>
                <a:sym typeface="Arial"/>
              </a:rPr>
              <a:t>Ứng dụng: Phát triển app đa nền tảng (Android/iOS) giao diện đậm nét Khmer.</a:t>
            </a:r>
          </a:p>
          <a:p>
            <a:pPr>
              <a:buChar char="•"/>
            </a:pPr>
            <a:r>
              <a:rPr lang="vi-VN" sz="3299" smtClean="0">
                <a:solidFill>
                  <a:srgbClr val="000000"/>
                </a:solidFill>
                <a:latin typeface="Arial"/>
                <a:ea typeface="Arial"/>
                <a:cs typeface="Arial"/>
                <a:sym typeface="Arial"/>
              </a:rPr>
              <a:t>Tiện ích: Đa ngôn ngữ (Việt - Khmer - Anh), bản đồ định vị, lịch sự kiện.</a:t>
            </a:r>
          </a:p>
          <a:p>
            <a:pPr>
              <a:buChar char="•"/>
            </a:pPr>
            <a:r>
              <a:rPr lang="vi-VN" sz="3299" smtClean="0">
                <a:solidFill>
                  <a:srgbClr val="000000"/>
                </a:solidFill>
                <a:latin typeface="Arial"/>
                <a:ea typeface="Arial"/>
                <a:cs typeface="Arial"/>
                <a:sym typeface="Arial"/>
              </a:rPr>
              <a:t>Quản trị: Thiết lập hệ thống Admin kiểm duyệt bài viết đóng góp cộng đồng.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750282" y="0"/>
            <a:ext cx="3367465" cy="3629924"/>
            <a:chOff x="0" y="0"/>
            <a:chExt cx="1204093" cy="1297940"/>
          </a:xfrm>
        </p:grpSpPr>
        <p:sp>
          <p:nvSpPr>
            <p:cNvPr id="3" name="Freeform 3"/>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B57F4"/>
            </a:solidFill>
          </p:spPr>
        </p:sp>
      </p:grpSp>
      <p:grpSp>
        <p:nvGrpSpPr>
          <p:cNvPr id="4" name="Group 4"/>
          <p:cNvGrpSpPr/>
          <p:nvPr/>
        </p:nvGrpSpPr>
        <p:grpSpPr>
          <a:xfrm>
            <a:off x="0" y="456337"/>
            <a:ext cx="4741948" cy="10207133"/>
            <a:chOff x="0" y="0"/>
            <a:chExt cx="5355113" cy="11526982"/>
          </a:xfrm>
        </p:grpSpPr>
        <p:sp>
          <p:nvSpPr>
            <p:cNvPr id="5" name="Freeform 5"/>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11476"/>
            </a:solidFill>
          </p:spPr>
        </p:sp>
      </p:grpSp>
      <p:sp>
        <p:nvSpPr>
          <p:cNvPr id="6" name="TextBox 6"/>
          <p:cNvSpPr txBox="1"/>
          <p:nvPr/>
        </p:nvSpPr>
        <p:spPr>
          <a:xfrm>
            <a:off x="2617182" y="95250"/>
            <a:ext cx="15597945" cy="628650"/>
          </a:xfrm>
          <a:prstGeom prst="rect">
            <a:avLst/>
          </a:prstGeom>
        </p:spPr>
        <p:txBody>
          <a:bodyPr lIns="0" tIns="0" rIns="0" bIns="0" rtlCol="0" anchor="t">
            <a:spAutoFit/>
          </a:bodyPr>
          <a:lstStyle/>
          <a:p>
            <a:r>
              <a:rPr lang="en-US" sz="4000" b="1">
                <a:solidFill>
                  <a:srgbClr val="000000"/>
                </a:solidFill>
                <a:latin typeface="Arial Bold"/>
                <a:ea typeface="Arial Bold"/>
                <a:cs typeface="Arial Bold"/>
                <a:sym typeface="Arial Bold"/>
              </a:rPr>
              <a:t>Đối tượng và Phạm vi nghiên cứu</a:t>
            </a:r>
          </a:p>
        </p:txBody>
      </p:sp>
      <p:sp>
        <p:nvSpPr>
          <p:cNvPr id="7" name="TextBox 7"/>
          <p:cNvSpPr txBox="1"/>
          <p:nvPr/>
        </p:nvSpPr>
        <p:spPr>
          <a:xfrm>
            <a:off x="4343400" y="1186911"/>
            <a:ext cx="13538068" cy="2837443"/>
          </a:xfrm>
          <a:prstGeom prst="rect">
            <a:avLst/>
          </a:prstGeom>
        </p:spPr>
        <p:txBody>
          <a:bodyPr wrap="square" lIns="0" tIns="0" rIns="0" bIns="0" rtlCol="0" anchor="t">
            <a:spAutoFit/>
          </a:bodyPr>
          <a:lstStyle/>
          <a:p>
            <a:pPr>
              <a:buChar char="•"/>
            </a:pPr>
            <a:r>
              <a:rPr lang="vi-VN" sz="3299" smtClean="0">
                <a:solidFill>
                  <a:srgbClr val="000000"/>
                </a:solidFill>
                <a:latin typeface="Arial"/>
                <a:ea typeface="Arial"/>
                <a:cs typeface="Arial"/>
                <a:sym typeface="Arial"/>
              </a:rPr>
              <a:t>Đối tượng: Di sản vật thể (chùa cổ) và phi vật thể (lễ hội, nghệ thuật).</a:t>
            </a:r>
          </a:p>
          <a:p>
            <a:pPr>
              <a:buChar char="•"/>
            </a:pPr>
            <a:r>
              <a:rPr lang="vi-VN" sz="3299" smtClean="0">
                <a:solidFill>
                  <a:srgbClr val="000000"/>
                </a:solidFill>
                <a:latin typeface="Arial"/>
                <a:ea typeface="Arial"/>
                <a:cs typeface="Arial"/>
                <a:sym typeface="Arial"/>
              </a:rPr>
              <a:t>Địa lý: Khu vực Nam Bộ (Đông và Tây Nam Bộ, nơi đông người Khmer).</a:t>
            </a:r>
          </a:p>
          <a:p>
            <a:pPr>
              <a:buChar char="•"/>
            </a:pPr>
            <a:r>
              <a:rPr lang="vi-VN" sz="3299" smtClean="0">
                <a:solidFill>
                  <a:srgbClr val="000000"/>
                </a:solidFill>
                <a:latin typeface="Arial"/>
                <a:ea typeface="Arial"/>
                <a:cs typeface="Arial"/>
                <a:sym typeface="Arial"/>
              </a:rPr>
              <a:t>Người dùng: Du khách trong/ngoài nước, nhà nghiên cứu, cộng đồng Khmer.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258401" y="0"/>
            <a:ext cx="2067430" cy="4450182"/>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rot="-10800000">
            <a:off x="13631224" y="2877572"/>
            <a:ext cx="7942901" cy="8561970"/>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1274908" y="161307"/>
            <a:ext cx="15597945" cy="619125"/>
          </a:xfrm>
          <a:prstGeom prst="rect">
            <a:avLst/>
          </a:prstGeom>
        </p:spPr>
        <p:txBody>
          <a:bodyPr lIns="0" tIns="0" rIns="0" bIns="0" rtlCol="0" anchor="t">
            <a:spAutoFit/>
          </a:bodyPr>
          <a:lstStyle/>
          <a:p>
            <a:r>
              <a:rPr lang="en-US" sz="4000" b="1">
                <a:solidFill>
                  <a:srgbClr val="000000"/>
                </a:solidFill>
                <a:latin typeface="Muli Bold"/>
                <a:ea typeface="Muli Bold"/>
                <a:cs typeface="Muli Bold"/>
                <a:sym typeface="Muli Bold"/>
              </a:rPr>
              <a:t>Phương pháp nghiên cứu &amp; Phát triển</a:t>
            </a:r>
          </a:p>
        </p:txBody>
      </p:sp>
      <p:sp>
        <p:nvSpPr>
          <p:cNvPr id="7" name="TextBox 7"/>
          <p:cNvSpPr txBox="1"/>
          <p:nvPr/>
        </p:nvSpPr>
        <p:spPr>
          <a:xfrm>
            <a:off x="1028700" y="1287779"/>
            <a:ext cx="14247077" cy="8046721"/>
          </a:xfrm>
          <a:prstGeom prst="rect">
            <a:avLst/>
          </a:prstGeom>
        </p:spPr>
        <p:txBody>
          <a:bodyPr lIns="0" tIns="0" rIns="0" bIns="0" rtlCol="0" anchor="t">
            <a:spAutoFit/>
          </a:bodyPr>
          <a:lstStyle/>
          <a:p>
            <a:pPr>
              <a:buChar char="•"/>
            </a:pPr>
            <a:r>
              <a:rPr lang="en-US" sz="3299" dirty="0" err="1">
                <a:solidFill>
                  <a:srgbClr val="000000"/>
                </a:solidFill>
                <a:latin typeface="Arial"/>
                <a:ea typeface="Arial"/>
                <a:cs typeface="Arial"/>
                <a:sym typeface="Arial"/>
              </a:rPr>
              <a:t>Tư liệu: Khảo sát chùa cổ Khmer, cập nhật lịch lễ hội và tọa độ GPS.</a:t>
            </a:r>
          </a:p>
          <a:p>
            <a:pPr>
              <a:buChar char="•"/>
            </a:pPr>
            <a:r>
              <a:rPr lang="en-US" sz="3299" dirty="0" err="1">
                <a:solidFill>
                  <a:srgbClr val="000000"/>
                </a:solidFill>
                <a:latin typeface="Arial"/>
                <a:ea typeface="Arial"/>
                <a:cs typeface="Arial"/>
                <a:sym typeface="Arial"/>
              </a:rPr>
              <a:t>Công nghệ: Ứng dụng lập trình React Native/Expo và database Firestore.</a:t>
            </a:r>
          </a:p>
          <a:p>
            <a:pPr>
              <a:buChar char="•"/>
            </a:pPr>
            <a:r>
              <a:rPr lang="en-US" sz="3299" dirty="0" err="1">
                <a:solidFill>
                  <a:srgbClr val="000000"/>
                </a:solidFill>
                <a:latin typeface="Arial"/>
                <a:ea typeface="Arial"/>
                <a:cs typeface="Arial"/>
                <a:sym typeface="Arial"/>
              </a:rPr>
              <a:t>Thiết kế: Phác họa sơ đồ UML, xây dựng cây điều hướng và DB schema.</a:t>
            </a:r>
          </a:p>
          <a:p>
            <a:pPr>
              <a:buChar char="•"/>
            </a:pPr>
            <a:r>
              <a:rPr lang="en-US" sz="3299" dirty="0" err="1">
                <a:solidFill>
                  <a:srgbClr val="000000"/>
                </a:solidFill>
                <a:latin typeface="Arial"/>
                <a:ea typeface="Arial"/>
                <a:cs typeface="Arial"/>
                <a:sym typeface="Arial"/>
              </a:rPr>
              <a:t>Thực nghiệm: Phát triển theo mô hình Agile, tích hợp API Leaflet &amp; Cloudinary.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95250" y="0"/>
            <a:ext cx="4779052" cy="10287000"/>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a:off x="-95250"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Freeform 6"/>
          <p:cNvSpPr/>
          <p:nvPr/>
        </p:nvSpPr>
        <p:spPr>
          <a:xfrm>
            <a:off x="2668119" y="2515805"/>
            <a:ext cx="1917173" cy="1917173"/>
          </a:xfrm>
          <a:custGeom>
            <a:avLst/>
            <a:gdLst/>
            <a:ahLst/>
            <a:cxnLst/>
            <a:rect l="l" t="t" r="r" b="b"/>
            <a:pathLst>
              <a:path w="1917173" h="1917173">
                <a:moveTo>
                  <a:pt x="0" y="0"/>
                </a:moveTo>
                <a:lnTo>
                  <a:pt x="1917173" y="0"/>
                </a:lnTo>
                <a:lnTo>
                  <a:pt x="1917173" y="1917172"/>
                </a:lnTo>
                <a:lnTo>
                  <a:pt x="0" y="1917172"/>
                </a:lnTo>
                <a:lnTo>
                  <a:pt x="0" y="0"/>
                </a:lnTo>
                <a:close/>
              </a:path>
            </a:pathLst>
          </a:custGeom>
          <a:blipFill>
            <a:blip r:embed="rId3"/>
            <a:stretch>
              <a:fillRect l="-19978" r="-19978"/>
            </a:stretch>
          </a:blipFill>
        </p:spPr>
        <p:txBody>
          <a:bodyPr/>
          <a:lstStyle/>
          <a:p>
            <a:endParaRPr lang="vi-VN"/>
          </a:p>
        </p:txBody>
      </p:sp>
      <p:sp>
        <p:nvSpPr>
          <p:cNvPr id="7" name="Freeform 7"/>
          <p:cNvSpPr/>
          <p:nvPr/>
        </p:nvSpPr>
        <p:spPr>
          <a:xfrm>
            <a:off x="5143707" y="2583310"/>
            <a:ext cx="1917173" cy="1917173"/>
          </a:xfrm>
          <a:custGeom>
            <a:avLst/>
            <a:gdLst/>
            <a:ahLst/>
            <a:cxnLst/>
            <a:rect l="l" t="t" r="r" b="b"/>
            <a:pathLst>
              <a:path w="1917173" h="1917173">
                <a:moveTo>
                  <a:pt x="0" y="0"/>
                </a:moveTo>
                <a:lnTo>
                  <a:pt x="1917172" y="0"/>
                </a:lnTo>
                <a:lnTo>
                  <a:pt x="1917172" y="1917172"/>
                </a:lnTo>
                <a:lnTo>
                  <a:pt x="0" y="1917172"/>
                </a:lnTo>
                <a:lnTo>
                  <a:pt x="0" y="0"/>
                </a:lnTo>
                <a:close/>
              </a:path>
            </a:pathLst>
          </a:custGeom>
          <a:blipFill>
            <a:blip r:embed="rId4"/>
            <a:stretch>
              <a:fillRect/>
            </a:stretch>
          </a:blipFill>
        </p:spPr>
        <p:txBody>
          <a:bodyPr/>
          <a:lstStyle/>
          <a:p>
            <a:endParaRPr lang="vi-VN"/>
          </a:p>
        </p:txBody>
      </p:sp>
      <p:sp>
        <p:nvSpPr>
          <p:cNvPr id="8" name="Freeform 8"/>
          <p:cNvSpPr/>
          <p:nvPr/>
        </p:nvSpPr>
        <p:spPr>
          <a:xfrm>
            <a:off x="7622854" y="2583310"/>
            <a:ext cx="1917173" cy="1917173"/>
          </a:xfrm>
          <a:custGeom>
            <a:avLst/>
            <a:gdLst/>
            <a:ahLst/>
            <a:cxnLst/>
            <a:rect l="l" t="t" r="r" b="b"/>
            <a:pathLst>
              <a:path w="1917173" h="1917173">
                <a:moveTo>
                  <a:pt x="0" y="0"/>
                </a:moveTo>
                <a:lnTo>
                  <a:pt x="1917173" y="0"/>
                </a:lnTo>
                <a:lnTo>
                  <a:pt x="1917173" y="1917172"/>
                </a:lnTo>
                <a:lnTo>
                  <a:pt x="0" y="1917172"/>
                </a:lnTo>
                <a:lnTo>
                  <a:pt x="0" y="0"/>
                </a:lnTo>
                <a:close/>
              </a:path>
            </a:pathLst>
          </a:custGeom>
          <a:blipFill>
            <a:blip r:embed="rId5"/>
            <a:stretch>
              <a:fillRect l="-45703" r="-45703"/>
            </a:stretch>
          </a:blipFill>
        </p:spPr>
        <p:txBody>
          <a:bodyPr/>
          <a:lstStyle/>
          <a:p>
            <a:endParaRPr lang="vi-VN"/>
          </a:p>
        </p:txBody>
      </p:sp>
      <p:sp>
        <p:nvSpPr>
          <p:cNvPr id="9" name="Freeform 9"/>
          <p:cNvSpPr/>
          <p:nvPr/>
        </p:nvSpPr>
        <p:spPr>
          <a:xfrm>
            <a:off x="4219801" y="6589395"/>
            <a:ext cx="2043721" cy="2043721"/>
          </a:xfrm>
          <a:custGeom>
            <a:avLst/>
            <a:gdLst/>
            <a:ahLst/>
            <a:cxnLst/>
            <a:rect l="l" t="t" r="r" b="b"/>
            <a:pathLst>
              <a:path w="2043721" h="2043721">
                <a:moveTo>
                  <a:pt x="0" y="0"/>
                </a:moveTo>
                <a:lnTo>
                  <a:pt x="2043721" y="0"/>
                </a:lnTo>
                <a:lnTo>
                  <a:pt x="2043721" y="2043721"/>
                </a:lnTo>
                <a:lnTo>
                  <a:pt x="0" y="2043721"/>
                </a:lnTo>
                <a:lnTo>
                  <a:pt x="0" y="0"/>
                </a:lnTo>
                <a:close/>
              </a:path>
            </a:pathLst>
          </a:custGeom>
          <a:blipFill>
            <a:blip r:embed="rId6"/>
            <a:stretch>
              <a:fillRect/>
            </a:stretch>
          </a:blipFill>
        </p:spPr>
        <p:txBody>
          <a:bodyPr/>
          <a:lstStyle/>
          <a:p>
            <a:endParaRPr lang="vi-VN"/>
          </a:p>
        </p:txBody>
      </p:sp>
      <p:sp>
        <p:nvSpPr>
          <p:cNvPr id="10" name="Freeform 10"/>
          <p:cNvSpPr/>
          <p:nvPr/>
        </p:nvSpPr>
        <p:spPr>
          <a:xfrm>
            <a:off x="6863204" y="6589395"/>
            <a:ext cx="2043721" cy="2043721"/>
          </a:xfrm>
          <a:custGeom>
            <a:avLst/>
            <a:gdLst/>
            <a:ahLst/>
            <a:cxnLst/>
            <a:rect l="l" t="t" r="r" b="b"/>
            <a:pathLst>
              <a:path w="2043721" h="2043721">
                <a:moveTo>
                  <a:pt x="0" y="0"/>
                </a:moveTo>
                <a:lnTo>
                  <a:pt x="2043720" y="0"/>
                </a:lnTo>
                <a:lnTo>
                  <a:pt x="2043720" y="2043721"/>
                </a:lnTo>
                <a:lnTo>
                  <a:pt x="0" y="2043721"/>
                </a:lnTo>
                <a:lnTo>
                  <a:pt x="0" y="0"/>
                </a:lnTo>
                <a:close/>
              </a:path>
            </a:pathLst>
          </a:custGeom>
          <a:blipFill>
            <a:blip r:embed="rId7"/>
            <a:stretch>
              <a:fillRect/>
            </a:stretch>
          </a:blipFill>
        </p:spPr>
        <p:txBody>
          <a:bodyPr/>
          <a:lstStyle/>
          <a:p>
            <a:endParaRPr lang="vi-VN"/>
          </a:p>
        </p:txBody>
      </p:sp>
      <p:sp>
        <p:nvSpPr>
          <p:cNvPr id="11" name="Freeform 11"/>
          <p:cNvSpPr/>
          <p:nvPr/>
        </p:nvSpPr>
        <p:spPr>
          <a:xfrm>
            <a:off x="12483252" y="2583310"/>
            <a:ext cx="1916176" cy="1916176"/>
          </a:xfrm>
          <a:custGeom>
            <a:avLst/>
            <a:gdLst/>
            <a:ahLst/>
            <a:cxnLst/>
            <a:rect l="l" t="t" r="r" b="b"/>
            <a:pathLst>
              <a:path w="1916176" h="1916176">
                <a:moveTo>
                  <a:pt x="0" y="0"/>
                </a:moveTo>
                <a:lnTo>
                  <a:pt x="1916176" y="0"/>
                </a:lnTo>
                <a:lnTo>
                  <a:pt x="1916176" y="1916176"/>
                </a:lnTo>
                <a:lnTo>
                  <a:pt x="0" y="1916176"/>
                </a:lnTo>
                <a:lnTo>
                  <a:pt x="0" y="0"/>
                </a:lnTo>
                <a:close/>
              </a:path>
            </a:pathLst>
          </a:custGeom>
          <a:blipFill>
            <a:blip r:embed="rId8"/>
            <a:stretch>
              <a:fillRect/>
            </a:stretch>
          </a:blipFill>
        </p:spPr>
        <p:txBody>
          <a:bodyPr/>
          <a:lstStyle/>
          <a:p>
            <a:endParaRPr lang="vi-VN"/>
          </a:p>
        </p:txBody>
      </p:sp>
      <p:sp>
        <p:nvSpPr>
          <p:cNvPr id="12" name="Freeform 12"/>
          <p:cNvSpPr/>
          <p:nvPr/>
        </p:nvSpPr>
        <p:spPr>
          <a:xfrm>
            <a:off x="14856628" y="2515805"/>
            <a:ext cx="1916176" cy="1916176"/>
          </a:xfrm>
          <a:custGeom>
            <a:avLst/>
            <a:gdLst/>
            <a:ahLst/>
            <a:cxnLst/>
            <a:rect l="l" t="t" r="r" b="b"/>
            <a:pathLst>
              <a:path w="1916176" h="1916176">
                <a:moveTo>
                  <a:pt x="0" y="0"/>
                </a:moveTo>
                <a:lnTo>
                  <a:pt x="1916177" y="0"/>
                </a:lnTo>
                <a:lnTo>
                  <a:pt x="1916177" y="1916176"/>
                </a:lnTo>
                <a:lnTo>
                  <a:pt x="0" y="1916176"/>
                </a:lnTo>
                <a:lnTo>
                  <a:pt x="0" y="0"/>
                </a:lnTo>
                <a:close/>
              </a:path>
            </a:pathLst>
          </a:custGeom>
          <a:blipFill>
            <a:blip r:embed="rId9"/>
            <a:stretch>
              <a:fillRect/>
            </a:stretch>
          </a:blipFill>
        </p:spPr>
        <p:txBody>
          <a:bodyPr/>
          <a:lstStyle/>
          <a:p>
            <a:endParaRPr lang="vi-VN"/>
          </a:p>
        </p:txBody>
      </p:sp>
      <p:sp>
        <p:nvSpPr>
          <p:cNvPr id="13" name="Freeform 13"/>
          <p:cNvSpPr/>
          <p:nvPr/>
        </p:nvSpPr>
        <p:spPr>
          <a:xfrm>
            <a:off x="13490950" y="6589395"/>
            <a:ext cx="2043721" cy="2043721"/>
          </a:xfrm>
          <a:custGeom>
            <a:avLst/>
            <a:gdLst/>
            <a:ahLst/>
            <a:cxnLst/>
            <a:rect l="l" t="t" r="r" b="b"/>
            <a:pathLst>
              <a:path w="2043721" h="2043721">
                <a:moveTo>
                  <a:pt x="0" y="0"/>
                </a:moveTo>
                <a:lnTo>
                  <a:pt x="2043721" y="0"/>
                </a:lnTo>
                <a:lnTo>
                  <a:pt x="2043721" y="2043721"/>
                </a:lnTo>
                <a:lnTo>
                  <a:pt x="0" y="2043721"/>
                </a:lnTo>
                <a:lnTo>
                  <a:pt x="0" y="0"/>
                </a:lnTo>
                <a:close/>
              </a:path>
            </a:pathLst>
          </a:custGeom>
          <a:blipFill>
            <a:blip r:embed="rId10"/>
            <a:stretch>
              <a:fillRect/>
            </a:stretch>
          </a:blipFill>
        </p:spPr>
        <p:txBody>
          <a:bodyPr/>
          <a:lstStyle/>
          <a:p>
            <a:endParaRPr lang="vi-VN"/>
          </a:p>
        </p:txBody>
      </p:sp>
      <p:sp>
        <p:nvSpPr>
          <p:cNvPr id="14" name="TextBox 14"/>
          <p:cNvSpPr txBox="1"/>
          <p:nvPr/>
        </p:nvSpPr>
        <p:spPr>
          <a:xfrm>
            <a:off x="2668119" y="95250"/>
            <a:ext cx="15597945" cy="628650"/>
          </a:xfrm>
          <a:prstGeom prst="rect">
            <a:avLst/>
          </a:prstGeom>
        </p:spPr>
        <p:txBody>
          <a:bodyPr lIns="0" tIns="0" rIns="0" bIns="0" rtlCol="0" anchor="t">
            <a:spAutoFit/>
          </a:bodyPr>
          <a:lstStyle/>
          <a:p>
            <a:pPr algn="ctr">
              <a:lnSpc>
                <a:spcPts val="4800"/>
              </a:lnSpc>
            </a:pPr>
            <a:r>
              <a:rPr lang="en-US" sz="4000" b="1">
                <a:solidFill>
                  <a:srgbClr val="000000"/>
                </a:solidFill>
                <a:latin typeface="Arial Bold"/>
                <a:ea typeface="Arial Bold"/>
                <a:cs typeface="Arial Bold"/>
                <a:sym typeface="Arial Bold"/>
              </a:rPr>
              <a:t>Công nghệ sử dụng</a:t>
            </a:r>
          </a:p>
        </p:txBody>
      </p:sp>
      <p:sp>
        <p:nvSpPr>
          <p:cNvPr id="15" name="TextBox 15"/>
          <p:cNvSpPr txBox="1"/>
          <p:nvPr/>
        </p:nvSpPr>
        <p:spPr>
          <a:xfrm>
            <a:off x="2961703" y="1126493"/>
            <a:ext cx="4923361" cy="626745"/>
          </a:xfrm>
          <a:prstGeom prst="rect">
            <a:avLst/>
          </a:prstGeom>
        </p:spPr>
        <p:txBody>
          <a:bodyPr lIns="0" tIns="0" rIns="0" bIns="0" rtlCol="0" anchor="t">
            <a:spAutoFit/>
          </a:bodyPr>
          <a:lstStyle/>
          <a:p>
            <a:r>
              <a:rPr lang="en-US" sz="3300">
                <a:solidFill>
                  <a:srgbClr val="000000"/>
                </a:solidFill>
                <a:latin typeface="Arial"/>
                <a:ea typeface="Arial"/>
                <a:cs typeface="Arial"/>
                <a:sym typeface="Arial"/>
              </a:rPr>
              <a:t>1. Nền tảng &amp; Giao diện:</a:t>
            </a:r>
          </a:p>
          <a:p>
            <a:pPr>
              <a:buChar char="•"/>
            </a:pPr>
            <a:r>
              <a:rPr lang="en-US" sz="3300">
                <a:solidFill>
                  <a:srgbClr val="000000"/>
                </a:solidFill>
                <a:latin typeface="Arial"/>
                <a:ea typeface="Arial"/>
                <a:cs typeface="Arial"/>
                <a:sym typeface="Arial"/>
              </a:rPr>
              <a:t>Expo &amp; React Native: App đa nền tảng.</a:t>
            </a:r>
          </a:p>
          <a:p>
            <a:pPr>
              <a:buChar char="•"/>
            </a:pPr>
            <a:r>
              <a:rPr lang="en-US" sz="3300">
                <a:solidFill>
                  <a:srgbClr val="000000"/>
                </a:solidFill>
                <a:latin typeface="Arial"/>
                <a:ea typeface="Arial"/>
                <a:cs typeface="Arial"/>
                <a:sym typeface="Arial"/>
              </a:rPr>
              <a:t>Tailwind CSS: Giao diện sáng/tối.</a:t>
            </a:r>
          </a:p>
        </p:txBody>
      </p:sp>
      <p:sp>
        <p:nvSpPr>
          <p:cNvPr id="16" name="TextBox 16"/>
          <p:cNvSpPr txBox="1"/>
          <p:nvPr/>
        </p:nvSpPr>
        <p:spPr>
          <a:xfrm>
            <a:off x="3811796" y="5019675"/>
            <a:ext cx="4310344" cy="626745"/>
          </a:xfrm>
          <a:prstGeom prst="rect">
            <a:avLst/>
          </a:prstGeom>
        </p:spPr>
        <p:txBody>
          <a:bodyPr lIns="0" tIns="0" rIns="0" bIns="0" rtlCol="0" anchor="t">
            <a:spAutoFit/>
          </a:bodyPr>
          <a:lstStyle/>
          <a:p>
            <a:r>
              <a:rPr lang="en-US" sz="3300">
                <a:solidFill>
                  <a:srgbClr val="000000"/>
                </a:solidFill>
                <a:latin typeface="Arial"/>
                <a:ea typeface="Arial"/>
                <a:cs typeface="Arial"/>
                <a:sym typeface="Arial"/>
              </a:rPr>
              <a:t>2. Ngôn ngữ lập trình:</a:t>
            </a:r>
          </a:p>
          <a:p>
            <a:pPr>
              <a:buChar char="•"/>
            </a:pPr>
            <a:r>
              <a:rPr lang="en-US" sz="3300">
                <a:solidFill>
                  <a:srgbClr val="000000"/>
                </a:solidFill>
                <a:latin typeface="Arial"/>
                <a:ea typeface="Arial"/>
                <a:cs typeface="Arial"/>
                <a:sym typeface="Arial"/>
              </a:rPr>
              <a:t>TypeScript &amp; JavaScript: Tối ưu luồng xử lý.</a:t>
            </a:r>
          </a:p>
        </p:txBody>
      </p:sp>
      <p:sp>
        <p:nvSpPr>
          <p:cNvPr id="17" name="TextBox 17"/>
          <p:cNvSpPr txBox="1"/>
          <p:nvPr/>
        </p:nvSpPr>
        <p:spPr>
          <a:xfrm>
            <a:off x="11858702" y="1177541"/>
            <a:ext cx="6050709" cy="626745"/>
          </a:xfrm>
          <a:prstGeom prst="rect">
            <a:avLst/>
          </a:prstGeom>
        </p:spPr>
        <p:txBody>
          <a:bodyPr lIns="0" tIns="0" rIns="0" bIns="0" rtlCol="0" anchor="t">
            <a:spAutoFit/>
          </a:bodyPr>
          <a:lstStyle/>
          <a:p>
            <a:r>
              <a:rPr lang="en-US" sz="3300">
                <a:solidFill>
                  <a:srgbClr val="000000"/>
                </a:solidFill>
                <a:latin typeface="Arial"/>
                <a:ea typeface="Arial"/>
                <a:cs typeface="Arial"/>
                <a:sym typeface="Arial"/>
              </a:rPr>
              <a:t>3. Dịch vụ đám mây &amp; Lưu trữ:</a:t>
            </a:r>
          </a:p>
          <a:p>
            <a:pPr>
              <a:buChar char="•"/>
            </a:pPr>
            <a:r>
              <a:rPr lang="en-US" sz="3300">
                <a:solidFill>
                  <a:srgbClr val="000000"/>
                </a:solidFill>
                <a:latin typeface="Arial"/>
                <a:ea typeface="Arial"/>
                <a:cs typeface="Arial"/>
                <a:sym typeface="Arial"/>
              </a:rPr>
              <a:t>Firebase: Xác thực, dữ liệu thực.</a:t>
            </a:r>
          </a:p>
          <a:p>
            <a:pPr>
              <a:buChar char="•"/>
            </a:pPr>
            <a:r>
              <a:rPr lang="en-US" sz="3300">
                <a:solidFill>
                  <a:srgbClr val="000000"/>
                </a:solidFill>
                <a:latin typeface="Arial"/>
                <a:ea typeface="Arial"/>
                <a:cs typeface="Arial"/>
                <a:sym typeface="Arial"/>
              </a:rPr>
              <a:t>Cloudinary: Lưu trữ hình ảnh.</a:t>
            </a:r>
          </a:p>
        </p:txBody>
      </p:sp>
      <p:sp>
        <p:nvSpPr>
          <p:cNvPr id="18" name="TextBox 18"/>
          <p:cNvSpPr txBox="1"/>
          <p:nvPr/>
        </p:nvSpPr>
        <p:spPr>
          <a:xfrm>
            <a:off x="11858702" y="5019675"/>
            <a:ext cx="4594551" cy="626745"/>
          </a:xfrm>
          <a:prstGeom prst="rect">
            <a:avLst/>
          </a:prstGeom>
        </p:spPr>
        <p:txBody>
          <a:bodyPr lIns="0" tIns="0" rIns="0" bIns="0" rtlCol="0" anchor="t">
            <a:spAutoFit/>
          </a:bodyPr>
          <a:lstStyle/>
          <a:p>
            <a:r>
              <a:rPr lang="en-US" sz="3300">
                <a:solidFill>
                  <a:srgbClr val="000000"/>
                </a:solidFill>
                <a:latin typeface="Arial"/>
                <a:ea typeface="Arial"/>
                <a:cs typeface="Arial"/>
                <a:sym typeface="Arial"/>
              </a:rPr>
              <a:t>4. Bản đồ số:</a:t>
            </a:r>
          </a:p>
          <a:p>
            <a:pPr>
              <a:buChar char="•"/>
            </a:pPr>
            <a:r>
              <a:rPr lang="en-US" sz="3300">
                <a:solidFill>
                  <a:srgbClr val="000000"/>
                </a:solidFill>
                <a:latin typeface="Arial"/>
                <a:ea typeface="Arial"/>
                <a:cs typeface="Arial"/>
                <a:sym typeface="Arial"/>
              </a:rPr>
              <a:t>Leaflet Map: Kết xuất bản đồ di tích.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46042" y="2978239"/>
            <a:ext cx="4388392" cy="4109085"/>
          </a:xfrm>
          <a:prstGeom prst="rect">
            <a:avLst/>
          </a:prstGeom>
        </p:spPr>
        <p:txBody>
          <a:bodyPr lIns="0" tIns="0" rIns="0" bIns="0" rtlCol="0" anchor="t">
            <a:spAutoFit/>
          </a:bodyPr>
          <a:lstStyle/>
          <a:p>
            <a:r>
              <a:rPr lang="en-US" sz="2400" dirty="0" err="1">
                <a:solidFill>
                  <a:srgbClr val="000000"/>
                </a:solidFill>
                <a:latin typeface="Arial"/>
                <a:ea typeface="Arial"/>
                <a:cs typeface="Arial"/>
                <a:sym typeface="Arial"/>
              </a:rPr>
              <a:t>1. Khách vãng lai:</a:t>
            </a:r>
          </a:p>
          <a:p>
            <a:pPr>
              <a:buChar char="•"/>
            </a:pPr>
            <a:r>
              <a:rPr lang="en-US" sz="2400" dirty="0" err="1">
                <a:solidFill>
                  <a:srgbClr val="000000"/>
                </a:solidFill>
                <a:latin typeface="Arial"/>
                <a:ea typeface="Arial"/>
                <a:cs typeface="Arial"/>
                <a:sym typeface="Arial"/>
              </a:rPr>
              <a:t>Xem di sản và lễ hội.</a:t>
            </a:r>
          </a:p>
          <a:p>
            <a:pPr>
              <a:buChar char="•"/>
            </a:pPr>
            <a:r>
              <a:rPr lang="en-US" sz="2400" dirty="0" err="1">
                <a:solidFill>
                  <a:srgbClr val="000000"/>
                </a:solidFill>
                <a:latin typeface="Arial"/>
                <a:ea typeface="Arial"/>
                <a:cs typeface="Arial"/>
                <a:sym typeface="Arial"/>
              </a:rPr>
              <a:t>Xem bản đồ dẫn đường.</a:t>
            </a:r>
          </a:p>
          <a:p>
            <a:pPr>
              <a:buChar char="•"/>
            </a:pPr>
            <a:r>
              <a:rPr lang="en-US" sz="2400" dirty="0" err="1">
                <a:solidFill>
                  <a:srgbClr val="000000"/>
                </a:solidFill>
                <a:latin typeface="Arial"/>
                <a:ea typeface="Arial"/>
                <a:cs typeface="Arial"/>
                <a:sym typeface="Arial"/>
              </a:rPr>
              <a:t>Đổi ngôn ngữ (song ngữ) và sáng/tối.</a:t>
            </a:r>
          </a:p>
        </p:txBody>
      </p:sp>
      <p:sp>
        <p:nvSpPr>
          <p:cNvPr id="3" name="TextBox 3"/>
          <p:cNvSpPr txBox="1"/>
          <p:nvPr/>
        </p:nvSpPr>
        <p:spPr>
          <a:xfrm>
            <a:off x="746042" y="2208228"/>
            <a:ext cx="4388392" cy="528320"/>
          </a:xfrm>
          <a:prstGeom prst="rect">
            <a:avLst/>
          </a:prstGeom>
        </p:spPr>
        <p:txBody>
          <a:bodyPr lIns="0" tIns="0" rIns="0" bIns="0" rtlCol="0" anchor="t">
            <a:spAutoFit/>
          </a:bodyPr>
          <a:lstStyle/>
          <a:p>
            <a:pPr marL="0" lvl="0" indent="0" algn="ctr">
              <a:lnSpc>
                <a:spcPts val="4480"/>
              </a:lnSpc>
              <a:spcBef>
                <a:spcPct val="0"/>
              </a:spcBef>
            </a:pPr>
            <a:r>
              <a:rPr lang="en-US" sz="3200" b="1">
                <a:solidFill>
                  <a:srgbClr val="000000"/>
                </a:solidFill>
                <a:latin typeface="Muli Bold"/>
                <a:ea typeface="Muli Bold"/>
                <a:cs typeface="Muli Bold"/>
                <a:sym typeface="Muli Bold"/>
              </a:rPr>
              <a:t>Khách vãng lai</a:t>
            </a:r>
          </a:p>
        </p:txBody>
      </p:sp>
      <p:sp>
        <p:nvSpPr>
          <p:cNvPr id="4" name="TextBox 4"/>
          <p:cNvSpPr txBox="1"/>
          <p:nvPr/>
        </p:nvSpPr>
        <p:spPr>
          <a:xfrm>
            <a:off x="5720135" y="2987764"/>
            <a:ext cx="4388392" cy="6842760"/>
          </a:xfrm>
          <a:prstGeom prst="rect">
            <a:avLst/>
          </a:prstGeom>
        </p:spPr>
        <p:txBody>
          <a:bodyPr lIns="0" tIns="0" rIns="0" bIns="0" rtlCol="0" anchor="t">
            <a:spAutoFit/>
          </a:bodyPr>
          <a:lstStyle/>
          <a:p>
            <a:r>
              <a:rPr lang="en-US" sz="2400" dirty="0" err="1">
                <a:solidFill>
                  <a:srgbClr val="000000"/>
                </a:solidFill>
                <a:latin typeface="Muli"/>
                <a:ea typeface="Muli"/>
                <a:cs typeface="Muli"/>
                <a:sym typeface="Muli"/>
              </a:rPr>
              <a:t>2. Thành viên (Đã đăng nhập):</a:t>
            </a:r>
          </a:p>
          <a:p>
            <a:pPr>
              <a:buChar char="•"/>
            </a:pPr>
            <a:r>
              <a:rPr lang="en-US" sz="2400" dirty="0" err="1">
                <a:solidFill>
                  <a:srgbClr val="000000"/>
                </a:solidFill>
                <a:latin typeface="Muli"/>
                <a:ea typeface="Muli"/>
                <a:cs typeface="Muli"/>
                <a:sym typeface="Muli"/>
              </a:rPr>
              <a:t>Kế thừa toàn bộ quyền khách.</a:t>
            </a:r>
          </a:p>
          <a:p>
            <a:pPr>
              <a:buChar char="•"/>
            </a:pPr>
            <a:r>
              <a:rPr lang="en-US" sz="2400" dirty="0" err="1">
                <a:solidFill>
                  <a:srgbClr val="000000"/>
                </a:solidFill>
                <a:latin typeface="Muli"/>
                <a:ea typeface="Muli"/>
                <a:cs typeface="Muli"/>
                <a:sym typeface="Muli"/>
              </a:rPr>
              <a:t>Quản lý tài khoản cá nhân.</a:t>
            </a:r>
          </a:p>
          <a:p>
            <a:pPr>
              <a:buChar char="•"/>
            </a:pPr>
            <a:r>
              <a:rPr lang="en-US" sz="2400" dirty="0" err="1">
                <a:solidFill>
                  <a:srgbClr val="000000"/>
                </a:solidFill>
                <a:latin typeface="Muli"/>
                <a:ea typeface="Muli"/>
                <a:cs typeface="Muli"/>
                <a:sym typeface="Muli"/>
              </a:rPr>
              <a:t>Lưu yêu thích, bình luận, gửi bài đóng góp.</a:t>
            </a:r>
          </a:p>
          <a:p>
            <a:pPr>
              <a:buChar char="•"/>
            </a:pPr>
            <a:r>
              <a:rPr lang="en-US" sz="2400" dirty="0" err="1">
                <a:solidFill>
                  <a:srgbClr val="000000"/>
                </a:solidFill>
                <a:latin typeface="Muli"/>
                <a:ea typeface="Muli"/>
                <a:cs typeface="Muli"/>
                <a:sym typeface="Muli"/>
              </a:rPr>
              <a:t>Nhận thông báo thời gian thực.</a:t>
            </a:r>
          </a:p>
        </p:txBody>
      </p:sp>
      <p:sp>
        <p:nvSpPr>
          <p:cNvPr id="5" name="TextBox 5"/>
          <p:cNvSpPr txBox="1"/>
          <p:nvPr/>
        </p:nvSpPr>
        <p:spPr>
          <a:xfrm>
            <a:off x="5720135" y="2208228"/>
            <a:ext cx="4388392" cy="528320"/>
          </a:xfrm>
          <a:prstGeom prst="rect">
            <a:avLst/>
          </a:prstGeom>
        </p:spPr>
        <p:txBody>
          <a:bodyPr lIns="0" tIns="0" rIns="0" bIns="0" rtlCol="0" anchor="t">
            <a:spAutoFit/>
          </a:bodyPr>
          <a:lstStyle/>
          <a:p>
            <a:pPr marL="0" lvl="0" indent="0" algn="ctr">
              <a:lnSpc>
                <a:spcPts val="4480"/>
              </a:lnSpc>
              <a:spcBef>
                <a:spcPct val="0"/>
              </a:spcBef>
            </a:pPr>
            <a:r>
              <a:rPr lang="en-US" sz="3200" b="1">
                <a:solidFill>
                  <a:srgbClr val="000000"/>
                </a:solidFill>
                <a:latin typeface="Muli Bold"/>
                <a:ea typeface="Muli Bold"/>
                <a:cs typeface="Muli Bold"/>
                <a:sym typeface="Muli Bold"/>
              </a:rPr>
              <a:t>Thành viên</a:t>
            </a:r>
          </a:p>
        </p:txBody>
      </p:sp>
      <p:grpSp>
        <p:nvGrpSpPr>
          <p:cNvPr id="6" name="Group 6"/>
          <p:cNvGrpSpPr/>
          <p:nvPr/>
        </p:nvGrpSpPr>
        <p:grpSpPr>
          <a:xfrm rot="-10800000">
            <a:off x="13508948" y="0"/>
            <a:ext cx="4779052" cy="10287000"/>
            <a:chOff x="0" y="0"/>
            <a:chExt cx="5355113" cy="11526982"/>
          </a:xfrm>
        </p:grpSpPr>
        <p:sp>
          <p:nvSpPr>
            <p:cNvPr id="7" name="Freeform 7"/>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sp>
        <p:nvSpPr>
          <p:cNvPr id="8" name="TextBox 8"/>
          <p:cNvSpPr txBox="1"/>
          <p:nvPr/>
        </p:nvSpPr>
        <p:spPr>
          <a:xfrm>
            <a:off x="10746344" y="2987764"/>
            <a:ext cx="4388392" cy="5928360"/>
          </a:xfrm>
          <a:prstGeom prst="rect">
            <a:avLst/>
          </a:prstGeom>
        </p:spPr>
        <p:txBody>
          <a:bodyPr lIns="0" tIns="0" rIns="0" bIns="0" rtlCol="0" anchor="t">
            <a:spAutoFit/>
          </a:bodyPr>
          <a:lstStyle/>
          <a:p>
            <a:r>
              <a:rPr lang="en-US" sz="2400">
                <a:solidFill>
                  <a:srgbClr val="000000"/>
                </a:solidFill>
                <a:latin typeface="Muli"/>
                <a:ea typeface="Muli"/>
                <a:cs typeface="Muli"/>
                <a:sym typeface="Muli"/>
              </a:rPr>
              <a:t>3. Quản trị viên (Admin / Staff):</a:t>
            </a:r>
          </a:p>
          <a:p>
            <a:pPr>
              <a:buChar char="•"/>
            </a:pPr>
            <a:r>
              <a:rPr lang="en-US" sz="2400">
                <a:solidFill>
                  <a:srgbClr val="000000"/>
                </a:solidFill>
                <a:latin typeface="Muli"/>
                <a:ea typeface="Muli"/>
                <a:cs typeface="Muli"/>
                <a:sym typeface="Muli"/>
              </a:rPr>
              <a:t>Quản lý dữ liệu hệ thống (Thêm/Sửa/Xóa).</a:t>
            </a:r>
          </a:p>
          <a:p>
            <a:pPr>
              <a:buChar char="•"/>
            </a:pPr>
            <a:r>
              <a:rPr lang="en-US" sz="2400">
                <a:solidFill>
                  <a:srgbClr val="000000"/>
                </a:solidFill>
                <a:latin typeface="Muli"/>
                <a:ea typeface="Muli"/>
                <a:cs typeface="Muli"/>
                <a:sym typeface="Muli"/>
              </a:rPr>
              <a:t>Duyệt bài đóng góp thành viên.</a:t>
            </a:r>
          </a:p>
          <a:p>
            <a:pPr>
              <a:buChar char="•"/>
            </a:pPr>
            <a:r>
              <a:rPr lang="en-US" sz="2400">
                <a:solidFill>
                  <a:srgbClr val="000000"/>
                </a:solidFill>
                <a:latin typeface="Muli"/>
                <a:ea typeface="Muli"/>
                <a:cs typeface="Muli"/>
                <a:sym typeface="Muli"/>
              </a:rPr>
              <a:t>Phân quyền và cấu hình hệ thống.</a:t>
            </a:r>
          </a:p>
        </p:txBody>
      </p:sp>
      <p:sp>
        <p:nvSpPr>
          <p:cNvPr id="9" name="TextBox 9"/>
          <p:cNvSpPr txBox="1"/>
          <p:nvPr/>
        </p:nvSpPr>
        <p:spPr>
          <a:xfrm>
            <a:off x="10746344" y="2208228"/>
            <a:ext cx="4388392" cy="528320"/>
          </a:xfrm>
          <a:prstGeom prst="rect">
            <a:avLst/>
          </a:prstGeom>
        </p:spPr>
        <p:txBody>
          <a:bodyPr lIns="0" tIns="0" rIns="0" bIns="0" rtlCol="0" anchor="t">
            <a:spAutoFit/>
          </a:bodyPr>
          <a:lstStyle/>
          <a:p>
            <a:pPr marL="0" lvl="0" indent="0" algn="ctr">
              <a:lnSpc>
                <a:spcPts val="4480"/>
              </a:lnSpc>
              <a:spcBef>
                <a:spcPct val="0"/>
              </a:spcBef>
            </a:pPr>
            <a:r>
              <a:rPr lang="en-US" sz="3200" b="1">
                <a:solidFill>
                  <a:srgbClr val="000000"/>
                </a:solidFill>
                <a:latin typeface="Muli Bold"/>
                <a:ea typeface="Muli Bold"/>
                <a:cs typeface="Muli Bold"/>
                <a:sym typeface="Muli Bold"/>
              </a:rPr>
              <a:t>Quản trị viên</a:t>
            </a:r>
          </a:p>
        </p:txBody>
      </p:sp>
      <p:sp>
        <p:nvSpPr>
          <p:cNvPr id="10" name="TextBox 10"/>
          <p:cNvSpPr txBox="1"/>
          <p:nvPr/>
        </p:nvSpPr>
        <p:spPr>
          <a:xfrm>
            <a:off x="445698" y="200025"/>
            <a:ext cx="13063250" cy="1209675"/>
          </a:xfrm>
          <a:prstGeom prst="rect">
            <a:avLst/>
          </a:prstGeom>
        </p:spPr>
        <p:txBody>
          <a:bodyPr lIns="0" tIns="0" rIns="0" bIns="0" rtlCol="0" anchor="t">
            <a:spAutoFit/>
          </a:bodyPr>
          <a:lstStyle/>
          <a:p>
            <a:pPr algn="ctr">
              <a:lnSpc>
                <a:spcPts val="4799"/>
              </a:lnSpc>
            </a:pPr>
            <a:r>
              <a:rPr lang="en-US" sz="3999" b="1">
                <a:solidFill>
                  <a:srgbClr val="000000"/>
                </a:solidFill>
                <a:latin typeface="Arial Bold"/>
                <a:ea typeface="Arial Bold"/>
                <a:cs typeface="Arial Bold"/>
                <a:sym typeface="Arial Bold"/>
              </a:rPr>
              <a:t>Đối tượng sử dụng và chức năng </a:t>
            </a:r>
          </a:p>
          <a:p>
            <a:pPr marL="0" lvl="0" indent="0" algn="ctr">
              <a:lnSpc>
                <a:spcPts val="4799"/>
              </a:lnSpc>
            </a:pPr>
            <a:r>
              <a:rPr lang="en-US" sz="3999" b="1">
                <a:solidFill>
                  <a:srgbClr val="000000"/>
                </a:solidFill>
                <a:latin typeface="Arial Bold"/>
                <a:ea typeface="Arial Bold"/>
                <a:cs typeface="Arial Bold"/>
                <a:sym typeface="Arial Bold"/>
              </a:rPr>
              <a:t>từng hệ thống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45310" y="1028700"/>
            <a:ext cx="12397380" cy="9258300"/>
          </a:xfrm>
          <a:custGeom>
            <a:avLst/>
            <a:gdLst/>
            <a:ahLst/>
            <a:cxnLst/>
            <a:rect l="l" t="t" r="r" b="b"/>
            <a:pathLst>
              <a:path w="12397380" h="9258300">
                <a:moveTo>
                  <a:pt x="0" y="0"/>
                </a:moveTo>
                <a:lnTo>
                  <a:pt x="12397380" y="0"/>
                </a:lnTo>
                <a:lnTo>
                  <a:pt x="12397380" y="9258300"/>
                </a:lnTo>
                <a:lnTo>
                  <a:pt x="0" y="9258300"/>
                </a:lnTo>
                <a:lnTo>
                  <a:pt x="0" y="0"/>
                </a:lnTo>
                <a:close/>
              </a:path>
            </a:pathLst>
          </a:custGeom>
          <a:blipFill>
            <a:blip r:embed="rId2"/>
            <a:stretch>
              <a:fillRect/>
            </a:stretch>
          </a:blipFill>
        </p:spPr>
      </p:sp>
      <p:sp>
        <p:nvSpPr>
          <p:cNvPr id="3" name="TextBox 3"/>
          <p:cNvSpPr txBox="1"/>
          <p:nvPr/>
        </p:nvSpPr>
        <p:spPr>
          <a:xfrm>
            <a:off x="6211967" y="38100"/>
            <a:ext cx="5864066" cy="723901"/>
          </a:xfrm>
          <a:prstGeom prst="rect">
            <a:avLst/>
          </a:prstGeom>
        </p:spPr>
        <p:txBody>
          <a:bodyPr lIns="0" tIns="0" rIns="0" bIns="0" rtlCol="0" anchor="t">
            <a:spAutoFit/>
          </a:bodyPr>
          <a:lstStyle/>
          <a:p>
            <a:r>
              <a:rPr lang="en-US" sz="3999" b="1">
                <a:solidFill>
                  <a:srgbClr val="000000"/>
                </a:solidFill>
                <a:latin typeface="Arial Bold"/>
                <a:ea typeface="Arial Bold"/>
                <a:cs typeface="Arial Bold"/>
                <a:sym typeface="Arial Bold"/>
              </a:rPr>
              <a:t>Sơ đồ kiến trúc hệ thống tổng thể</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95250" y="0"/>
            <a:ext cx="4779052" cy="10287000"/>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a:off x="-95250"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Freeform 6"/>
          <p:cNvSpPr/>
          <p:nvPr/>
        </p:nvSpPr>
        <p:spPr>
          <a:xfrm>
            <a:off x="799215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stretch>
              <a:fillRect/>
            </a:stretch>
          </a:blipFill>
        </p:spPr>
      </p:sp>
      <p:sp>
        <p:nvSpPr>
          <p:cNvPr id="7" name="TextBox 7"/>
          <p:cNvSpPr txBox="1"/>
          <p:nvPr/>
        </p:nvSpPr>
        <p:spPr>
          <a:xfrm>
            <a:off x="144224" y="3294246"/>
            <a:ext cx="7847933" cy="619125"/>
          </a:xfrm>
          <a:prstGeom prst="rect">
            <a:avLst/>
          </a:prstGeom>
        </p:spPr>
        <p:txBody>
          <a:bodyPr lIns="0" tIns="0" rIns="0" bIns="0" rtlCol="0" anchor="t">
            <a:spAutoFit/>
          </a:bodyPr>
          <a:lstStyle/>
          <a:p>
            <a:r>
              <a:rPr lang="en-US" sz="4000" b="1">
                <a:solidFill>
                  <a:srgbClr val="000000"/>
                </a:solidFill>
                <a:latin typeface="Muli Bold"/>
                <a:ea typeface="Muli Bold"/>
                <a:cs typeface="Muli Bold"/>
                <a:sym typeface="Muli Bold"/>
              </a:rPr>
              <a:t>Sơ đồ Use Case hệ thống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28700"/>
            <a:ext cx="16230600" cy="8115300"/>
          </a:xfrm>
          <a:custGeom>
            <a:avLst/>
            <a:gdLst/>
            <a:ahLst/>
            <a:cxnLst/>
            <a:rect l="l" t="t" r="r" b="b"/>
            <a:pathLst>
              <a:path w="16230600" h="8115300">
                <a:moveTo>
                  <a:pt x="0" y="0"/>
                </a:moveTo>
                <a:lnTo>
                  <a:pt x="16230600" y="0"/>
                </a:lnTo>
                <a:lnTo>
                  <a:pt x="16230600" y="8115300"/>
                </a:lnTo>
                <a:lnTo>
                  <a:pt x="0" y="8115300"/>
                </a:lnTo>
                <a:lnTo>
                  <a:pt x="0" y="0"/>
                </a:lnTo>
                <a:close/>
              </a:path>
            </a:pathLst>
          </a:custGeom>
          <a:blipFill>
            <a:blip r:embed="rId2"/>
            <a:stretch>
              <a:fillRect/>
            </a:stretch>
          </a:blipFill>
        </p:spPr>
      </p:sp>
      <p:sp>
        <p:nvSpPr>
          <p:cNvPr id="3" name="TextBox 3"/>
          <p:cNvSpPr txBox="1"/>
          <p:nvPr/>
        </p:nvSpPr>
        <p:spPr>
          <a:xfrm>
            <a:off x="6436935" y="38100"/>
            <a:ext cx="5414129" cy="723901"/>
          </a:xfrm>
          <a:prstGeom prst="rect">
            <a:avLst/>
          </a:prstGeom>
        </p:spPr>
        <p:txBody>
          <a:bodyPr lIns="0" tIns="0" rIns="0" bIns="0" rtlCol="0" anchor="t">
            <a:spAutoFit/>
          </a:bodyPr>
          <a:lstStyle/>
          <a:p>
            <a:r>
              <a:rPr lang="en-US" sz="3999" b="1">
                <a:solidFill>
                  <a:srgbClr val="000000"/>
                </a:solidFill>
                <a:latin typeface="Arial Bold"/>
                <a:ea typeface="Arial Bold"/>
                <a:cs typeface="Arial Bold"/>
                <a:sym typeface="Arial Bold"/>
              </a:rPr>
              <a:t>Sơ đồ cấu trúc cơ sở dữ liệu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111243" y="-9525"/>
            <a:ext cx="13502929" cy="723901"/>
          </a:xfrm>
          <a:prstGeom prst="rect">
            <a:avLst/>
          </a:prstGeom>
        </p:spPr>
        <p:txBody>
          <a:bodyPr lIns="0" tIns="0" rIns="0" bIns="0" rtlCol="0" anchor="t">
            <a:spAutoFit/>
          </a:bodyPr>
          <a:lstStyle/>
          <a:p>
            <a:r>
              <a:rPr lang="en-US" sz="3999" b="1" u="none" strike="noStrike">
                <a:solidFill>
                  <a:srgbClr val="000000"/>
                </a:solidFill>
                <a:latin typeface="Arial Bold"/>
                <a:ea typeface="Arial Bold"/>
                <a:cs typeface="Arial Bold"/>
                <a:sym typeface="Arial Bold"/>
              </a:rPr>
              <a:t>Kết quả đạt được</a:t>
            </a:r>
          </a:p>
        </p:txBody>
      </p:sp>
      <p:sp>
        <p:nvSpPr>
          <p:cNvPr id="3" name="TextBox 3"/>
          <p:cNvSpPr txBox="1"/>
          <p:nvPr/>
        </p:nvSpPr>
        <p:spPr>
          <a:xfrm>
            <a:off x="744396" y="1085850"/>
            <a:ext cx="17543604" cy="8562975"/>
          </a:xfrm>
          <a:prstGeom prst="rect">
            <a:avLst/>
          </a:prstGeom>
        </p:spPr>
        <p:txBody>
          <a:bodyPr lIns="0" tIns="0" rIns="0" bIns="0" rtlCol="0" anchor="t">
            <a:spAutoFit/>
          </a:bodyPr>
          <a:lstStyle/>
          <a:p>
            <a:pPr>
              <a:buChar char="•"/>
            </a:pPr>
            <a:r>
              <a:rPr lang="en-US" sz="3000" dirty="0" err="1">
                <a:solidFill>
                  <a:srgbClr val="000000"/>
                </a:solidFill>
                <a:latin typeface="Arial"/>
                <a:ea typeface="Arial"/>
                <a:cs typeface="Arial"/>
                <a:sym typeface="Arial"/>
              </a:rPr>
              <a:t>Kỹ thuật: App đa nền tảng chạy ổn định (Expo SDK 54), hỗ trợ sáng/tối.</a:t>
            </a:r>
          </a:p>
          <a:p>
            <a:pPr>
              <a:buChar char="•"/>
            </a:pPr>
            <a:r>
              <a:rPr lang="en-US" sz="3000" dirty="0" err="1">
                <a:solidFill>
                  <a:srgbClr val="000000"/>
                </a:solidFill>
                <a:latin typeface="Arial"/>
                <a:ea typeface="Arial"/>
                <a:cs typeface="Arial"/>
                <a:sym typeface="Arial"/>
              </a:rPr>
              <a:t>Dữ liệu: Số hóa di sản Khmer lên Firestore, bản đồ Leaflet, đếm ngược lễ hội.</a:t>
            </a:r>
          </a:p>
          <a:p>
            <a:pPr>
              <a:buChar char="•"/>
            </a:pPr>
            <a:r>
              <a:rPr lang="en-US" sz="3000" dirty="0" err="1">
                <a:solidFill>
                  <a:srgbClr val="000000"/>
                </a:solidFill>
                <a:latin typeface="Arial"/>
                <a:ea typeface="Arial"/>
                <a:cs typeface="Arial"/>
                <a:sym typeface="Arial"/>
              </a:rPr>
              <a:t>Sản phẩm: Hoàn thiện mã nguồn (Repository Pattern), build thành công APK.</a:t>
            </a:r>
          </a:p>
        </p:txBody>
      </p:sp>
      <p:grpSp>
        <p:nvGrpSpPr>
          <p:cNvPr id="4" name="Group 4"/>
          <p:cNvGrpSpPr/>
          <p:nvPr/>
        </p:nvGrpSpPr>
        <p:grpSpPr>
          <a:xfrm>
            <a:off x="-1673828" y="0"/>
            <a:ext cx="3347655" cy="3608571"/>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B57F4"/>
            </a:solidFill>
          </p:spPr>
        </p:sp>
      </p:grpSp>
      <p:grpSp>
        <p:nvGrpSpPr>
          <p:cNvPr id="6" name="Group 6"/>
          <p:cNvGrpSpPr/>
          <p:nvPr/>
        </p:nvGrpSpPr>
        <p:grpSpPr>
          <a:xfrm rot="-10800000">
            <a:off x="16614172" y="6678429"/>
            <a:ext cx="3347655" cy="3608571"/>
            <a:chOff x="0" y="0"/>
            <a:chExt cx="1204093" cy="1297940"/>
          </a:xfrm>
        </p:grpSpPr>
        <p:sp>
          <p:nvSpPr>
            <p:cNvPr id="7" name="Freeform 7"/>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6258401" y="0"/>
            <a:ext cx="2067430" cy="4450182"/>
            <a:chOff x="0" y="0"/>
            <a:chExt cx="5355113" cy="11526982"/>
          </a:xfrm>
        </p:grpSpPr>
        <p:sp>
          <p:nvSpPr>
            <p:cNvPr id="3" name="Freeform 3"/>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4" name="Group 4"/>
          <p:cNvGrpSpPr/>
          <p:nvPr/>
        </p:nvGrpSpPr>
        <p:grpSpPr>
          <a:xfrm rot="-10800000">
            <a:off x="13631224" y="2877572"/>
            <a:ext cx="7942901" cy="8561970"/>
            <a:chOff x="0" y="0"/>
            <a:chExt cx="1204093" cy="1297940"/>
          </a:xfrm>
        </p:grpSpPr>
        <p:sp>
          <p:nvSpPr>
            <p:cNvPr id="5" name="Freeform 5"/>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
        <p:nvSpPr>
          <p:cNvPr id="6" name="TextBox 6"/>
          <p:cNvSpPr txBox="1"/>
          <p:nvPr/>
        </p:nvSpPr>
        <p:spPr>
          <a:xfrm>
            <a:off x="668655" y="107907"/>
            <a:ext cx="13502929" cy="769441"/>
          </a:xfrm>
          <a:prstGeom prst="rect">
            <a:avLst/>
          </a:prstGeom>
        </p:spPr>
        <p:txBody>
          <a:bodyPr lIns="0" tIns="0" rIns="0" bIns="0" rtlCol="0" anchor="t">
            <a:spAutoFit/>
          </a:bodyPr>
          <a:lstStyle/>
          <a:p>
            <a:r>
              <a:rPr lang="en-US" sz="3999" b="1" u="none" strike="noStrike" smtClean="0">
                <a:solidFill>
                  <a:srgbClr val="000000"/>
                </a:solidFill>
                <a:latin typeface="Arial Bold"/>
                <a:ea typeface="Arial Bold"/>
                <a:cs typeface="Arial Bold"/>
                <a:sym typeface="Arial Bold"/>
              </a:rPr>
              <a:t>Đánh giá hệ thống</a:t>
            </a:r>
          </a:p>
        </p:txBody>
      </p:sp>
      <p:sp>
        <p:nvSpPr>
          <p:cNvPr id="7" name="TextBox 7"/>
          <p:cNvSpPr txBox="1"/>
          <p:nvPr/>
        </p:nvSpPr>
        <p:spPr>
          <a:xfrm>
            <a:off x="480763" y="923925"/>
            <a:ext cx="15777638" cy="1674497"/>
          </a:xfrm>
          <a:prstGeom prst="rect">
            <a:avLst/>
          </a:prstGeom>
        </p:spPr>
        <p:txBody>
          <a:bodyPr lIns="0" tIns="0" rIns="0" bIns="0" rtlCol="0" anchor="t">
            <a:spAutoFit/>
          </a:bodyPr>
          <a:lstStyle/>
          <a:p>
            <a:pPr>
              <a:buChar char="•"/>
            </a:pPr>
            <a:r>
              <a:rPr lang="vi-VN" sz="3000" smtClean="0">
                <a:solidFill>
                  <a:srgbClr val="000000"/>
                </a:solidFill>
                <a:latin typeface="Arial"/>
                <a:ea typeface="Arial"/>
                <a:cs typeface="Arial"/>
                <a:sym typeface="Arial"/>
              </a:rPr>
              <a:t>Ưu điểm: Hiệu năng mượt mà, định vị chính xác, đồng bộ Firebase, 3 ngôn ngữ.</a:t>
            </a:r>
          </a:p>
          <a:p>
            <a:pPr>
              <a:buChar char="•"/>
            </a:pPr>
            <a:r>
              <a:rPr lang="vi-VN" sz="3000" smtClean="0">
                <a:solidFill>
                  <a:srgbClr val="000000"/>
                </a:solidFill>
                <a:latin typeface="Arial"/>
                <a:ea typeface="Arial"/>
                <a:cs typeface="Arial"/>
                <a:sym typeface="Arial"/>
              </a:rPr>
              <a:t>Hạn chế: Yêu cầu Internet, dữ liệu mẫu ban đầu còn giới hạn.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6415516" y="139230"/>
            <a:ext cx="9447941" cy="723901"/>
          </a:xfrm>
          <a:prstGeom prst="rect">
            <a:avLst/>
          </a:prstGeom>
        </p:spPr>
        <p:txBody>
          <a:bodyPr lIns="0" tIns="0" rIns="0" bIns="0" rtlCol="0" anchor="t">
            <a:spAutoFit/>
          </a:bodyPr>
          <a:lstStyle/>
          <a:p>
            <a:r>
              <a:rPr lang="en-US" sz="3999" b="1" u="none" strike="noStrike">
                <a:solidFill>
                  <a:srgbClr val="000000"/>
                </a:solidFill>
                <a:latin typeface="Arial Bold"/>
                <a:ea typeface="Arial Bold"/>
                <a:cs typeface="Arial Bold"/>
                <a:sym typeface="Arial Bold"/>
              </a:rPr>
              <a:t>Hướng phát triển đề tài</a:t>
            </a:r>
          </a:p>
        </p:txBody>
      </p:sp>
      <p:sp>
        <p:nvSpPr>
          <p:cNvPr id="3" name="TextBox 3"/>
          <p:cNvSpPr txBox="1"/>
          <p:nvPr/>
        </p:nvSpPr>
        <p:spPr>
          <a:xfrm>
            <a:off x="3252405" y="1499340"/>
            <a:ext cx="14585884" cy="6848475"/>
          </a:xfrm>
          <a:prstGeom prst="rect">
            <a:avLst/>
          </a:prstGeom>
        </p:spPr>
        <p:txBody>
          <a:bodyPr lIns="0" tIns="0" rIns="0" bIns="0" rtlCol="0" anchor="t">
            <a:spAutoFit/>
          </a:bodyPr>
          <a:lstStyle/>
          <a:p>
            <a:pPr>
              <a:buChar char="•"/>
            </a:pPr>
            <a:r>
              <a:rPr lang="en-US" sz="3000">
                <a:solidFill>
                  <a:srgbClr val="000000"/>
                </a:solidFill>
                <a:latin typeface="Arial"/>
                <a:ea typeface="Arial"/>
                <a:cs typeface="Arial"/>
                <a:sym typeface="Arial"/>
              </a:rPr>
              <a:t>AR/VR: Tương tác mô hình 3D chùa cổ.</a:t>
            </a:r>
          </a:p>
          <a:p>
            <a:pPr>
              <a:buChar char="•"/>
            </a:pPr>
            <a:r>
              <a:rPr lang="en-US" sz="3000">
                <a:solidFill>
                  <a:srgbClr val="000000"/>
                </a:solidFill>
                <a:latin typeface="Arial"/>
                <a:ea typeface="Arial"/>
                <a:cs typeface="Arial"/>
                <a:sym typeface="Arial"/>
              </a:rPr>
              <a:t>Audio Guide: Thuyết minh giọng nói đa ngôn ngữ tại điểm.</a:t>
            </a:r>
          </a:p>
          <a:p>
            <a:pPr>
              <a:buChar char="•"/>
            </a:pPr>
            <a:r>
              <a:rPr lang="en-US" sz="3000">
                <a:solidFill>
                  <a:srgbClr val="000000"/>
                </a:solidFill>
                <a:latin typeface="Arial"/>
                <a:ea typeface="Arial"/>
                <a:cs typeface="Arial"/>
                <a:sym typeface="Arial"/>
              </a:rPr>
              <a:t>AI: Phân tích hành vi, đề xuất hành trình cá nhân hóa.</a:t>
            </a:r>
          </a:p>
          <a:p>
            <a:pPr>
              <a:buChar char="•"/>
            </a:pPr>
            <a:r>
              <a:rPr lang="en-US" sz="3000">
                <a:solidFill>
                  <a:srgbClr val="000000"/>
                </a:solidFill>
                <a:latin typeface="Arial"/>
                <a:ea typeface="Arial"/>
                <a:cs typeface="Arial"/>
                <a:sym typeface="Arial"/>
              </a:rPr>
              <a:t>Liên kết: Hợp tác du lịch quảng bá tour Khmer Nam Bộ.</a:t>
            </a:r>
          </a:p>
        </p:txBody>
      </p:sp>
      <p:grpSp>
        <p:nvGrpSpPr>
          <p:cNvPr id="4" name="Group 4"/>
          <p:cNvGrpSpPr/>
          <p:nvPr/>
        </p:nvGrpSpPr>
        <p:grpSpPr>
          <a:xfrm>
            <a:off x="-95250" y="0"/>
            <a:ext cx="4779052" cy="10287000"/>
            <a:chOff x="0" y="0"/>
            <a:chExt cx="5355113" cy="11526982"/>
          </a:xfrm>
        </p:grpSpPr>
        <p:sp>
          <p:nvSpPr>
            <p:cNvPr id="5" name="Freeform 5"/>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6" name="Group 6"/>
          <p:cNvGrpSpPr/>
          <p:nvPr/>
        </p:nvGrpSpPr>
        <p:grpSpPr>
          <a:xfrm>
            <a:off x="-95250" y="0"/>
            <a:ext cx="3347655" cy="3608571"/>
            <a:chOff x="0" y="0"/>
            <a:chExt cx="1204093" cy="1297940"/>
          </a:xfrm>
        </p:grpSpPr>
        <p:sp>
          <p:nvSpPr>
            <p:cNvPr id="7" name="Freeform 7"/>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6551303" y="4051184"/>
            <a:ext cx="3947130" cy="1466850"/>
          </a:xfrm>
          <a:prstGeom prst="rect">
            <a:avLst/>
          </a:prstGeom>
        </p:spPr>
        <p:txBody>
          <a:bodyPr lIns="0" tIns="0" rIns="0" bIns="0" rtlCol="0" anchor="t">
            <a:spAutoFit/>
          </a:bodyPr>
          <a:lstStyle/>
          <a:p>
            <a:r>
              <a:rPr lang="en-US" sz="9600" b="1">
                <a:solidFill>
                  <a:srgbClr val="000000"/>
                </a:solidFill>
                <a:latin typeface="Muli Bold"/>
                <a:ea typeface="Muli Bold"/>
                <a:cs typeface="Muli Bold"/>
                <a:sym typeface="Muli Bold"/>
              </a:rPr>
              <a:t>DEMO ỨNG DỤNG &amp; HỎI ĐÁP (Q&amp;A)</a:t>
            </a:r>
          </a:p>
        </p:txBody>
      </p:sp>
      <p:grpSp>
        <p:nvGrpSpPr>
          <p:cNvPr id="3" name="Group 3"/>
          <p:cNvGrpSpPr/>
          <p:nvPr/>
        </p:nvGrpSpPr>
        <p:grpSpPr>
          <a:xfrm rot="-10800000">
            <a:off x="14951210" y="0"/>
            <a:ext cx="3340653" cy="3335307"/>
            <a:chOff x="0" y="0"/>
            <a:chExt cx="6350000" cy="6339840"/>
          </a:xfrm>
        </p:grpSpPr>
        <p:sp>
          <p:nvSpPr>
            <p:cNvPr id="4" name="Freeform 4"/>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p:spPr>
        </p:sp>
      </p:grpSp>
      <p:grpSp>
        <p:nvGrpSpPr>
          <p:cNvPr id="5" name="Group 5"/>
          <p:cNvGrpSpPr/>
          <p:nvPr/>
        </p:nvGrpSpPr>
        <p:grpSpPr>
          <a:xfrm rot="-10800000">
            <a:off x="16258401" y="0"/>
            <a:ext cx="2067430" cy="4450182"/>
            <a:chOff x="0" y="0"/>
            <a:chExt cx="5355113" cy="11526982"/>
          </a:xfrm>
        </p:grpSpPr>
        <p:sp>
          <p:nvSpPr>
            <p:cNvPr id="6" name="Freeform 6"/>
            <p:cNvSpPr/>
            <p:nvPr/>
          </p:nvSpPr>
          <p:spPr>
            <a:xfrm>
              <a:off x="0" y="0"/>
              <a:ext cx="5355113" cy="11526982"/>
            </a:xfrm>
            <a:custGeom>
              <a:avLst/>
              <a:gdLst/>
              <a:ahLst/>
              <a:cxnLst/>
              <a:rect l="l" t="t" r="r" b="b"/>
              <a:pathLst>
                <a:path w="5355113" h="11526982">
                  <a:moveTo>
                    <a:pt x="5355113" y="11526982"/>
                  </a:moveTo>
                  <a:lnTo>
                    <a:pt x="0" y="11526982"/>
                  </a:lnTo>
                  <a:lnTo>
                    <a:pt x="0" y="0"/>
                  </a:lnTo>
                  <a:lnTo>
                    <a:pt x="5355113" y="11526982"/>
                  </a:lnTo>
                  <a:close/>
                </a:path>
              </a:pathLst>
            </a:custGeom>
            <a:solidFill>
              <a:srgbClr val="3B57F4"/>
            </a:solidFill>
          </p:spPr>
        </p:sp>
      </p:grpSp>
      <p:grpSp>
        <p:nvGrpSpPr>
          <p:cNvPr id="7" name="Group 7"/>
          <p:cNvGrpSpPr/>
          <p:nvPr/>
        </p:nvGrpSpPr>
        <p:grpSpPr>
          <a:xfrm rot="-10800000">
            <a:off x="13688374" y="2915672"/>
            <a:ext cx="7942901" cy="8561970"/>
            <a:chOff x="0" y="0"/>
            <a:chExt cx="1204093" cy="1297940"/>
          </a:xfrm>
        </p:grpSpPr>
        <p:sp>
          <p:nvSpPr>
            <p:cNvPr id="8" name="Freeform 8"/>
            <p:cNvSpPr/>
            <p:nvPr/>
          </p:nvSpPr>
          <p:spPr>
            <a:xfrm>
              <a:off x="0" y="0"/>
              <a:ext cx="1204093" cy="1297940"/>
            </a:xfrm>
            <a:custGeom>
              <a:avLst/>
              <a:gdLst/>
              <a:ahLst/>
              <a:cxnLst/>
              <a:rect l="l" t="t" r="r" b="b"/>
              <a:pathLst>
                <a:path w="1204093" h="1297940">
                  <a:moveTo>
                    <a:pt x="0" y="0"/>
                  </a:moveTo>
                  <a:lnTo>
                    <a:pt x="602047" y="1297940"/>
                  </a:lnTo>
                  <a:lnTo>
                    <a:pt x="1204093" y="0"/>
                  </a:lnTo>
                  <a:close/>
                </a:path>
              </a:pathLst>
            </a:custGeom>
            <a:solidFill>
              <a:srgbClr val="311476"/>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1636</Words>
  <Application>Microsoft Office PowerPoint</Application>
  <PresentationFormat>Custom</PresentationFormat>
  <Paragraphs>97</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Muli</vt:lpstr>
      <vt:lpstr>Muli Bold</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KỸ THUẬT VÀ CÔNG NGHỆ KHOA CÔNG NGHỆ THÔNG TIN</dc:title>
  <dc:creator>HP</dc:creator>
  <cp:lastModifiedBy>HP</cp:lastModifiedBy>
  <cp:revision>41</cp:revision>
  <dcterms:created xsi:type="dcterms:W3CDTF">2006-08-16T00:00:00Z</dcterms:created>
  <dcterms:modified xsi:type="dcterms:W3CDTF">2026-07-05T12:33:06Z</dcterms:modified>
  <dc:identifier>DAHOUUhcuz0</dc:identifier>
</cp:coreProperties>
</file>