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Calibri" pitchFamily="34" charset="0"/>
      <p:regular r:id="rId17"/>
      <p:bold r:id="rId18"/>
      <p:italic r:id="rId19"/>
      <p:boldItalic r:id="rId20"/>
    </p:embeddedFont>
    <p:embeddedFont>
      <p:font typeface="Muli" charset="0"/>
      <p:regular r:id="rId21"/>
    </p:embeddedFont>
    <p:embeddedFont>
      <p:font typeface="Muli Bold" charset="0"/>
      <p:regular r:id="rId22"/>
    </p:embeddedFont>
    <p:embeddedFont>
      <p:font typeface="Arial Bold" pitchFamily="34" charset="0"/>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59486" autoAdjust="0"/>
  </p:normalViewPr>
  <p:slideViewPr>
    <p:cSldViewPr>
      <p:cViewPr varScale="1">
        <p:scale>
          <a:sx n="33" d="100"/>
          <a:sy n="33" d="100"/>
        </p:scale>
        <p:origin x="-1906"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33FC2B-F18A-471B-BF41-C00956751C47}" type="datetimeFigureOut">
              <a:rPr lang="vi-VN" smtClean="0"/>
              <a:t>05/07/2026</a:t>
            </a:fld>
            <a:endParaRPr lang="vi-V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A7FF6B-278C-4E24-A25A-E2CC47A39139}" type="slidenum">
              <a:rPr lang="vi-VN" smtClean="0"/>
              <a:t>‹#›</a:t>
            </a:fld>
            <a:endParaRPr lang="vi-VN"/>
          </a:p>
        </p:txBody>
      </p:sp>
    </p:spTree>
    <p:extLst>
      <p:ext uri="{BB962C8B-B14F-4D97-AF65-F5344CB8AC3E}">
        <p14:creationId xmlns:p14="http://schemas.microsoft.com/office/powerpoint/2010/main" val="24496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 Lời thoại thuyết trình:</a:t>
            </a:r>
          </a:p>
          <a:p>
            <a:r>
              <a:rPr lang="en-US" smtClean="0"/>
              <a:t>"Kính thưa Hội đồng, khu vực Nam Bộ sở hữu một kho tàng di sản văn hóa Khmer cực kỳ độc đáo và đa dạng, từ chùa chiền cổ kính đến các lễ hội truyền thống lớn. Tuy nhiên, các phương pháp quảng bá cũ như sách báo, tờ rơi hiện tại có phạm vi tiếp cận rất hẹp, thông tin phân tán và chưa thu hút được du khách trẻ. Để giải quyết nguy cơ mai một bản sắc văn hóa dân tộc trong làn sóng số hóa, em quyết định phát triển một ứng dụng di động đa nền tảng hiện đại giúp số hóa dữ liệu và giới thiệu di sản một cách sinh động, trực quan."</a:t>
            </a:r>
          </a:p>
        </p:txBody>
      </p:sp>
      <p:sp>
        <p:nvSpPr>
          <p:cNvPr id="4" name="Slide Number Placeholder 3"/>
          <p:cNvSpPr>
            <a:spLocks noGrp="1"/>
          </p:cNvSpPr>
          <p:nvPr>
            <p:ph type="sldNum" sz="quarter" idx="10"/>
          </p:nvPr>
        </p:nvSpPr>
        <p:spPr/>
        <p:txBody>
          <a:bodyPr/>
          <a:lstStyle/>
          <a:p>
            <a:fld id="{7FA7FF6B-278C-4E24-A25A-E2CC47A39139}" type="slidenum">
              <a:rPr lang="vi-VN" smtClean="0"/>
              <a:t>2</a:t>
            </a:fld>
            <a:endParaRPr lang="vi-VN"/>
          </a:p>
        </p:txBody>
      </p:sp>
    </p:spTree>
    <p:extLst>
      <p:ext uri="{BB962C8B-B14F-4D97-AF65-F5344CB8AC3E}">
        <p14:creationId xmlns:p14="http://schemas.microsoft.com/office/powerpoint/2010/main" val="1387750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Lời thoại thuyết trình:</a:t>
            </a:r>
          </a:p>
          <a:p>
            <a:r>
              <a:rPr lang="vi-VN" dirty="0"/>
              <a:t>"Mục tiêu nghiên cứu của đề tài gồm bốn phần lớn: Một là số hóa dữ liệu di sản vật thể và phi vật thể Khmer thành cơ sở dữ liệu số khoa học. Hai là xây dựng ứng dụng di động đa nền tảng chạy mượt mà trên Android và iOS với thiết kế giao diện mang đậm văn hóa Khmer. Ba là tích hợp các tiện ích thực tế như chuyển đổi song ngữ Việt - Khmer - Anh, bản đồ Leaflet định vị chùa và lịch đếm ngược lễ hội. Bốn là xây dựng bảng Admin điều hành dữ liệu và kiểm duyệt bài viết từ các thành viên đóng góp."</a:t>
            </a:r>
          </a:p>
        </p:txBody>
      </p:sp>
      <p:sp>
        <p:nvSpPr>
          <p:cNvPr id="4" name="Slide Number Placeholder 3"/>
          <p:cNvSpPr>
            <a:spLocks noGrp="1"/>
          </p:cNvSpPr>
          <p:nvPr>
            <p:ph type="sldNum" sz="quarter" idx="10"/>
          </p:nvPr>
        </p:nvSpPr>
        <p:spPr/>
        <p:txBody>
          <a:bodyPr/>
          <a:lstStyle/>
          <a:p>
            <a:fld id="{B6F15528-F159-4107-801B-301E9E2E1C3A}" type="slidenum">
              <a:rPr lang="vi-VN" smtClean="0"/>
              <a:t>3</a:t>
            </a:fld>
            <a:endParaRPr lang="vi-V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Lời thoại thuyết trình:</a:t>
            </a:r>
          </a:p>
          <a:p>
            <a:r>
              <a:rPr lang="vi-VN" dirty="0"/>
              <a:t>"Về đối tượng nghiên cứu, đề tài tập trung vào di sản vật thể là các kiến trúc chùa cổ và di sản phi vật thể gồm các lễ hội truyền thống, các loại hình nghệ thuật dân gian. Về phạm vi địa lý, đề tài nghiên cứu trên toàn khu vực Nam Bộ, bao gồm cả Đông Nam Bộ và Tây Nam Bộ, trọng tâm tại các địa phương có đông đồng bào Khmer sinh sống hoặc lưu trữ di tích như Trà Vinh, Sóc Trăng, An Giang, Bạc Liêu, Kiên Giang và TP. Hồ Chí Minh. Đối tượng thụ hưởng hướng đến du khách, các nhà nghiên cứu và chính đồng bào Khmer."</a:t>
            </a:r>
          </a:p>
        </p:txBody>
      </p:sp>
      <p:sp>
        <p:nvSpPr>
          <p:cNvPr id="4" name="Slide Number Placeholder 3"/>
          <p:cNvSpPr>
            <a:spLocks noGrp="1"/>
          </p:cNvSpPr>
          <p:nvPr>
            <p:ph type="sldNum" sz="quarter" idx="10"/>
          </p:nvPr>
        </p:nvSpPr>
        <p:spPr/>
        <p:txBody>
          <a:bodyPr/>
          <a:lstStyle/>
          <a:p>
            <a:fld id="{B6F15528-F159-4107-801B-301E9E2E1C3A}" type="slidenum">
              <a:rPr lang="vi-VN" smtClean="0"/>
              <a:t>4</a:t>
            </a:fld>
            <a:endParaRPr lang="vi-V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Lời thoại thuyết trình:</a:t>
            </a:r>
          </a:p>
          <a:p>
            <a:r>
              <a:rPr lang="vi-VN" dirty="0"/>
              <a:t>"Về phương pháp nghiên cứu, đề tài kết hợp giữa lý thuyết và thực nghiệm. Đầu tiên, em tiến hành nghiên cứu văn hóa, thu thập thông tin và tọa độ định vị GPS của các chùa Khmer. Về công nghệ, em nghiên cứu lập trình React Native kết hợp database NoSQL Firestore. Dựa trên phân tích đó, em đã thiết kế sơ đồ Use Case, sơ đồ luồng hoạt động duyệt bài, sơ đồ điều hướng tệp tin và sơ đồ cơ sở dữ liệu. Cuối cùng, em tiến hành lập trình ứng dụng thực tế theo mô hình Agile, tích hợp bản đồ Leaflet và CDN lưu ảnh Cloudinary."</a:t>
            </a:r>
          </a:p>
        </p:txBody>
      </p:sp>
      <p:sp>
        <p:nvSpPr>
          <p:cNvPr id="4" name="Slide Number Placeholder 3"/>
          <p:cNvSpPr>
            <a:spLocks noGrp="1"/>
          </p:cNvSpPr>
          <p:nvPr>
            <p:ph type="sldNum" sz="quarter" idx="10"/>
          </p:nvPr>
        </p:nvSpPr>
        <p:spPr/>
        <p:txBody>
          <a:bodyPr/>
          <a:lstStyle/>
          <a:p>
            <a:fld id="{B6F15528-F159-4107-801B-301E9E2E1C3A}" type="slidenum">
              <a:rPr lang="vi-VN" smtClean="0"/>
              <a:t>5</a:t>
            </a:fld>
            <a:endParaRPr lang="vi-V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 Lời thoại thuyết trình:</a:t>
            </a:r>
          </a:p>
          <a:p>
            <a:r>
              <a:rPr lang="vi-VN" smtClean="0"/>
              <a:t>"Để trình bày mạch lạc, em chia 8 công nghệ cốt lõi của đồ án thành 4 nhóm chính. Nhóm thứ nhất là Nền tảng &amp; Giao diện gồm Expo, React Native và Tailwind CSS giúp phát triển ứng dụng di động đa nền tảng mượt mà. Nhóm thứ hai là Ngôn ngữ lập trình gồm TypeScript và JavaScript làm lõi vận hành ứng dụng. Nhóm thứ ba là Dịch vụ đám mây gồm Firebase quản lý dữ liệu thời gian thực/đăng nhập và Cloudinary tối ưu hóa hình ảnh tải lên. Nhóm cuối cùng là Bản đồ số Leaflet phục vụ việc kết xuất bản đồ và dẫn đường định vị di sản."</a:t>
            </a:r>
          </a:p>
        </p:txBody>
      </p:sp>
      <p:sp>
        <p:nvSpPr>
          <p:cNvPr id="4" name="Slide Number Placeholder 3"/>
          <p:cNvSpPr>
            <a:spLocks noGrp="1"/>
          </p:cNvSpPr>
          <p:nvPr>
            <p:ph type="sldNum" sz="quarter" idx="10"/>
          </p:nvPr>
        </p:nvSpPr>
        <p:spPr/>
        <p:txBody>
          <a:bodyPr/>
          <a:lstStyle/>
          <a:p>
            <a:fld id="{7FA7FF6B-278C-4E24-A25A-E2CC47A39139}" type="slidenum">
              <a:rPr lang="vi-VN" smtClean="0"/>
              <a:t>6</a:t>
            </a:fld>
            <a:endParaRPr lang="vi-VN"/>
          </a:p>
        </p:txBody>
      </p:sp>
    </p:spTree>
    <p:extLst>
      <p:ext uri="{BB962C8B-B14F-4D97-AF65-F5344CB8AC3E}">
        <p14:creationId xmlns:p14="http://schemas.microsoft.com/office/powerpoint/2010/main" val="620619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 Lời thoại thuyết trình:</a:t>
            </a:r>
          </a:p>
          <a:p>
            <a:r>
              <a:rPr lang="vi-VN" dirty="0" smtClean="0"/>
              <a:t>"Hệ thống được thiết kế tối ưu hóa chức năng dựa trên 3 đối tượng sử dụng chính. Đối tượng thứ nhất là Khách vãng lai, phục vụ nhu cầu đọc tin tức, tra cứu di sản, xem lịch lễ hội và bản đồ chỉ đường. Đối tượng thứ hai là Thành viên đã đăng nhập, được bổ sung các tính năng tương tác hai chiều như yêu thích, bình luận và đặc biệt là gửi bài đóng góp giới thiệu di sản mới cho hệ thống. Đối tượng thứ ba là phân hệ Quản trị dành cho Admin và Staff, cung cấp trang Dashboard điều hành để quản lý cơ sở dữ liệu, kiểm duyệt bài viết thành viên đóng góp và cấu hình phân quyền người dùng."</a:t>
            </a:r>
          </a:p>
        </p:txBody>
      </p:sp>
      <p:sp>
        <p:nvSpPr>
          <p:cNvPr id="4" name="Slide Number Placeholder 3"/>
          <p:cNvSpPr>
            <a:spLocks noGrp="1"/>
          </p:cNvSpPr>
          <p:nvPr>
            <p:ph type="sldNum" sz="quarter" idx="10"/>
          </p:nvPr>
        </p:nvSpPr>
        <p:spPr/>
        <p:txBody>
          <a:bodyPr/>
          <a:lstStyle/>
          <a:p>
            <a:fld id="{7FA7FF6B-278C-4E24-A25A-E2CC47A39139}" type="slidenum">
              <a:rPr lang="vi-VN" smtClean="0"/>
              <a:t>7</a:t>
            </a:fld>
            <a:endParaRPr lang="vi-VN"/>
          </a:p>
        </p:txBody>
      </p:sp>
    </p:spTree>
    <p:extLst>
      <p:ext uri="{BB962C8B-B14F-4D97-AF65-F5344CB8AC3E}">
        <p14:creationId xmlns:p14="http://schemas.microsoft.com/office/powerpoint/2010/main" val="225377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latin typeface="+mj-lt"/>
                <a:cs typeface="Arial Bold" pitchFamily="34" charset="0"/>
              </a:rPr>
              <a:t>"Đây là sơ đồ kiến trúc tổng thể của hệ thống, gồm hai phần chính là </a:t>
            </a:r>
            <a:r>
              <a:rPr lang="vi-VN" b="1" dirty="0" smtClean="0">
                <a:latin typeface="+mj-lt"/>
                <a:cs typeface="Arial Bold" pitchFamily="34" charset="0"/>
              </a:rPr>
              <a:t>Client Side</a:t>
            </a:r>
            <a:r>
              <a:rPr lang="vi-VN" dirty="0" smtClean="0">
                <a:latin typeface="+mj-lt"/>
                <a:cs typeface="Arial Bold" pitchFamily="34" charset="0"/>
              </a:rPr>
              <a:t> ở bên trái và </a:t>
            </a:r>
            <a:r>
              <a:rPr lang="vi-VN" b="1" dirty="0" smtClean="0">
                <a:latin typeface="+mj-lt"/>
                <a:cs typeface="Arial Bold" pitchFamily="34" charset="0"/>
              </a:rPr>
              <a:t>Cloud Backend</a:t>
            </a:r>
            <a:r>
              <a:rPr lang="vi-VN" dirty="0" smtClean="0">
                <a:latin typeface="+mj-lt"/>
                <a:cs typeface="Arial Bold" pitchFamily="34" charset="0"/>
              </a:rPr>
              <a:t> ở bên phải.</a:t>
            </a:r>
          </a:p>
          <a:p>
            <a:r>
              <a:rPr lang="vi-VN" dirty="0" smtClean="0">
                <a:latin typeface="+mj-lt"/>
                <a:cs typeface="Arial Bold" pitchFamily="34" charset="0"/>
              </a:rPr>
              <a:t>Ở phía </a:t>
            </a:r>
            <a:r>
              <a:rPr lang="vi-VN" b="1" dirty="0" smtClean="0">
                <a:latin typeface="+mj-lt"/>
                <a:cs typeface="Arial Bold" pitchFamily="34" charset="0"/>
              </a:rPr>
              <a:t>Client Side</a:t>
            </a:r>
            <a:r>
              <a:rPr lang="vi-VN" dirty="0" smtClean="0">
                <a:latin typeface="+mj-lt"/>
                <a:cs typeface="Arial Bold" pitchFamily="34" charset="0"/>
              </a:rPr>
              <a:t>, ứng dụng được xây dựng bằng React Native và được chia thành ba tầng chính.</a:t>
            </a:r>
          </a:p>
          <a:p>
            <a:r>
              <a:rPr lang="vi-VN" b="1" dirty="0" smtClean="0">
                <a:latin typeface="+mj-lt"/>
                <a:cs typeface="Arial Bold" pitchFamily="34" charset="0"/>
              </a:rPr>
              <a:t>Thứ nhất là UI Layer.</a:t>
            </a:r>
            <a:r>
              <a:rPr lang="vi-VN" dirty="0" smtClean="0">
                <a:latin typeface="+mj-lt"/>
                <a:cs typeface="Arial Bold" pitchFamily="34" charset="0"/>
              </a:rPr>
              <a:t/>
            </a:r>
            <a:br>
              <a:rPr lang="vi-VN" dirty="0" smtClean="0">
                <a:latin typeface="+mj-lt"/>
                <a:cs typeface="Arial Bold" pitchFamily="34" charset="0"/>
              </a:rPr>
            </a:br>
            <a:r>
              <a:rPr lang="vi-VN" dirty="0" smtClean="0">
                <a:latin typeface="+mj-lt"/>
                <a:cs typeface="Arial Bold" pitchFamily="34" charset="0"/>
              </a:rPr>
              <a:t>Đây là tầng giao diện, bao gồm các màn hình (Screens), các thành phần giao diện (Components) và TailwindCSS để thiết kế giao diện. Người dùng sẽ tương tác trực tiếp với tầng này.</a:t>
            </a:r>
          </a:p>
          <a:p>
            <a:r>
              <a:rPr lang="vi-VN" b="1" dirty="0" smtClean="0">
                <a:latin typeface="+mj-lt"/>
                <a:cs typeface="Arial Bold" pitchFamily="34" charset="0"/>
              </a:rPr>
              <a:t>Thứ hai là State Layer.</a:t>
            </a:r>
            <a:r>
              <a:rPr lang="vi-VN" dirty="0" smtClean="0">
                <a:latin typeface="+mj-lt"/>
                <a:cs typeface="Arial Bold" pitchFamily="34" charset="0"/>
              </a:rPr>
              <a:t/>
            </a:r>
            <a:br>
              <a:rPr lang="vi-VN" dirty="0" smtClean="0">
                <a:latin typeface="+mj-lt"/>
                <a:cs typeface="Arial Bold" pitchFamily="34" charset="0"/>
              </a:rPr>
            </a:br>
            <a:r>
              <a:rPr lang="vi-VN" dirty="0" smtClean="0">
                <a:latin typeface="+mj-lt"/>
                <a:cs typeface="Arial Bold" pitchFamily="34" charset="0"/>
              </a:rPr>
              <a:t>Tầng này có nhiệm vụ quản lý trạng thái của ứng dụng thông qua các Provider.</a:t>
            </a:r>
          </a:p>
          <a:p>
            <a:r>
              <a:rPr lang="vi-VN" dirty="0" smtClean="0">
                <a:latin typeface="+mj-lt"/>
                <a:cs typeface="Arial Bold" pitchFamily="34" charset="0"/>
              </a:rPr>
              <a:t>AuthProvider quản lý trạng thái đăng nhập của người dùng. </a:t>
            </a:r>
          </a:p>
          <a:p>
            <a:r>
              <a:rPr lang="vi-VN" dirty="0" smtClean="0">
                <a:latin typeface="+mj-lt"/>
                <a:cs typeface="Arial Bold" pitchFamily="34" charset="0"/>
              </a:rPr>
              <a:t>LanguageProvider quản lý việc chuyển đổi ngôn ngữ. </a:t>
            </a:r>
          </a:p>
          <a:p>
            <a:r>
              <a:rPr lang="vi-VN" dirty="0" smtClean="0">
                <a:latin typeface="+mj-lt"/>
                <a:cs typeface="Arial Bold" pitchFamily="34" charset="0"/>
              </a:rPr>
              <a:t>ColorSchemeProvider quản lý giao diện sáng và tối. </a:t>
            </a:r>
          </a:p>
          <a:p>
            <a:r>
              <a:rPr lang="vi-VN" dirty="0" smtClean="0">
                <a:latin typeface="+mj-lt"/>
                <a:cs typeface="Arial Bold" pitchFamily="34" charset="0"/>
              </a:rPr>
              <a:t>Nhờ đó, khi có sự thay đổi, toàn bộ giao diện sẽ được cập nhật đồng bộ mà không cần tải lại ứng dụng.</a:t>
            </a:r>
          </a:p>
          <a:p>
            <a:r>
              <a:rPr lang="vi-VN" b="1" dirty="0" smtClean="0">
                <a:latin typeface="+mj-lt"/>
                <a:cs typeface="Arial Bold" pitchFamily="34" charset="0"/>
              </a:rPr>
              <a:t>Thứ ba là Repository Layer.</a:t>
            </a:r>
            <a:r>
              <a:rPr lang="vi-VN" dirty="0" smtClean="0">
                <a:latin typeface="+mj-lt"/>
                <a:cs typeface="Arial Bold" pitchFamily="34" charset="0"/>
              </a:rPr>
              <a:t/>
            </a:r>
            <a:br>
              <a:rPr lang="vi-VN" dirty="0" smtClean="0">
                <a:latin typeface="+mj-lt"/>
                <a:cs typeface="Arial Bold" pitchFamily="34" charset="0"/>
              </a:rPr>
            </a:br>
            <a:r>
              <a:rPr lang="vi-VN" dirty="0" smtClean="0">
                <a:latin typeface="+mj-lt"/>
                <a:cs typeface="Arial Bold" pitchFamily="34" charset="0"/>
              </a:rPr>
              <a:t>Đây là tầng xử lý dữ liệu, đóng vai trò trung gian giữa ứng dụng và cơ sở dữ liệu.</a:t>
            </a:r>
          </a:p>
          <a:p>
            <a:r>
              <a:rPr lang="vi-VN" dirty="0" smtClean="0">
                <a:latin typeface="+mj-lt"/>
                <a:cs typeface="Arial Bold" pitchFamily="34" charset="0"/>
              </a:rPr>
              <a:t>Hệ thống được chia thành nhiều Repository như:</a:t>
            </a:r>
          </a:p>
          <a:p>
            <a:r>
              <a:rPr lang="vi-VN" dirty="0" smtClean="0">
                <a:latin typeface="+mj-lt"/>
                <a:cs typeface="Arial Bold" pitchFamily="34" charset="0"/>
              </a:rPr>
              <a:t>Heritage Repository quản lý dữ liệu di sản. </a:t>
            </a:r>
          </a:p>
          <a:p>
            <a:r>
              <a:rPr lang="vi-VN" dirty="0" smtClean="0">
                <a:latin typeface="+mj-lt"/>
                <a:cs typeface="Arial Bold" pitchFamily="34" charset="0"/>
              </a:rPr>
              <a:t>Articles Repository quản lý bài viết. </a:t>
            </a:r>
          </a:p>
          <a:p>
            <a:r>
              <a:rPr lang="vi-VN" dirty="0" smtClean="0">
                <a:latin typeface="+mj-lt"/>
                <a:cs typeface="Arial Bold" pitchFamily="34" charset="0"/>
              </a:rPr>
              <a:t>Users Repository quản lý thông tin người dùng. </a:t>
            </a:r>
          </a:p>
          <a:p>
            <a:r>
              <a:rPr lang="vi-VN" dirty="0" smtClean="0">
                <a:latin typeface="+mj-lt"/>
                <a:cs typeface="Arial Bold" pitchFamily="34" charset="0"/>
              </a:rPr>
              <a:t>Comments Repository quản lý bình luận. </a:t>
            </a:r>
          </a:p>
          <a:p>
            <a:r>
              <a:rPr lang="vi-VN" dirty="0" smtClean="0">
                <a:latin typeface="+mj-lt"/>
                <a:cs typeface="Arial Bold" pitchFamily="34" charset="0"/>
              </a:rPr>
              <a:t>Ngoài ra còn sử dụng </a:t>
            </a:r>
            <a:r>
              <a:rPr lang="vi-VN" b="1" dirty="0" smtClean="0">
                <a:latin typeface="+mj-lt"/>
                <a:cs typeface="Arial Bold" pitchFamily="34" charset="0"/>
              </a:rPr>
              <a:t>AsyncStorage</a:t>
            </a:r>
            <a:r>
              <a:rPr lang="vi-VN" dirty="0" smtClean="0">
                <a:latin typeface="+mj-lt"/>
                <a:cs typeface="Arial Bold" pitchFamily="34" charset="0"/>
              </a:rPr>
              <a:t> để lưu trữ cục bộ các dữ liệu cần thiết như thông tin đăng nhập hoặc dữ liệu cache nhằm tăng tốc độ truy cập.</a:t>
            </a:r>
          </a:p>
          <a:p>
            <a:r>
              <a:rPr lang="vi-VN" dirty="0" smtClean="0">
                <a:latin typeface="+mj-lt"/>
                <a:cs typeface="Arial Bold" pitchFamily="34" charset="0"/>
              </a:rPr>
              <a:t>Tiếp theo là phần </a:t>
            </a:r>
            <a:r>
              <a:rPr lang="vi-VN" b="1" dirty="0" smtClean="0">
                <a:latin typeface="+mj-lt"/>
                <a:cs typeface="Arial Bold" pitchFamily="34" charset="0"/>
              </a:rPr>
              <a:t>Cloud Backend</a:t>
            </a:r>
            <a:r>
              <a:rPr lang="vi-VN" dirty="0" smtClean="0">
                <a:latin typeface="+mj-lt"/>
                <a:cs typeface="Arial Bold" pitchFamily="34" charset="0"/>
              </a:rPr>
              <a:t>.</a:t>
            </a:r>
          </a:p>
          <a:p>
            <a:r>
              <a:rPr lang="vi-VN" dirty="0" smtClean="0">
                <a:latin typeface="+mj-lt"/>
                <a:cs typeface="Arial Bold" pitchFamily="34" charset="0"/>
              </a:rPr>
              <a:t>Backend sử dụng các dịch vụ đám mây gồm:</a:t>
            </a:r>
          </a:p>
          <a:p>
            <a:r>
              <a:rPr lang="vi-VN" b="1" dirty="0" smtClean="0">
                <a:latin typeface="+mj-lt"/>
                <a:cs typeface="Arial Bold" pitchFamily="34" charset="0"/>
              </a:rPr>
              <a:t>Firebase Authentication</a:t>
            </a:r>
            <a:r>
              <a:rPr lang="vi-VN" dirty="0" smtClean="0">
                <a:latin typeface="+mj-lt"/>
                <a:cs typeface="Arial Bold" pitchFamily="34" charset="0"/>
              </a:rPr>
              <a:t> để xác thực và quản lý tài khoản người dùng. </a:t>
            </a:r>
          </a:p>
          <a:p>
            <a:r>
              <a:rPr lang="vi-VN" b="1" dirty="0" smtClean="0">
                <a:latin typeface="+mj-lt"/>
                <a:cs typeface="Arial Bold" pitchFamily="34" charset="0"/>
              </a:rPr>
              <a:t>Cloud Firestore</a:t>
            </a:r>
            <a:r>
              <a:rPr lang="vi-VN" dirty="0" smtClean="0">
                <a:latin typeface="+mj-lt"/>
                <a:cs typeface="Arial Bold" pitchFamily="34" charset="0"/>
              </a:rPr>
              <a:t> để lưu trữ dữ liệu theo thời gian thực như bài viết, bình luận, di sản và thông tin người dùng. </a:t>
            </a:r>
          </a:p>
          <a:p>
            <a:r>
              <a:rPr lang="vi-VN" b="1" dirty="0" smtClean="0">
                <a:latin typeface="+mj-lt"/>
                <a:cs typeface="Arial Bold" pitchFamily="34" charset="0"/>
              </a:rPr>
              <a:t>Cloudinary CDN</a:t>
            </a:r>
            <a:r>
              <a:rPr lang="vi-VN" dirty="0" smtClean="0">
                <a:latin typeface="+mj-lt"/>
                <a:cs typeface="Arial Bold" pitchFamily="34" charset="0"/>
              </a:rPr>
              <a:t> để lưu trữ và phân phối các tệp đa phương tiện như hình ảnh. </a:t>
            </a:r>
          </a:p>
          <a:p>
            <a:r>
              <a:rPr lang="vi-VN" b="1" dirty="0" smtClean="0">
                <a:latin typeface="+mj-lt"/>
                <a:cs typeface="Arial Bold" pitchFamily="34" charset="0"/>
              </a:rPr>
              <a:t>Luồng hoạt động của hệ thống</a:t>
            </a:r>
            <a:r>
              <a:rPr lang="vi-VN" dirty="0" smtClean="0">
                <a:latin typeface="+mj-lt"/>
                <a:cs typeface="Arial Bold" pitchFamily="34" charset="0"/>
              </a:rPr>
              <a:t> như sau:</a:t>
            </a:r>
          </a:p>
          <a:p>
            <a:r>
              <a:rPr lang="vi-VN" dirty="0" smtClean="0">
                <a:latin typeface="+mj-lt"/>
                <a:cs typeface="Arial Bold" pitchFamily="34" charset="0"/>
              </a:rPr>
              <a:t>Khi người dùng thực hiện một thao tác, ví dụ như đăng nhập hoặc xem bài viết, yêu cầu sẽ được gửi từ giao diện xuống Repository.</a:t>
            </a:r>
          </a:p>
          <a:p>
            <a:r>
              <a:rPr lang="vi-VN" dirty="0" smtClean="0">
                <a:latin typeface="+mj-lt"/>
                <a:cs typeface="Arial Bold" pitchFamily="34" charset="0"/>
              </a:rPr>
              <a:t>Repository sẽ kết nối với Firebase Authentication để xác thực người dùng hoặc truy vấn dữ liệu từ Cloud Firestore.</a:t>
            </a:r>
          </a:p>
          <a:p>
            <a:r>
              <a:rPr lang="vi-VN" dirty="0" smtClean="0">
                <a:latin typeface="+mj-lt"/>
                <a:cs typeface="Arial Bold" pitchFamily="34" charset="0"/>
              </a:rPr>
              <a:t>Nếu dữ liệu có hình ảnh thì Repository sẽ lấy đường dẫn từ Firestore và tải hình ảnh từ Cloudinary.</a:t>
            </a:r>
          </a:p>
          <a:p>
            <a:r>
              <a:rPr lang="vi-VN" dirty="0" smtClean="0">
                <a:latin typeface="+mj-lt"/>
                <a:cs typeface="Arial Bold" pitchFamily="34" charset="0"/>
              </a:rPr>
              <a:t>Sau khi dữ liệu được trả về, Repository cập nhật State Layer, và giao diện sẽ tự động hiển thị kết quả mới cho người dùng.</a:t>
            </a:r>
          </a:p>
          <a:p>
            <a:r>
              <a:rPr lang="vi-VN" dirty="0" smtClean="0">
                <a:latin typeface="+mj-lt"/>
                <a:cs typeface="Arial Bold" pitchFamily="34" charset="0"/>
              </a:rPr>
              <a:t>Nhờ kiến trúc này, hệ thống được tách biệt rõ ràng giữa giao diện, quản lý trạng thái và xử lý dữ liệu, giúp ứng dụng dễ bảo trì, dễ mở rộng và nâng cao hiệu năng."</a:t>
            </a:r>
            <a:endParaRPr lang="vi-VN" dirty="0">
              <a:latin typeface="+mj-lt"/>
              <a:cs typeface="Arial Bold" pitchFamily="34" charset="0"/>
            </a:endParaRPr>
          </a:p>
        </p:txBody>
      </p:sp>
      <p:sp>
        <p:nvSpPr>
          <p:cNvPr id="4" name="Slide Number Placeholder 3"/>
          <p:cNvSpPr>
            <a:spLocks noGrp="1"/>
          </p:cNvSpPr>
          <p:nvPr>
            <p:ph type="sldNum" sz="quarter" idx="10"/>
          </p:nvPr>
        </p:nvSpPr>
        <p:spPr/>
        <p:txBody>
          <a:bodyPr/>
          <a:lstStyle/>
          <a:p>
            <a:fld id="{B6F15528-F159-4107-801B-301E9E2E1C3A}" type="slidenum">
              <a:rPr lang="vi-VN" smtClean="0"/>
              <a:t>8</a:t>
            </a:fld>
            <a:endParaRPr lang="vi-V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"Đây là biểu đồ Use Case mô tả các chức năng chính của hệ thống và các đối tượng sử dụng.</a:t>
            </a:r>
          </a:p>
          <a:p>
            <a:r>
              <a:rPr lang="vi-VN" dirty="0" smtClean="0"/>
              <a:t>Hệ thống có </a:t>
            </a:r>
            <a:r>
              <a:rPr lang="vi-VN" b="1" dirty="0" smtClean="0"/>
              <a:t>hai tác nhân chính</a:t>
            </a:r>
            <a:r>
              <a:rPr lang="vi-VN" dirty="0" smtClean="0"/>
              <a:t> là </a:t>
            </a:r>
            <a:r>
              <a:rPr lang="vi-VN" b="1" dirty="0" smtClean="0"/>
              <a:t>Người dùng (Khách)</a:t>
            </a:r>
            <a:r>
              <a:rPr lang="vi-VN" dirty="0" smtClean="0"/>
              <a:t> và </a:t>
            </a:r>
            <a:r>
              <a:rPr lang="vi-VN" b="1" dirty="0" smtClean="0"/>
              <a:t>Quản trị viên (Admin)</a:t>
            </a:r>
            <a:r>
              <a:rPr lang="vi-VN" dirty="0" smtClean="0"/>
              <a:t>.</a:t>
            </a:r>
          </a:p>
          <a:p>
            <a:r>
              <a:rPr lang="vi-VN" b="1" dirty="0" smtClean="0"/>
              <a:t>Đối với người dùng</a:t>
            </a:r>
          </a:p>
          <a:p>
            <a:r>
              <a:rPr lang="vi-VN" dirty="0" smtClean="0"/>
              <a:t>Người dùng có thể sử dụng các chức năng cơ bản như:</a:t>
            </a:r>
          </a:p>
          <a:p>
            <a:r>
              <a:rPr lang="vi-VN" dirty="0" smtClean="0"/>
              <a:t>Xem thông tin các di sản. </a:t>
            </a:r>
          </a:p>
          <a:p>
            <a:r>
              <a:rPr lang="vi-VN" dirty="0" smtClean="0"/>
              <a:t>Đọc các bài viết chia sẻ về văn hóa. </a:t>
            </a:r>
          </a:p>
          <a:p>
            <a:r>
              <a:rPr lang="vi-VN" dirty="0" smtClean="0"/>
              <a:t>Xem bản đồ tương tác để tìm vị trí các di sản. </a:t>
            </a:r>
          </a:p>
          <a:p>
            <a:r>
              <a:rPr lang="vi-VN" dirty="0" smtClean="0"/>
              <a:t>Chuyển đổi ngôn ngữ của ứng dụng. </a:t>
            </a:r>
          </a:p>
          <a:p>
            <a:r>
              <a:rPr lang="vi-VN" dirty="0" smtClean="0"/>
              <a:t>Đăng ký hoặc đăng nhập tài khoản. </a:t>
            </a:r>
          </a:p>
          <a:p>
            <a:r>
              <a:rPr lang="vi-VN" dirty="0" smtClean="0"/>
              <a:t>Sau khi đăng nhập, người dùng có thể thực hiện thêm các chức năng như:</a:t>
            </a:r>
          </a:p>
          <a:p>
            <a:r>
              <a:rPr lang="vi-VN" dirty="0" smtClean="0"/>
              <a:t>Gửi bình luận dưới bài viết. </a:t>
            </a:r>
          </a:p>
          <a:p>
            <a:r>
              <a:rPr lang="vi-VN" dirty="0" smtClean="0"/>
              <a:t>Yêu thích bài viết. </a:t>
            </a:r>
          </a:p>
          <a:p>
            <a:r>
              <a:rPr lang="vi-VN" dirty="0" smtClean="0"/>
              <a:t>Gửi bài viết mới để chia sẻ với cộng đồng. </a:t>
            </a:r>
          </a:p>
          <a:p>
            <a:r>
              <a:rPr lang="vi-VN" b="1" dirty="0" smtClean="0"/>
              <a:t>Đối với quản trị viên</a:t>
            </a:r>
          </a:p>
          <a:p>
            <a:r>
              <a:rPr lang="vi-VN" dirty="0" smtClean="0"/>
              <a:t>Quản trị viên ngoài việc có thể sử dụng các chức năng chung của người dùng còn có thêm các quyền quản trị như:</a:t>
            </a:r>
          </a:p>
          <a:p>
            <a:r>
              <a:rPr lang="vi-VN" dirty="0" smtClean="0"/>
              <a:t>Thêm, sửa hoặc xóa thông tin di sản. </a:t>
            </a:r>
          </a:p>
          <a:p>
            <a:r>
              <a:rPr lang="vi-VN" dirty="0" smtClean="0"/>
              <a:t>Duyệt hoặc từ chối các bài viết do người dùng gửi lên. </a:t>
            </a:r>
          </a:p>
          <a:p>
            <a:r>
              <a:rPr lang="vi-VN" dirty="0" smtClean="0"/>
              <a:t>Xem Dashboard thống kê để theo dõi hoạt động của hệ thống. </a:t>
            </a:r>
          </a:p>
          <a:p>
            <a:r>
              <a:rPr lang="vi-VN" b="1" dirty="0" smtClean="0"/>
              <a:t>Ý nghĩa của quan hệ &lt;&lt;include&gt;&gt;</a:t>
            </a:r>
          </a:p>
          <a:p>
            <a:r>
              <a:rPr lang="vi-VN" dirty="0" smtClean="0"/>
              <a:t>Trong biểu đồ có các mũi tên nét đứt mang nhãn </a:t>
            </a:r>
            <a:r>
              <a:rPr lang="vi-VN" b="1" dirty="0" smtClean="0"/>
              <a:t>&lt;&lt;include&gt;&gt;</a:t>
            </a:r>
            <a:r>
              <a:rPr lang="vi-VN" dirty="0" smtClean="0"/>
              <a:t> nối đến chức năng </a:t>
            </a:r>
            <a:r>
              <a:rPr lang="vi-VN" b="1" dirty="0" smtClean="0"/>
              <a:t>Đăng nhập/Đăng ký</a:t>
            </a:r>
            <a:r>
              <a:rPr lang="vi-VN" dirty="0" smtClean="0"/>
              <a:t>.</a:t>
            </a:r>
          </a:p>
          <a:p>
            <a:r>
              <a:rPr lang="vi-VN" dirty="0" smtClean="0"/>
              <a:t>Điều này có nghĩa là các chức năng:</a:t>
            </a:r>
          </a:p>
          <a:p>
            <a:r>
              <a:rPr lang="vi-VN" dirty="0" smtClean="0"/>
              <a:t>Gửi bình luận, </a:t>
            </a:r>
          </a:p>
          <a:p>
            <a:r>
              <a:rPr lang="vi-VN" dirty="0" smtClean="0"/>
              <a:t>Yêu thích bài viết, </a:t>
            </a:r>
          </a:p>
          <a:p>
            <a:r>
              <a:rPr lang="vi-VN" dirty="0" smtClean="0"/>
              <a:t>Gửi bài viết mới, </a:t>
            </a:r>
          </a:p>
          <a:p>
            <a:r>
              <a:rPr lang="vi-VN" dirty="0" smtClean="0"/>
              <a:t>đều </a:t>
            </a:r>
            <a:r>
              <a:rPr lang="vi-VN" b="1" dirty="0" smtClean="0"/>
              <a:t>bắt buộc người dùng phải đăng nhập</a:t>
            </a:r>
            <a:r>
              <a:rPr lang="vi-VN" dirty="0" smtClean="0"/>
              <a:t> trước khi sử dụng. Nếu chưa đăng nhập, hệ thống sẽ yêu cầu xác thực tài khoản."</a:t>
            </a:r>
            <a:endParaRPr lang="vi-VN" dirty="0"/>
          </a:p>
        </p:txBody>
      </p:sp>
      <p:sp>
        <p:nvSpPr>
          <p:cNvPr id="4" name="Slide Number Placeholder 3"/>
          <p:cNvSpPr>
            <a:spLocks noGrp="1"/>
          </p:cNvSpPr>
          <p:nvPr>
            <p:ph type="sldNum" sz="quarter" idx="10"/>
          </p:nvPr>
        </p:nvSpPr>
        <p:spPr/>
        <p:txBody>
          <a:bodyPr/>
          <a:lstStyle/>
          <a:p>
            <a:fld id="{B6F15528-F159-4107-801B-301E9E2E1C3A}" type="slidenum">
              <a:rPr lang="vi-VN" smtClean="0"/>
              <a:t>9</a:t>
            </a:fld>
            <a:endParaRPr lang="vi-V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"Đây là sơ đồ ERD mô tả cấu trúc cơ sở dữ liệu của hệ thống. Hệ thống gồm 5 thực thể chính là </a:t>
            </a:r>
            <a:r>
              <a:rPr lang="vi-VN" b="1" dirty="0" smtClean="0"/>
              <a:t>Users, Categories, Heritages, Articles và Comments</a:t>
            </a:r>
            <a:r>
              <a:rPr lang="vi-VN" dirty="0" smtClean="0"/>
              <a:t>.</a:t>
            </a:r>
          </a:p>
          <a:p>
            <a:r>
              <a:rPr lang="vi-VN" b="1" dirty="0" smtClean="0"/>
              <a:t>Thứ nhất là bảng Users</a:t>
            </a:r>
          </a:p>
          <a:p>
            <a:r>
              <a:rPr lang="vi-VN" dirty="0" smtClean="0"/>
              <a:t>Bảng </a:t>
            </a:r>
            <a:r>
              <a:rPr lang="vi-VN" b="1" dirty="0" smtClean="0"/>
              <a:t>Users</a:t>
            </a:r>
            <a:r>
              <a:rPr lang="vi-VN" dirty="0" smtClean="0"/>
              <a:t> lưu thông tin người dùng, bao gồm:</a:t>
            </a:r>
          </a:p>
          <a:p>
            <a:r>
              <a:rPr lang="vi-VN" dirty="0" smtClean="0"/>
              <a:t>UID là khóa chính. </a:t>
            </a:r>
          </a:p>
          <a:p>
            <a:r>
              <a:rPr lang="vi-VN" dirty="0" smtClean="0"/>
              <a:t>Email. </a:t>
            </a:r>
          </a:p>
          <a:p>
            <a:r>
              <a:rPr lang="vi-VN" dirty="0" smtClean="0"/>
              <a:t>Vai trò của người dùng, ví dụ User hoặc Admin. </a:t>
            </a:r>
          </a:p>
          <a:p>
            <a:r>
              <a:rPr lang="vi-VN" dirty="0" smtClean="0"/>
              <a:t>Danh sách các di sản yêu thích (favorites). </a:t>
            </a:r>
          </a:p>
          <a:p>
            <a:r>
              <a:rPr lang="vi-VN" dirty="0" smtClean="0"/>
              <a:t>Mỗi người dùng có thể viết nhiều bài viết và cũng có thể bình luận nhiều lần.</a:t>
            </a:r>
          </a:p>
          <a:p>
            <a:r>
              <a:rPr lang="vi-VN" b="1" dirty="0" smtClean="0"/>
              <a:t>Thứ hai là bảng Categories</a:t>
            </a:r>
          </a:p>
          <a:p>
            <a:r>
              <a:rPr lang="vi-VN" dirty="0" smtClean="0"/>
              <a:t>Bảng </a:t>
            </a:r>
            <a:r>
              <a:rPr lang="vi-VN" b="1" dirty="0" smtClean="0"/>
              <a:t>Categories</a:t>
            </a:r>
            <a:r>
              <a:rPr lang="vi-VN" dirty="0" smtClean="0"/>
              <a:t> dùng để lưu các loại hoặc nhóm di sản, ví dụ như di sản văn hóa, di sản thiên nhiên,...</a:t>
            </a:r>
          </a:p>
          <a:p>
            <a:r>
              <a:rPr lang="vi-VN" dirty="0" smtClean="0"/>
              <a:t>Một danh mục có thể chứa nhiều di sản.</a:t>
            </a:r>
          </a:p>
          <a:p>
            <a:r>
              <a:rPr lang="vi-VN" b="1" dirty="0" smtClean="0"/>
              <a:t>Thứ ba là bảng Heritages</a:t>
            </a:r>
          </a:p>
          <a:p>
            <a:r>
              <a:rPr lang="vi-VN" dirty="0" smtClean="0"/>
              <a:t>Bảng </a:t>
            </a:r>
            <a:r>
              <a:rPr lang="vi-VN" b="1" dirty="0" smtClean="0"/>
              <a:t>Heritages</a:t>
            </a:r>
            <a:r>
              <a:rPr lang="vi-VN" dirty="0" smtClean="0"/>
              <a:t> lưu thông tin về các di sản như:</a:t>
            </a:r>
          </a:p>
          <a:p>
            <a:r>
              <a:rPr lang="vi-VN" dirty="0" smtClean="0"/>
              <a:t>Tên di sản. </a:t>
            </a:r>
          </a:p>
          <a:p>
            <a:r>
              <a:rPr lang="vi-VN" dirty="0" smtClean="0"/>
              <a:t>Mô tả. </a:t>
            </a:r>
          </a:p>
          <a:p>
            <a:r>
              <a:rPr lang="vi-VN" dirty="0" smtClean="0"/>
              <a:t>Danh mục mà di sản thuộc về. </a:t>
            </a:r>
          </a:p>
          <a:p>
            <a:r>
              <a:rPr lang="vi-VN" dirty="0" smtClean="0"/>
              <a:t>Mỗi di sản chỉ thuộc một danh mục, nhưng một danh mục có thể có nhiều di sản.</a:t>
            </a:r>
          </a:p>
          <a:p>
            <a:r>
              <a:rPr lang="vi-VN" dirty="0" smtClean="0"/>
              <a:t>Ngoài ra, một di sản có thể được nhiều bài viết giới thiệu.</a:t>
            </a:r>
          </a:p>
          <a:p>
            <a:r>
              <a:rPr lang="vi-VN" b="1" dirty="0" smtClean="0"/>
              <a:t>Thứ tư là bảng Articles</a:t>
            </a:r>
          </a:p>
          <a:p>
            <a:r>
              <a:rPr lang="vi-VN" dirty="0" smtClean="0"/>
              <a:t>Bảng </a:t>
            </a:r>
            <a:r>
              <a:rPr lang="vi-VN" b="1" dirty="0" smtClean="0"/>
              <a:t>Articles</a:t>
            </a:r>
            <a:r>
              <a:rPr lang="vi-VN" dirty="0" smtClean="0"/>
              <a:t> lưu các bài viết của người dùng.</a:t>
            </a:r>
          </a:p>
          <a:p>
            <a:r>
              <a:rPr lang="vi-VN" dirty="0" smtClean="0"/>
              <a:t>Mỗi bài viết gồm:</a:t>
            </a:r>
          </a:p>
          <a:p>
            <a:r>
              <a:rPr lang="vi-VN" dirty="0" smtClean="0"/>
              <a:t>Tiêu đề. </a:t>
            </a:r>
          </a:p>
          <a:p>
            <a:r>
              <a:rPr lang="vi-VN" dirty="0" smtClean="0"/>
              <a:t>Nội dung. </a:t>
            </a:r>
          </a:p>
          <a:p>
            <a:r>
              <a:rPr lang="vi-VN" dirty="0" smtClean="0"/>
              <a:t>Tác giả. </a:t>
            </a:r>
          </a:p>
          <a:p>
            <a:r>
              <a:rPr lang="vi-VN" dirty="0" smtClean="0"/>
              <a:t>Di sản được giới thiệu. </a:t>
            </a:r>
          </a:p>
          <a:p>
            <a:r>
              <a:rPr lang="vi-VN" dirty="0" smtClean="0"/>
              <a:t>Các từ khóa (Tags). </a:t>
            </a:r>
          </a:p>
          <a:p>
            <a:r>
              <a:rPr lang="vi-VN" dirty="0" smtClean="0"/>
              <a:t>Một người dùng có thể tạo nhiều bài viết, nhưng mỗi bài viết chỉ có một tác giả.</a:t>
            </a:r>
          </a:p>
          <a:p>
            <a:r>
              <a:rPr lang="vi-VN" dirty="0" smtClean="0"/>
              <a:t>Đồng thời một bài viết chỉ giới thiệu một di sản, nhưng một di sản có thể xuất hiện trong nhiều bài viết.</a:t>
            </a:r>
          </a:p>
          <a:p>
            <a:r>
              <a:rPr lang="vi-VN" b="1" dirty="0" smtClean="0"/>
              <a:t>Thứ năm là bảng Comments</a:t>
            </a:r>
          </a:p>
          <a:p>
            <a:r>
              <a:rPr lang="vi-VN" dirty="0" smtClean="0"/>
              <a:t>Bảng </a:t>
            </a:r>
            <a:r>
              <a:rPr lang="vi-VN" b="1" dirty="0" smtClean="0"/>
              <a:t>Comments</a:t>
            </a:r>
            <a:r>
              <a:rPr lang="vi-VN" dirty="0" smtClean="0"/>
              <a:t> lưu các bình luận.</a:t>
            </a:r>
          </a:p>
          <a:p>
            <a:r>
              <a:rPr lang="vi-VN" dirty="0" smtClean="0"/>
              <a:t>Mỗi bình luận sẽ gồm:</a:t>
            </a:r>
          </a:p>
          <a:p>
            <a:r>
              <a:rPr lang="vi-VN" dirty="0" smtClean="0"/>
              <a:t>Nội dung. </a:t>
            </a:r>
          </a:p>
          <a:p>
            <a:r>
              <a:rPr lang="vi-VN" dirty="0" smtClean="0"/>
              <a:t>Người viết bình luận. </a:t>
            </a:r>
          </a:p>
          <a:p>
            <a:r>
              <a:rPr lang="vi-VN" dirty="0" smtClean="0"/>
              <a:t>Bài viết được bình luận. </a:t>
            </a:r>
          </a:p>
          <a:p>
            <a:r>
              <a:rPr lang="vi-VN" dirty="0" smtClean="0"/>
              <a:t>Thời gian tạo. </a:t>
            </a:r>
          </a:p>
          <a:p>
            <a:r>
              <a:rPr lang="vi-VN" dirty="0" smtClean="0"/>
              <a:t>Một bài viết có thể có nhiều bình luận, nhưng mỗi bình luận chỉ thuộc về một bài viết.</a:t>
            </a:r>
          </a:p>
          <a:p>
            <a:r>
              <a:rPr lang="vi-VN" dirty="0" smtClean="0"/>
              <a:t>Một người dùng cũng có thể viết nhiều bình luận.</a:t>
            </a:r>
          </a:p>
          <a:p>
            <a:r>
              <a:rPr lang="vi-VN" b="1" dirty="0" smtClean="0"/>
              <a:t>Các mối quan hệ chính</a:t>
            </a:r>
          </a:p>
          <a:p>
            <a:r>
              <a:rPr lang="vi-VN" dirty="0" smtClean="0"/>
              <a:t>Các quan hệ trong hệ thống gồm:</a:t>
            </a:r>
          </a:p>
          <a:p>
            <a:r>
              <a:rPr lang="vi-VN" b="1" dirty="0" smtClean="0"/>
              <a:t>Users – Articles:</a:t>
            </a:r>
            <a:r>
              <a:rPr lang="vi-VN" dirty="0" smtClean="0"/>
              <a:t> Quan hệ </a:t>
            </a:r>
            <a:r>
              <a:rPr lang="vi-VN" b="1" dirty="0" smtClean="0"/>
              <a:t>1 - N</a:t>
            </a:r>
            <a:r>
              <a:rPr lang="vi-VN" dirty="0" smtClean="0"/>
              <a:t>, một người dùng có thể viết nhiều bài viết. </a:t>
            </a:r>
          </a:p>
          <a:p>
            <a:r>
              <a:rPr lang="vi-VN" b="1" dirty="0" smtClean="0"/>
              <a:t>Users – Comments:</a:t>
            </a:r>
            <a:r>
              <a:rPr lang="vi-VN" dirty="0" smtClean="0"/>
              <a:t> Quan hệ </a:t>
            </a:r>
            <a:r>
              <a:rPr lang="vi-VN" b="1" dirty="0" smtClean="0"/>
              <a:t>1 - N</a:t>
            </a:r>
            <a:r>
              <a:rPr lang="vi-VN" dirty="0" smtClean="0"/>
              <a:t>, một người dùng có thể viết nhiều bình luận. </a:t>
            </a:r>
          </a:p>
          <a:p>
            <a:r>
              <a:rPr lang="vi-VN" b="1" dirty="0" smtClean="0"/>
              <a:t>Categories – Heritages:</a:t>
            </a:r>
            <a:r>
              <a:rPr lang="vi-VN" dirty="0" smtClean="0"/>
              <a:t> Quan hệ </a:t>
            </a:r>
            <a:r>
              <a:rPr lang="vi-VN" b="1" dirty="0" smtClean="0"/>
              <a:t>1 - N</a:t>
            </a:r>
            <a:r>
              <a:rPr lang="vi-VN" dirty="0" smtClean="0"/>
              <a:t>, một danh mục có nhiều di sản. </a:t>
            </a:r>
          </a:p>
          <a:p>
            <a:r>
              <a:rPr lang="vi-VN" b="1" dirty="0" smtClean="0"/>
              <a:t>Heritages – Articles:</a:t>
            </a:r>
            <a:r>
              <a:rPr lang="vi-VN" dirty="0" smtClean="0"/>
              <a:t> Quan hệ </a:t>
            </a:r>
            <a:r>
              <a:rPr lang="vi-VN" b="1" dirty="0" smtClean="0"/>
              <a:t>1 - N</a:t>
            </a:r>
            <a:r>
              <a:rPr lang="vi-VN" dirty="0" smtClean="0"/>
              <a:t>, một di sản có thể được nhiều bài viết giới thiệu. </a:t>
            </a:r>
          </a:p>
          <a:p>
            <a:r>
              <a:rPr lang="vi-VN" b="1" dirty="0" smtClean="0"/>
              <a:t>Articles – Comments:</a:t>
            </a:r>
            <a:r>
              <a:rPr lang="vi-VN" dirty="0" smtClean="0"/>
              <a:t> Quan hệ </a:t>
            </a:r>
            <a:r>
              <a:rPr lang="vi-VN" b="1" dirty="0" smtClean="0"/>
              <a:t>1 - N</a:t>
            </a:r>
            <a:r>
              <a:rPr lang="vi-VN" dirty="0" smtClean="0"/>
              <a:t>, một bài viết có nhiều bình luận. </a:t>
            </a:r>
          </a:p>
          <a:p>
            <a:r>
              <a:rPr lang="vi-VN" b="1" dirty="0" smtClean="0"/>
              <a:t>Users – Heritages (Favorites):</a:t>
            </a:r>
            <a:r>
              <a:rPr lang="vi-VN" dirty="0" smtClean="0"/>
              <a:t> Quan hệ </a:t>
            </a:r>
            <a:r>
              <a:rPr lang="vi-VN" b="1" dirty="0" smtClean="0"/>
              <a:t>N - N</a:t>
            </a:r>
            <a:r>
              <a:rPr lang="vi-VN" dirty="0" smtClean="0"/>
              <a:t>, được cài đặt bằng mảng favorites. Một người dùng có thể yêu thích nhiều di sản và một di sản cũng có thể được nhiều người yêu thích.</a:t>
            </a:r>
            <a:endParaRPr lang="vi-VN" dirty="0"/>
          </a:p>
        </p:txBody>
      </p:sp>
      <p:sp>
        <p:nvSpPr>
          <p:cNvPr id="4" name="Slide Number Placeholder 3"/>
          <p:cNvSpPr>
            <a:spLocks noGrp="1"/>
          </p:cNvSpPr>
          <p:nvPr>
            <p:ph type="sldNum" sz="quarter" idx="10"/>
          </p:nvPr>
        </p:nvSpPr>
        <p:spPr/>
        <p:txBody>
          <a:bodyPr/>
          <a:lstStyle/>
          <a:p>
            <a:fld id="{B6F15528-F159-4107-801B-301E9E2E1C3A}" type="slidenum">
              <a:rPr lang="vi-VN" smtClean="0"/>
              <a:t>10</a:t>
            </a:fld>
            <a:endParaRPr lang="vi-V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Lời thoại thuyết trình:</a:t>
            </a:r>
          </a:p>
          <a:p>
            <a:r>
              <a:rPr lang="vi-VN" dirty="0"/>
              <a:t>"Sau quá trình nghiên cứu và thực nghiệm lập trình, đề tài đã đạt được các kết quả cụ thể. Về mặt kỹ thuật, em đã phát triển ứng dụng di động đa nền tảng chạy ổn định bằng Expo SDK 54 với giao diện hiện đại và hỗ trợ Dark/Light Mode. Về mặt dữ liệu, kho dữ liệu di sản Khmer Nam Bộ đã được số hóa hoàn chỉnh trên Cloud Firestore. Các tính năng như bản đồ Leaflet định vị và đếm ngược lễ hội hoạt động chuẩn xác. Về sản phẩm bàn giao, em đã hoàn thành mã nguồn sạch theo Repository Pattern và đóng gói thành công file APK để cài đặt trực tiếp trên các thiết bị Android."</a:t>
            </a:r>
          </a:p>
        </p:txBody>
      </p:sp>
      <p:sp>
        <p:nvSpPr>
          <p:cNvPr id="4" name="Slide Number Placeholder 3"/>
          <p:cNvSpPr>
            <a:spLocks noGrp="1"/>
          </p:cNvSpPr>
          <p:nvPr>
            <p:ph type="sldNum" sz="quarter" idx="10"/>
          </p:nvPr>
        </p:nvSpPr>
        <p:spPr/>
        <p:txBody>
          <a:bodyPr/>
          <a:lstStyle/>
          <a:p>
            <a:fld id="{B6F15528-F159-4107-801B-301E9E2E1C3A}" type="slidenum">
              <a:rPr lang="vi-VN" smtClean="0"/>
              <a:t>11</a:t>
            </a:fld>
            <a:endParaRPr lang="vi-V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 Lời thoại thuyết trình:</a:t>
            </a:r>
          </a:p>
          <a:p>
            <a:r>
              <a:rPr lang="vi-VN" dirty="0" smtClean="0"/>
              <a:t>"Sau khi thử nghiệm hoạt động của phần mềm, em đưa ra một số đánh giá khách quan. Về ưu điểm, ứng dụng đạt được hiệu năng phản hồi tốt, chuyển động mượt mà, định vị chính xác và dịch thuật đa ngôn ngữ hoạt động ổn định. Cơ sở dữ liệu đồng bộ đám mây bảo mật cao. Tuy nhiên, ứng dụng vẫn có một số hạn chế nhỏ, đó là việc tải ảnh và hiển thị bản đồ vẫn phụ thuộc vào kết nối Internet. Ngoài ra, dữ liệu mẫu ban đầu tự thu thập nên số lượng di sản còn giới hạn, cần được cập nhật thêm thông tin chuyên sâu trong tương lai."</a:t>
            </a:r>
          </a:p>
        </p:txBody>
      </p:sp>
      <p:sp>
        <p:nvSpPr>
          <p:cNvPr id="4" name="Slide Number Placeholder 3"/>
          <p:cNvSpPr>
            <a:spLocks noGrp="1"/>
          </p:cNvSpPr>
          <p:nvPr>
            <p:ph type="sldNum" sz="quarter" idx="10"/>
          </p:nvPr>
        </p:nvSpPr>
        <p:spPr/>
        <p:txBody>
          <a:bodyPr/>
          <a:lstStyle/>
          <a:p>
            <a:fld id="{7FA7FF6B-278C-4E24-A25A-E2CC47A39139}" type="slidenum">
              <a:rPr lang="vi-VN" smtClean="0"/>
              <a:t>12</a:t>
            </a:fld>
            <a:endParaRPr lang="vi-VN"/>
          </a:p>
        </p:txBody>
      </p:sp>
    </p:spTree>
    <p:extLst>
      <p:ext uri="{BB962C8B-B14F-4D97-AF65-F5344CB8AC3E}">
        <p14:creationId xmlns:p14="http://schemas.microsoft.com/office/powerpoint/2010/main" val="286720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Lời thoại thuyết trình:</a:t>
            </a:r>
          </a:p>
          <a:p>
            <a:r>
              <a:rPr lang="vi-VN" dirty="0"/>
              <a:t>"Để ứng dụng ngày càng hoàn thiện và mang lại giá trị cao hơn, em đề xuất các hướng phát triển tiếp theo. Đầu tiên, em dự định tích hợp công nghệ thực tế ảo tăng cường AR để du khách có thể tương tác với mô hình 3D sinh động của các ngôi chùa. Thứ hai là phát triển tính năng Audio Guide đa ngôn ngữ giúp du khách nghe thuyết minh tại điểm di tích. Thứ ba là ứng dụng trí tuệ nhân tạo AI để đề xuất lịch trình tham quan cá nhân hóa dựa trên sở thích của từng người dùng. Cuối cùng là liên kết ứng dụng với các đơn vị du lịch địa phương để phát triển quảng bá các tour du lịch văn hóa Khmer Nam Bộ rộng rãi hơn."</a:t>
            </a:r>
          </a:p>
        </p:txBody>
      </p:sp>
      <p:sp>
        <p:nvSpPr>
          <p:cNvPr id="4" name="Slide Number Placeholder 3"/>
          <p:cNvSpPr>
            <a:spLocks noGrp="1"/>
          </p:cNvSpPr>
          <p:nvPr>
            <p:ph type="sldNum" sz="quarter" idx="10"/>
          </p:nvPr>
        </p:nvSpPr>
        <p:spPr/>
        <p:txBody>
          <a:bodyPr/>
          <a:lstStyle/>
          <a:p>
            <a:fld id="{B6F15528-F159-4107-801B-301E9E2E1C3A}" type="slidenum">
              <a:rPr lang="vi-VN" smtClean="0"/>
              <a:t>13</a:t>
            </a:fld>
            <a:endParaRPr lang="vi-V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Lời thoại thuyết trình:</a:t>
            </a:r>
          </a:p>
          <a:p>
            <a:r>
              <a:rPr lang="vi-VN" dirty="0"/>
              <a:t>"Để hội đồng có cái nhìn thực tế và trực quan nhất về sản phẩm, em xin phép được bắt đầu phần chạy thử ứng dụng (Demo) trực tiếp trên thiết bị di động... Sau phần demo, em xin chân thành cảm ơn quý thầy cô đã lắng nghe và em sẵn sàng nhận câu hỏi góp ý từ Hội đồng."</a:t>
            </a:r>
          </a:p>
        </p:txBody>
      </p:sp>
      <p:sp>
        <p:nvSpPr>
          <p:cNvPr id="4" name="Slide Number Placeholder 3"/>
          <p:cNvSpPr>
            <a:spLocks noGrp="1"/>
          </p:cNvSpPr>
          <p:nvPr>
            <p:ph type="sldNum" sz="quarter" idx="10"/>
          </p:nvPr>
        </p:nvSpPr>
        <p:spPr/>
        <p:txBody>
          <a:bodyPr/>
          <a:lstStyle/>
          <a:p>
            <a:fld id="{B6F15528-F159-4107-801B-301E9E2E1C3A}" type="slidenum">
              <a:rPr lang="vi-VN" smtClean="0"/>
              <a:t>14</a:t>
            </a:fld>
            <a:endParaRPr lang="vi-V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95250" y="0"/>
            <a:ext cx="4779052" cy="10287000"/>
            <a:chOff x="0" y="0"/>
            <a:chExt cx="5355113" cy="11526982"/>
          </a:xfrm>
        </p:grpSpPr>
        <p:sp>
          <p:nvSpPr>
            <p:cNvPr id="3" name="Freeform 3"/>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4" name="Group 4"/>
          <p:cNvGrpSpPr/>
          <p:nvPr/>
        </p:nvGrpSpPr>
        <p:grpSpPr>
          <a:xfrm>
            <a:off x="-95250" y="0"/>
            <a:ext cx="3347655" cy="3608571"/>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grpSp>
        <p:nvGrpSpPr>
          <p:cNvPr id="6" name="Group 6"/>
          <p:cNvGrpSpPr/>
          <p:nvPr/>
        </p:nvGrpSpPr>
        <p:grpSpPr>
          <a:xfrm>
            <a:off x="1870953" y="190500"/>
            <a:ext cx="14546094" cy="5932752"/>
            <a:chOff x="0" y="170657"/>
            <a:chExt cx="19394792" cy="7910337"/>
          </a:xfrm>
        </p:grpSpPr>
        <p:sp>
          <p:nvSpPr>
            <p:cNvPr id="7" name="TextBox 7"/>
            <p:cNvSpPr txBox="1"/>
            <p:nvPr/>
          </p:nvSpPr>
          <p:spPr>
            <a:xfrm>
              <a:off x="0" y="7541456"/>
              <a:ext cx="19394792" cy="539538"/>
            </a:xfrm>
            <a:prstGeom prst="rect">
              <a:avLst/>
            </a:prstGeom>
          </p:spPr>
          <p:txBody>
            <a:bodyPr lIns="0" tIns="0" rIns="0" bIns="0" rtlCol="0" anchor="t">
              <a:spAutoFit/>
            </a:bodyPr>
            <a:lstStyle/>
            <a:p>
              <a:pPr algn="ctr">
                <a:lnSpc>
                  <a:spcPts val="3079"/>
                </a:lnSpc>
              </a:pPr>
              <a:endParaRPr/>
            </a:p>
          </p:txBody>
        </p:sp>
        <p:sp>
          <p:nvSpPr>
            <p:cNvPr id="8" name="TextBox 8"/>
            <p:cNvSpPr txBox="1"/>
            <p:nvPr/>
          </p:nvSpPr>
          <p:spPr>
            <a:xfrm>
              <a:off x="2345535" y="3052032"/>
              <a:ext cx="14703722" cy="2095500"/>
            </a:xfrm>
            <a:prstGeom prst="rect">
              <a:avLst/>
            </a:prstGeom>
          </p:spPr>
          <p:txBody>
            <a:bodyPr lIns="0" tIns="0" rIns="0" bIns="0" rtlCol="0" anchor="t">
              <a:spAutoFit/>
            </a:bodyPr>
            <a:lstStyle/>
            <a:p>
              <a:pPr algn="ctr">
                <a:lnSpc>
                  <a:spcPts val="4200"/>
                </a:lnSpc>
              </a:pPr>
              <a:r>
                <a:rPr lang="en-US" sz="3000" b="1">
                  <a:solidFill>
                    <a:srgbClr val="000000"/>
                  </a:solidFill>
                  <a:latin typeface="Arial Bold"/>
                  <a:ea typeface="Arial Bold"/>
                  <a:cs typeface="Arial Bold"/>
                  <a:sym typeface="Arial Bold"/>
                </a:rPr>
                <a:t>Báo Cáo Đồ Án Tốt Nghiệp</a:t>
              </a:r>
            </a:p>
            <a:p>
              <a:pPr algn="ctr">
                <a:lnSpc>
                  <a:spcPts val="4200"/>
                </a:lnSpc>
              </a:pPr>
              <a:endParaRPr lang="en-US" sz="3000" b="1">
                <a:solidFill>
                  <a:srgbClr val="000000"/>
                </a:solidFill>
                <a:latin typeface="Arial Bold"/>
                <a:ea typeface="Arial Bold"/>
                <a:cs typeface="Arial Bold"/>
                <a:sym typeface="Arial Bold"/>
              </a:endParaRPr>
            </a:p>
            <a:p>
              <a:pPr algn="ctr">
                <a:lnSpc>
                  <a:spcPts val="4199"/>
                </a:lnSpc>
              </a:pPr>
              <a:r>
                <a:rPr lang="en-US" sz="2999" b="1">
                  <a:solidFill>
                    <a:srgbClr val="000000"/>
                  </a:solidFill>
                  <a:latin typeface="Arial Bold"/>
                  <a:ea typeface="Arial Bold"/>
                  <a:cs typeface="Arial Bold"/>
                  <a:sym typeface="Arial Bold"/>
                </a:rPr>
                <a:t>Đề Tài</a:t>
              </a:r>
            </a:p>
          </p:txBody>
        </p:sp>
        <p:sp>
          <p:nvSpPr>
            <p:cNvPr id="9" name="TextBox 9"/>
            <p:cNvSpPr txBox="1"/>
            <p:nvPr/>
          </p:nvSpPr>
          <p:spPr>
            <a:xfrm>
              <a:off x="4942737" y="170657"/>
              <a:ext cx="12106519" cy="1532889"/>
            </a:xfrm>
            <a:prstGeom prst="rect">
              <a:avLst/>
            </a:prstGeom>
          </p:spPr>
          <p:txBody>
            <a:bodyPr lIns="0" tIns="0" rIns="0" bIns="0" rtlCol="0" anchor="t">
              <a:spAutoFit/>
            </a:bodyPr>
            <a:lstStyle/>
            <a:p>
              <a:pPr algn="ctr">
                <a:lnSpc>
                  <a:spcPts val="4620"/>
                </a:lnSpc>
              </a:pPr>
              <a:r>
                <a:rPr lang="en-US" sz="3300" b="1" dirty="0">
                  <a:solidFill>
                    <a:srgbClr val="000000"/>
                  </a:solidFill>
                  <a:latin typeface="Arial Bold"/>
                  <a:ea typeface="Arial Bold"/>
                  <a:cs typeface="Arial Bold"/>
                  <a:sym typeface="Arial Bold"/>
                </a:rPr>
                <a:t>TRƯỜNG KỸ THUẬT VÀ CÔNG NGHỆ</a:t>
              </a:r>
            </a:p>
            <a:p>
              <a:pPr algn="ctr">
                <a:lnSpc>
                  <a:spcPts val="4620"/>
                </a:lnSpc>
                <a:spcBef>
                  <a:spcPct val="0"/>
                </a:spcBef>
              </a:pPr>
              <a:r>
                <a:rPr lang="en-US" sz="3300" b="1" dirty="0">
                  <a:solidFill>
                    <a:srgbClr val="000000"/>
                  </a:solidFill>
                  <a:latin typeface="Arial Bold"/>
                  <a:ea typeface="Arial Bold"/>
                  <a:cs typeface="Arial Bold"/>
                  <a:sym typeface="Arial Bold"/>
                </a:rPr>
                <a:t>KHOA CÔNG NGHỆ THÔNG TIN</a:t>
              </a:r>
            </a:p>
          </p:txBody>
        </p:sp>
      </p:grpSp>
      <p:sp>
        <p:nvSpPr>
          <p:cNvPr id="10" name="Freeform 10"/>
          <p:cNvSpPr/>
          <p:nvPr/>
        </p:nvSpPr>
        <p:spPr>
          <a:xfrm>
            <a:off x="5102234" y="190500"/>
            <a:ext cx="1144703" cy="1145181"/>
          </a:xfrm>
          <a:custGeom>
            <a:avLst/>
            <a:gdLst/>
            <a:ahLst/>
            <a:cxnLst/>
            <a:rect l="l" t="t" r="r" b="b"/>
            <a:pathLst>
              <a:path w="1144703" h="1145181">
                <a:moveTo>
                  <a:pt x="0" y="0"/>
                </a:moveTo>
                <a:lnTo>
                  <a:pt x="1144703" y="0"/>
                </a:lnTo>
                <a:lnTo>
                  <a:pt x="1144703" y="1145181"/>
                </a:lnTo>
                <a:lnTo>
                  <a:pt x="0" y="1145181"/>
                </a:lnTo>
                <a:lnTo>
                  <a:pt x="0" y="0"/>
                </a:lnTo>
                <a:close/>
              </a:path>
            </a:pathLst>
          </a:custGeom>
          <a:blipFill>
            <a:blip r:embed="rId2"/>
            <a:stretch>
              <a:fillRect/>
            </a:stretch>
          </a:blipFill>
        </p:spPr>
      </p:sp>
      <p:sp>
        <p:nvSpPr>
          <p:cNvPr id="11" name="TextBox 11"/>
          <p:cNvSpPr txBox="1"/>
          <p:nvPr/>
        </p:nvSpPr>
        <p:spPr>
          <a:xfrm>
            <a:off x="1953155" y="4509135"/>
            <a:ext cx="14381689" cy="1173480"/>
          </a:xfrm>
          <a:prstGeom prst="rect">
            <a:avLst/>
          </a:prstGeom>
        </p:spPr>
        <p:txBody>
          <a:bodyPr lIns="0" tIns="0" rIns="0" bIns="0" rtlCol="0" anchor="t">
            <a:spAutoFit/>
          </a:bodyPr>
          <a:lstStyle/>
          <a:p>
            <a:pPr algn="ctr">
              <a:lnSpc>
                <a:spcPts val="4620"/>
              </a:lnSpc>
              <a:spcBef>
                <a:spcPct val="0"/>
              </a:spcBef>
            </a:pPr>
            <a:r>
              <a:rPr lang="en-US" sz="3300" b="1">
                <a:solidFill>
                  <a:srgbClr val="000000"/>
                </a:solidFill>
                <a:latin typeface="Arial Bold"/>
                <a:ea typeface="Arial Bold"/>
                <a:cs typeface="Arial Bold"/>
                <a:sym typeface="Arial Bold"/>
              </a:rPr>
              <a:t>PHÁT TRIỂN ỨNG DỤNG HỖ TRỢ QUẢNG BÁ DI SẢN VĂN HÓA </a:t>
            </a:r>
          </a:p>
          <a:p>
            <a:pPr algn="ctr">
              <a:lnSpc>
                <a:spcPts val="4620"/>
              </a:lnSpc>
              <a:spcBef>
                <a:spcPct val="0"/>
              </a:spcBef>
            </a:pPr>
            <a:r>
              <a:rPr lang="en-US" sz="3300" b="1">
                <a:solidFill>
                  <a:srgbClr val="000000"/>
                </a:solidFill>
                <a:latin typeface="Arial Bold"/>
                <a:ea typeface="Arial Bold"/>
                <a:cs typeface="Arial Bold"/>
                <a:sym typeface="Arial Bold"/>
              </a:rPr>
              <a:t>NGƯỜI KHMER NAM BỘ</a:t>
            </a:r>
          </a:p>
        </p:txBody>
      </p:sp>
      <p:sp>
        <p:nvSpPr>
          <p:cNvPr id="12" name="TextBox 12"/>
          <p:cNvSpPr txBox="1"/>
          <p:nvPr/>
        </p:nvSpPr>
        <p:spPr>
          <a:xfrm>
            <a:off x="3252405" y="6337565"/>
            <a:ext cx="5472524" cy="1066800"/>
          </a:xfrm>
          <a:prstGeom prst="rect">
            <a:avLst/>
          </a:prstGeom>
        </p:spPr>
        <p:txBody>
          <a:bodyPr lIns="0" tIns="0" rIns="0" bIns="0" rtlCol="0" anchor="t">
            <a:spAutoFit/>
          </a:bodyPr>
          <a:lstStyle/>
          <a:p>
            <a:pPr algn="ctr">
              <a:lnSpc>
                <a:spcPts val="4200"/>
              </a:lnSpc>
            </a:pPr>
            <a:r>
              <a:rPr lang="en-US" sz="3000">
                <a:solidFill>
                  <a:srgbClr val="000000"/>
                </a:solidFill>
                <a:latin typeface="Arial"/>
                <a:ea typeface="Arial"/>
                <a:cs typeface="Arial"/>
                <a:sym typeface="Arial"/>
              </a:rPr>
              <a:t>Giảng viên hướng dẫn:</a:t>
            </a:r>
          </a:p>
          <a:p>
            <a:pPr algn="ctr">
              <a:lnSpc>
                <a:spcPts val="4200"/>
              </a:lnSpc>
            </a:pPr>
            <a:r>
              <a:rPr lang="en-US" sz="3000">
                <a:solidFill>
                  <a:srgbClr val="000000"/>
                </a:solidFill>
                <a:latin typeface="Arial"/>
                <a:ea typeface="Arial"/>
                <a:cs typeface="Arial"/>
                <a:sym typeface="Arial"/>
              </a:rPr>
              <a:t>TS. Thạch Kọng Saoane</a:t>
            </a:r>
          </a:p>
        </p:txBody>
      </p:sp>
      <p:sp>
        <p:nvSpPr>
          <p:cNvPr id="13" name="TextBox 13"/>
          <p:cNvSpPr txBox="1"/>
          <p:nvPr/>
        </p:nvSpPr>
        <p:spPr>
          <a:xfrm>
            <a:off x="9786705" y="6337565"/>
            <a:ext cx="8142453" cy="1066800"/>
          </a:xfrm>
          <a:prstGeom prst="rect">
            <a:avLst/>
          </a:prstGeom>
        </p:spPr>
        <p:txBody>
          <a:bodyPr lIns="0" tIns="0" rIns="0" bIns="0" rtlCol="0" anchor="t">
            <a:spAutoFit/>
          </a:bodyPr>
          <a:lstStyle/>
          <a:p>
            <a:pPr algn="ctr">
              <a:lnSpc>
                <a:spcPts val="4200"/>
              </a:lnSpc>
            </a:pPr>
            <a:r>
              <a:rPr lang="en-US" sz="3000">
                <a:solidFill>
                  <a:srgbClr val="000000"/>
                </a:solidFill>
                <a:latin typeface="Arial"/>
                <a:ea typeface="Arial"/>
                <a:cs typeface="Arial"/>
                <a:sym typeface="Arial"/>
              </a:rPr>
              <a:t>Sinh viên thực hiện:</a:t>
            </a:r>
          </a:p>
          <a:p>
            <a:pPr algn="ctr">
              <a:lnSpc>
                <a:spcPts val="4200"/>
              </a:lnSpc>
            </a:pPr>
            <a:r>
              <a:rPr lang="en-US" sz="3000">
                <a:solidFill>
                  <a:srgbClr val="000000"/>
                </a:solidFill>
                <a:latin typeface="Arial"/>
                <a:ea typeface="Arial"/>
                <a:cs typeface="Arial"/>
                <a:sym typeface="Arial"/>
              </a:rPr>
              <a:t>Triệu Chanh Đa - 110122043 - DA22TTA</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6258401" y="0"/>
            <a:ext cx="2067430" cy="4450182"/>
            <a:chOff x="0" y="0"/>
            <a:chExt cx="5355113" cy="11526982"/>
          </a:xfrm>
        </p:grpSpPr>
        <p:sp>
          <p:nvSpPr>
            <p:cNvPr id="3" name="Freeform 3"/>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4" name="Group 4"/>
          <p:cNvGrpSpPr/>
          <p:nvPr/>
        </p:nvGrpSpPr>
        <p:grpSpPr>
          <a:xfrm rot="-10800000">
            <a:off x="13631224" y="2877572"/>
            <a:ext cx="7942901" cy="8561970"/>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
        <p:nvSpPr>
          <p:cNvPr id="6" name="TextBox 6"/>
          <p:cNvSpPr txBox="1"/>
          <p:nvPr/>
        </p:nvSpPr>
        <p:spPr>
          <a:xfrm>
            <a:off x="6027328" y="120162"/>
            <a:ext cx="4216344" cy="628650"/>
          </a:xfrm>
          <a:prstGeom prst="rect">
            <a:avLst/>
          </a:prstGeom>
        </p:spPr>
        <p:txBody>
          <a:bodyPr wrap="square" lIns="0" tIns="0" rIns="0" bIns="0" rtlCol="0" anchor="t">
            <a:spAutoFit/>
          </a:bodyPr>
          <a:lstStyle/>
          <a:p>
            <a:r>
              <a:rPr lang="vi-VN" sz="4000" b="1" dirty="0" smtClean="0">
                <a:solidFill>
                  <a:srgbClr val="000000"/>
                </a:solidFill>
                <a:latin typeface="Arial Bold"/>
                <a:ea typeface="Arial Bold"/>
                <a:cs typeface="Arial Bold"/>
                <a:sym typeface="Arial Bold"/>
              </a:rPr>
              <a:t>Lý do chọn đề tài </a:t>
            </a:r>
          </a:p>
        </p:txBody>
      </p:sp>
      <p:sp>
        <p:nvSpPr>
          <p:cNvPr id="7" name="TextBox 7"/>
          <p:cNvSpPr txBox="1"/>
          <p:nvPr/>
        </p:nvSpPr>
        <p:spPr>
          <a:xfrm>
            <a:off x="5706631" y="5940668"/>
            <a:ext cx="609820" cy="405765"/>
          </a:xfrm>
          <a:prstGeom prst="rect">
            <a:avLst/>
          </a:prstGeom>
        </p:spPr>
        <p:txBody>
          <a:bodyPr lIns="0" tIns="0" rIns="0" bIns="0" rtlCol="0" anchor="t">
            <a:spAutoFit/>
          </a:bodyPr>
          <a:lstStyle/>
          <a:p>
            <a:pPr algn="ctr">
              <a:lnSpc>
                <a:spcPts val="3359"/>
              </a:lnSpc>
            </a:pPr>
            <a:r>
              <a:rPr lang="en-US" sz="2400">
                <a:solidFill>
                  <a:srgbClr val="FEFFFD"/>
                </a:solidFill>
                <a:latin typeface="Muli"/>
                <a:ea typeface="Muli"/>
                <a:cs typeface="Muli"/>
                <a:sym typeface="Muli"/>
              </a:rPr>
              <a:t>6</a:t>
            </a:r>
          </a:p>
        </p:txBody>
      </p:sp>
      <p:sp>
        <p:nvSpPr>
          <p:cNvPr id="8" name="TextBox 8"/>
          <p:cNvSpPr txBox="1"/>
          <p:nvPr/>
        </p:nvSpPr>
        <p:spPr>
          <a:xfrm>
            <a:off x="660455" y="2672772"/>
            <a:ext cx="14950091" cy="3046988"/>
          </a:xfrm>
          <a:prstGeom prst="rect">
            <a:avLst/>
          </a:prstGeom>
        </p:spPr>
        <p:txBody>
          <a:bodyPr lIns="0" tIns="0" rIns="0" bIns="0" rtlCol="0" anchor="t">
            <a:spAutoFit/>
          </a:bodyPr>
          <a:lstStyle/>
          <a:p>
            <a:pPr marL="457200" indent="-457200">
              <a:lnSpc>
                <a:spcPct val="150000"/>
              </a:lnSpc>
              <a:buFont typeface="Arial" pitchFamily="34" charset="0"/>
              <a:buChar char="•"/>
            </a:pPr>
            <a:r>
              <a:rPr lang="vi-VN" sz="3300" dirty="0" smtClean="0">
                <a:solidFill>
                  <a:srgbClr val="000000"/>
                </a:solidFill>
                <a:latin typeface="Arial"/>
                <a:ea typeface="Arial"/>
                <a:cs typeface="Arial"/>
                <a:sym typeface="Arial"/>
              </a:rPr>
              <a:t>Văn hóa Khmer: Kho tàng di sản Nam Bộ vô cùng phong phú và đồ sộ</a:t>
            </a:r>
            <a:r>
              <a:rPr lang="vi-VN" sz="3300" dirty="0" smtClean="0">
                <a:solidFill>
                  <a:srgbClr val="000000"/>
                </a:solidFill>
                <a:latin typeface="Arial"/>
                <a:ea typeface="Arial"/>
                <a:cs typeface="Arial"/>
                <a:sym typeface="Arial"/>
              </a:rPr>
              <a:t>.</a:t>
            </a:r>
            <a:endParaRPr lang="vi-VN" sz="3300" dirty="0" smtClean="0">
              <a:solidFill>
                <a:srgbClr val="000000"/>
              </a:solidFill>
              <a:latin typeface="Arial"/>
              <a:ea typeface="Arial"/>
              <a:cs typeface="Arial"/>
              <a:sym typeface="Arial"/>
            </a:endParaRPr>
          </a:p>
          <a:p>
            <a:pPr marL="457200" indent="-457200">
              <a:lnSpc>
                <a:spcPct val="150000"/>
              </a:lnSpc>
              <a:buFont typeface="Arial" pitchFamily="34" charset="0"/>
              <a:buChar char="•"/>
            </a:pPr>
            <a:r>
              <a:rPr lang="vi-VN" sz="3300" dirty="0" smtClean="0">
                <a:solidFill>
                  <a:srgbClr val="000000"/>
                </a:solidFill>
                <a:latin typeface="Arial"/>
                <a:ea typeface="Arial"/>
                <a:cs typeface="Arial"/>
                <a:sym typeface="Arial"/>
              </a:rPr>
              <a:t>Quảng bá cũ: Các kênh truyền thống phạm vi tiếp cận hẹp, rời rạc</a:t>
            </a:r>
            <a:r>
              <a:rPr lang="vi-VN" sz="3300" dirty="0" smtClean="0">
                <a:solidFill>
                  <a:srgbClr val="000000"/>
                </a:solidFill>
                <a:latin typeface="Arial"/>
                <a:ea typeface="Arial"/>
                <a:cs typeface="Arial"/>
                <a:sym typeface="Arial"/>
              </a:rPr>
              <a:t>.</a:t>
            </a:r>
            <a:endParaRPr lang="vi-VN" sz="3300" dirty="0" smtClean="0">
              <a:solidFill>
                <a:srgbClr val="000000"/>
              </a:solidFill>
              <a:latin typeface="Arial"/>
              <a:ea typeface="Arial"/>
              <a:cs typeface="Arial"/>
              <a:sym typeface="Arial"/>
            </a:endParaRPr>
          </a:p>
          <a:p>
            <a:pPr marL="457200" indent="-457200">
              <a:lnSpc>
                <a:spcPct val="150000"/>
              </a:lnSpc>
              <a:buFont typeface="Arial" pitchFamily="34" charset="0"/>
              <a:buChar char="•"/>
            </a:pPr>
            <a:r>
              <a:rPr lang="vi-VN" sz="3300" dirty="0" smtClean="0">
                <a:solidFill>
                  <a:srgbClr val="000000"/>
                </a:solidFill>
                <a:latin typeface="Arial"/>
                <a:ea typeface="Arial"/>
                <a:cs typeface="Arial"/>
                <a:sym typeface="Arial"/>
              </a:rPr>
              <a:t>Nguy cơ mai một: Bản sắc văn hóa đối mặt thách thức trong thời đại số</a:t>
            </a:r>
            <a:r>
              <a:rPr lang="vi-VN" sz="3300" dirty="0" smtClean="0">
                <a:solidFill>
                  <a:srgbClr val="000000"/>
                </a:solidFill>
                <a:latin typeface="Arial"/>
                <a:ea typeface="Arial"/>
                <a:cs typeface="Arial"/>
                <a:sym typeface="Arial"/>
              </a:rPr>
              <a:t>.</a:t>
            </a:r>
            <a:endParaRPr lang="vi-VN" sz="3300" dirty="0" smtClean="0">
              <a:solidFill>
                <a:srgbClr val="000000"/>
              </a:solidFill>
              <a:latin typeface="Arial"/>
              <a:ea typeface="Arial"/>
              <a:cs typeface="Arial"/>
              <a:sym typeface="Arial"/>
            </a:endParaRPr>
          </a:p>
          <a:p>
            <a:pPr marL="457200" indent="-457200">
              <a:lnSpc>
                <a:spcPct val="150000"/>
              </a:lnSpc>
              <a:buFont typeface="Arial" pitchFamily="34" charset="0"/>
              <a:buChar char="•"/>
            </a:pPr>
            <a:r>
              <a:rPr lang="vi-VN" sz="3300" dirty="0" smtClean="0">
                <a:solidFill>
                  <a:srgbClr val="000000"/>
                </a:solidFill>
                <a:latin typeface="Arial"/>
                <a:ea typeface="Arial"/>
                <a:cs typeface="Arial"/>
                <a:sym typeface="Arial"/>
              </a:rPr>
              <a:t>Giải pháp công nghệ: Xây dựng ứng dụng di động số hóa và quảng bá di sản.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673828" y="0"/>
            <a:ext cx="3347655" cy="3608571"/>
            <a:chOff x="0" y="0"/>
            <a:chExt cx="1204093" cy="1297940"/>
          </a:xfrm>
        </p:grpSpPr>
        <p:sp>
          <p:nvSpPr>
            <p:cNvPr id="3" name="Freeform 3"/>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B57F4"/>
            </a:solidFill>
          </p:spPr>
        </p:sp>
      </p:grpSp>
      <p:grpSp>
        <p:nvGrpSpPr>
          <p:cNvPr id="4" name="Group 4"/>
          <p:cNvGrpSpPr/>
          <p:nvPr/>
        </p:nvGrpSpPr>
        <p:grpSpPr>
          <a:xfrm rot="-10800000">
            <a:off x="16614172" y="6678429"/>
            <a:ext cx="3347655" cy="3608571"/>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
        <p:nvSpPr>
          <p:cNvPr id="6" name="TextBox 6"/>
          <p:cNvSpPr txBox="1"/>
          <p:nvPr/>
        </p:nvSpPr>
        <p:spPr>
          <a:xfrm>
            <a:off x="6621877" y="95250"/>
            <a:ext cx="5044245" cy="628650"/>
          </a:xfrm>
          <a:prstGeom prst="rect">
            <a:avLst/>
          </a:prstGeom>
        </p:spPr>
        <p:txBody>
          <a:bodyPr wrap="square" lIns="0" tIns="0" rIns="0" bIns="0" rtlCol="0" anchor="t">
            <a:spAutoFit/>
          </a:bodyPr>
          <a:lstStyle/>
          <a:p>
            <a:r>
              <a:rPr lang="en-US" sz="4000" b="1" dirty="0" err="1" smtClean="0">
                <a:solidFill>
                  <a:srgbClr val="000000"/>
                </a:solidFill>
                <a:latin typeface="Arial Bold"/>
                <a:ea typeface="Arial Bold"/>
                <a:cs typeface="Arial Bold"/>
                <a:sym typeface="Arial Bold"/>
              </a:rPr>
              <a:t>Mục</a:t>
            </a:r>
            <a:r>
              <a:rPr lang="en-US" sz="4000" b="1" dirty="0" smtClean="0">
                <a:solidFill>
                  <a:srgbClr val="000000"/>
                </a:solidFill>
                <a:latin typeface="Arial Bold"/>
                <a:ea typeface="Arial Bold"/>
                <a:cs typeface="Arial Bold"/>
                <a:sym typeface="Arial Bold"/>
              </a:rPr>
              <a:t> </a:t>
            </a:r>
            <a:r>
              <a:rPr lang="en-US" sz="4000" b="1" dirty="0" err="1" smtClean="0">
                <a:solidFill>
                  <a:srgbClr val="000000"/>
                </a:solidFill>
                <a:latin typeface="Arial Bold"/>
                <a:ea typeface="Arial Bold"/>
                <a:cs typeface="Arial Bold"/>
                <a:sym typeface="Arial Bold"/>
              </a:rPr>
              <a:t>tiêu</a:t>
            </a:r>
            <a:r>
              <a:rPr lang="en-US" sz="4000" b="1" dirty="0" smtClean="0">
                <a:solidFill>
                  <a:srgbClr val="000000"/>
                </a:solidFill>
                <a:latin typeface="Arial Bold"/>
                <a:ea typeface="Arial Bold"/>
                <a:cs typeface="Arial Bold"/>
                <a:sym typeface="Arial Bold"/>
              </a:rPr>
              <a:t> </a:t>
            </a:r>
            <a:r>
              <a:rPr lang="en-US" sz="4000" b="1" dirty="0" err="1" smtClean="0">
                <a:solidFill>
                  <a:srgbClr val="000000"/>
                </a:solidFill>
                <a:latin typeface="Arial Bold"/>
                <a:ea typeface="Arial Bold"/>
                <a:cs typeface="Arial Bold"/>
                <a:sym typeface="Arial Bold"/>
              </a:rPr>
              <a:t>nghiên</a:t>
            </a:r>
            <a:r>
              <a:rPr lang="en-US" sz="4000" b="1" dirty="0" smtClean="0">
                <a:solidFill>
                  <a:srgbClr val="000000"/>
                </a:solidFill>
                <a:latin typeface="Arial Bold"/>
                <a:ea typeface="Arial Bold"/>
                <a:cs typeface="Arial Bold"/>
                <a:sym typeface="Arial Bold"/>
              </a:rPr>
              <a:t> </a:t>
            </a:r>
            <a:r>
              <a:rPr lang="en-US" sz="4000" b="1" dirty="0" err="1" smtClean="0">
                <a:solidFill>
                  <a:srgbClr val="000000"/>
                </a:solidFill>
                <a:latin typeface="Arial Bold"/>
                <a:ea typeface="Arial Bold"/>
                <a:cs typeface="Arial Bold"/>
                <a:sym typeface="Arial Bold"/>
              </a:rPr>
              <a:t>cứu</a:t>
            </a:r>
            <a:endParaRPr lang="en-US" sz="4000" b="1" dirty="0" smtClean="0">
              <a:solidFill>
                <a:srgbClr val="000000"/>
              </a:solidFill>
              <a:latin typeface="Arial Bold"/>
              <a:ea typeface="Arial Bold"/>
              <a:cs typeface="Arial Bold"/>
              <a:sym typeface="Arial Bold"/>
            </a:endParaRPr>
          </a:p>
        </p:txBody>
      </p:sp>
      <p:sp>
        <p:nvSpPr>
          <p:cNvPr id="7" name="TextBox 7"/>
          <p:cNvSpPr txBox="1"/>
          <p:nvPr/>
        </p:nvSpPr>
        <p:spPr>
          <a:xfrm>
            <a:off x="1028700" y="3124507"/>
            <a:ext cx="16230600" cy="3046219"/>
          </a:xfrm>
          <a:prstGeom prst="rect">
            <a:avLst/>
          </a:prstGeom>
        </p:spPr>
        <p:txBody>
          <a:bodyPr lIns="0" tIns="0" rIns="0" bIns="0" rtlCol="0" anchor="t">
            <a:spAutoFit/>
          </a:bodyPr>
          <a:lstStyle/>
          <a:p>
            <a:pPr marL="457200" indent="-457200">
              <a:lnSpc>
                <a:spcPct val="150000"/>
              </a:lnSpc>
              <a:buFont typeface="Arial" pitchFamily="34" charset="0"/>
              <a:buChar char="•"/>
            </a:pPr>
            <a:r>
              <a:rPr lang="vi-VN" sz="3299" dirty="0" smtClean="0">
                <a:solidFill>
                  <a:srgbClr val="000000"/>
                </a:solidFill>
                <a:latin typeface="Arial"/>
                <a:ea typeface="Arial"/>
                <a:cs typeface="Arial"/>
                <a:sym typeface="Arial"/>
              </a:rPr>
              <a:t>Số hóa: Xây dựng dữ liệu chùa cổ, lịch lễ hội và nghệ thuật dân gian</a:t>
            </a:r>
            <a:r>
              <a:rPr lang="vi-VN" sz="3299" dirty="0" smtClean="0">
                <a:solidFill>
                  <a:srgbClr val="000000"/>
                </a:solidFill>
                <a:latin typeface="Arial"/>
                <a:ea typeface="Arial"/>
                <a:cs typeface="Arial"/>
                <a:sym typeface="Arial"/>
              </a:rPr>
              <a:t>.</a:t>
            </a:r>
            <a:endParaRPr lang="vi-VN" sz="3299" dirty="0" smtClean="0">
              <a:solidFill>
                <a:srgbClr val="000000"/>
              </a:solidFill>
              <a:latin typeface="Arial"/>
              <a:ea typeface="Arial"/>
              <a:cs typeface="Arial"/>
              <a:sym typeface="Arial"/>
            </a:endParaRPr>
          </a:p>
          <a:p>
            <a:pPr marL="457200" indent="-457200">
              <a:lnSpc>
                <a:spcPct val="150000"/>
              </a:lnSpc>
              <a:buFont typeface="Arial" pitchFamily="34" charset="0"/>
              <a:buChar char="•"/>
            </a:pPr>
            <a:r>
              <a:rPr lang="vi-VN" sz="3299" dirty="0" smtClean="0">
                <a:solidFill>
                  <a:srgbClr val="000000"/>
                </a:solidFill>
                <a:latin typeface="Arial"/>
                <a:ea typeface="Arial"/>
                <a:cs typeface="Arial"/>
                <a:sym typeface="Arial"/>
              </a:rPr>
              <a:t>Ứng dụng: Phát triển app đa nền tảng (Android/iOS) giao diện đậm nét Khmer</a:t>
            </a:r>
            <a:r>
              <a:rPr lang="vi-VN" sz="3299" dirty="0" smtClean="0">
                <a:solidFill>
                  <a:srgbClr val="000000"/>
                </a:solidFill>
                <a:latin typeface="Arial"/>
                <a:ea typeface="Arial"/>
                <a:cs typeface="Arial"/>
                <a:sym typeface="Arial"/>
              </a:rPr>
              <a:t>.</a:t>
            </a:r>
            <a:endParaRPr lang="vi-VN" sz="3299" dirty="0" smtClean="0">
              <a:solidFill>
                <a:srgbClr val="000000"/>
              </a:solidFill>
              <a:latin typeface="Arial"/>
              <a:ea typeface="Arial"/>
              <a:cs typeface="Arial"/>
              <a:sym typeface="Arial"/>
            </a:endParaRPr>
          </a:p>
          <a:p>
            <a:pPr marL="457200" indent="-457200">
              <a:lnSpc>
                <a:spcPct val="150000"/>
              </a:lnSpc>
              <a:buFont typeface="Arial" pitchFamily="34" charset="0"/>
              <a:buChar char="•"/>
            </a:pPr>
            <a:r>
              <a:rPr lang="vi-VN" sz="3299" dirty="0" smtClean="0">
                <a:solidFill>
                  <a:srgbClr val="000000"/>
                </a:solidFill>
                <a:latin typeface="Arial"/>
                <a:ea typeface="Arial"/>
                <a:cs typeface="Arial"/>
                <a:sym typeface="Arial"/>
              </a:rPr>
              <a:t>Tiện ích: Đa ngôn ngữ (Việt - Khmer - Anh), bản đồ định vị, lịch sự kiện</a:t>
            </a:r>
            <a:r>
              <a:rPr lang="vi-VN" sz="3299" dirty="0" smtClean="0">
                <a:solidFill>
                  <a:srgbClr val="000000"/>
                </a:solidFill>
                <a:latin typeface="Arial"/>
                <a:ea typeface="Arial"/>
                <a:cs typeface="Arial"/>
                <a:sym typeface="Arial"/>
              </a:rPr>
              <a:t>.</a:t>
            </a:r>
            <a:endParaRPr lang="vi-VN" sz="3299" dirty="0" smtClean="0">
              <a:solidFill>
                <a:srgbClr val="000000"/>
              </a:solidFill>
              <a:latin typeface="Arial"/>
              <a:ea typeface="Arial"/>
              <a:cs typeface="Arial"/>
              <a:sym typeface="Arial"/>
            </a:endParaRPr>
          </a:p>
          <a:p>
            <a:pPr marL="457200" indent="-457200">
              <a:lnSpc>
                <a:spcPct val="150000"/>
              </a:lnSpc>
              <a:buFont typeface="Arial" pitchFamily="34" charset="0"/>
              <a:buChar char="•"/>
            </a:pPr>
            <a:r>
              <a:rPr lang="vi-VN" sz="3299" dirty="0" smtClean="0">
                <a:solidFill>
                  <a:srgbClr val="000000"/>
                </a:solidFill>
                <a:latin typeface="Arial"/>
                <a:ea typeface="Arial"/>
                <a:cs typeface="Arial"/>
                <a:sym typeface="Arial"/>
              </a:rPr>
              <a:t>Quản trị: Thiết lập hệ thống Admin kiểm duyệt bài viết đóng góp cộng đồng.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750282" y="0"/>
            <a:ext cx="3367465" cy="3629924"/>
            <a:chOff x="0" y="0"/>
            <a:chExt cx="1204093" cy="1297940"/>
          </a:xfrm>
        </p:grpSpPr>
        <p:sp>
          <p:nvSpPr>
            <p:cNvPr id="3" name="Freeform 3"/>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B57F4"/>
            </a:solidFill>
          </p:spPr>
        </p:sp>
      </p:grpSp>
      <p:grpSp>
        <p:nvGrpSpPr>
          <p:cNvPr id="4" name="Group 4"/>
          <p:cNvGrpSpPr/>
          <p:nvPr/>
        </p:nvGrpSpPr>
        <p:grpSpPr>
          <a:xfrm>
            <a:off x="0" y="456337"/>
            <a:ext cx="4741948" cy="10207133"/>
            <a:chOff x="0" y="0"/>
            <a:chExt cx="5355113" cy="11526982"/>
          </a:xfrm>
        </p:grpSpPr>
        <p:sp>
          <p:nvSpPr>
            <p:cNvPr id="5" name="Freeform 5"/>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11476"/>
            </a:solidFill>
          </p:spPr>
        </p:sp>
      </p:grpSp>
      <p:sp>
        <p:nvSpPr>
          <p:cNvPr id="6" name="TextBox 6"/>
          <p:cNvSpPr txBox="1"/>
          <p:nvPr/>
        </p:nvSpPr>
        <p:spPr>
          <a:xfrm>
            <a:off x="6143482" y="95250"/>
            <a:ext cx="8203218" cy="628650"/>
          </a:xfrm>
          <a:prstGeom prst="rect">
            <a:avLst/>
          </a:prstGeom>
        </p:spPr>
        <p:txBody>
          <a:bodyPr wrap="square" lIns="0" tIns="0" rIns="0" bIns="0" rtlCol="0" anchor="t">
            <a:spAutoFit/>
          </a:bodyPr>
          <a:lstStyle/>
          <a:p>
            <a:r>
              <a:rPr lang="en-US" sz="4000" b="1" dirty="0" err="1">
                <a:solidFill>
                  <a:srgbClr val="000000"/>
                </a:solidFill>
                <a:latin typeface="Arial Bold"/>
                <a:ea typeface="Arial Bold"/>
                <a:cs typeface="Arial Bold"/>
                <a:sym typeface="Arial Bold"/>
              </a:rPr>
              <a:t>Đối</a:t>
            </a:r>
            <a:r>
              <a:rPr lang="en-US" sz="4000" b="1" dirty="0">
                <a:solidFill>
                  <a:srgbClr val="000000"/>
                </a:solidFill>
                <a:latin typeface="Arial Bold"/>
                <a:ea typeface="Arial Bold"/>
                <a:cs typeface="Arial Bold"/>
                <a:sym typeface="Arial Bold"/>
              </a:rPr>
              <a:t> </a:t>
            </a:r>
            <a:r>
              <a:rPr lang="en-US" sz="4000" b="1" dirty="0" err="1">
                <a:solidFill>
                  <a:srgbClr val="000000"/>
                </a:solidFill>
                <a:latin typeface="Arial Bold"/>
                <a:ea typeface="Arial Bold"/>
                <a:cs typeface="Arial Bold"/>
                <a:sym typeface="Arial Bold"/>
              </a:rPr>
              <a:t>tượng</a:t>
            </a:r>
            <a:r>
              <a:rPr lang="en-US" sz="4000" b="1" dirty="0">
                <a:solidFill>
                  <a:srgbClr val="000000"/>
                </a:solidFill>
                <a:latin typeface="Arial Bold"/>
                <a:ea typeface="Arial Bold"/>
                <a:cs typeface="Arial Bold"/>
                <a:sym typeface="Arial Bold"/>
              </a:rPr>
              <a:t> </a:t>
            </a:r>
            <a:r>
              <a:rPr lang="en-US" sz="4000" b="1" dirty="0" err="1">
                <a:solidFill>
                  <a:srgbClr val="000000"/>
                </a:solidFill>
                <a:latin typeface="Arial Bold"/>
                <a:ea typeface="Arial Bold"/>
                <a:cs typeface="Arial Bold"/>
                <a:sym typeface="Arial Bold"/>
              </a:rPr>
              <a:t>và</a:t>
            </a:r>
            <a:r>
              <a:rPr lang="en-US" sz="4000" b="1" dirty="0">
                <a:solidFill>
                  <a:srgbClr val="000000"/>
                </a:solidFill>
                <a:latin typeface="Arial Bold"/>
                <a:ea typeface="Arial Bold"/>
                <a:cs typeface="Arial Bold"/>
                <a:sym typeface="Arial Bold"/>
              </a:rPr>
              <a:t> </a:t>
            </a:r>
            <a:r>
              <a:rPr lang="en-US" sz="4000" b="1" dirty="0" err="1">
                <a:solidFill>
                  <a:srgbClr val="000000"/>
                </a:solidFill>
                <a:latin typeface="Arial Bold"/>
                <a:ea typeface="Arial Bold"/>
                <a:cs typeface="Arial Bold"/>
                <a:sym typeface="Arial Bold"/>
              </a:rPr>
              <a:t>Phạm</a:t>
            </a:r>
            <a:r>
              <a:rPr lang="en-US" sz="4000" b="1" dirty="0">
                <a:solidFill>
                  <a:srgbClr val="000000"/>
                </a:solidFill>
                <a:latin typeface="Arial Bold"/>
                <a:ea typeface="Arial Bold"/>
                <a:cs typeface="Arial Bold"/>
                <a:sym typeface="Arial Bold"/>
              </a:rPr>
              <a:t> vi </a:t>
            </a:r>
            <a:r>
              <a:rPr lang="en-US" sz="4000" b="1" dirty="0" err="1">
                <a:solidFill>
                  <a:srgbClr val="000000"/>
                </a:solidFill>
                <a:latin typeface="Arial Bold"/>
                <a:ea typeface="Arial Bold"/>
                <a:cs typeface="Arial Bold"/>
                <a:sym typeface="Arial Bold"/>
              </a:rPr>
              <a:t>nghiên</a:t>
            </a:r>
            <a:r>
              <a:rPr lang="en-US" sz="4000" b="1" dirty="0">
                <a:solidFill>
                  <a:srgbClr val="000000"/>
                </a:solidFill>
                <a:latin typeface="Arial Bold"/>
                <a:ea typeface="Arial Bold"/>
                <a:cs typeface="Arial Bold"/>
                <a:sym typeface="Arial Bold"/>
              </a:rPr>
              <a:t> </a:t>
            </a:r>
            <a:r>
              <a:rPr lang="en-US" sz="4000" b="1" dirty="0" err="1">
                <a:solidFill>
                  <a:srgbClr val="000000"/>
                </a:solidFill>
                <a:latin typeface="Arial Bold"/>
                <a:ea typeface="Arial Bold"/>
                <a:cs typeface="Arial Bold"/>
                <a:sym typeface="Arial Bold"/>
              </a:rPr>
              <a:t>cứu</a:t>
            </a:r>
            <a:endParaRPr lang="en-US" sz="4000" b="1" dirty="0">
              <a:solidFill>
                <a:srgbClr val="000000"/>
              </a:solidFill>
              <a:latin typeface="Arial Bold"/>
              <a:ea typeface="Arial Bold"/>
              <a:cs typeface="Arial Bold"/>
              <a:sym typeface="Arial Bold"/>
            </a:endParaRPr>
          </a:p>
        </p:txBody>
      </p:sp>
      <p:sp>
        <p:nvSpPr>
          <p:cNvPr id="7" name="TextBox 7"/>
          <p:cNvSpPr txBox="1"/>
          <p:nvPr/>
        </p:nvSpPr>
        <p:spPr>
          <a:xfrm>
            <a:off x="2583184" y="1773069"/>
            <a:ext cx="15323815" cy="3046219"/>
          </a:xfrm>
          <a:prstGeom prst="rect">
            <a:avLst/>
          </a:prstGeom>
        </p:spPr>
        <p:txBody>
          <a:bodyPr wrap="square" lIns="0" tIns="0" rIns="0" bIns="0" rtlCol="0" anchor="t">
            <a:spAutoFit/>
          </a:bodyPr>
          <a:lstStyle/>
          <a:p>
            <a:pPr marL="457200" indent="-457200">
              <a:lnSpc>
                <a:spcPct val="150000"/>
              </a:lnSpc>
              <a:buFont typeface="Arial" pitchFamily="34" charset="0"/>
              <a:buChar char="•"/>
            </a:pPr>
            <a:r>
              <a:rPr lang="vi-VN" sz="3299" dirty="0" smtClean="0">
                <a:solidFill>
                  <a:srgbClr val="000000"/>
                </a:solidFill>
                <a:latin typeface="Arial"/>
                <a:ea typeface="Arial"/>
                <a:cs typeface="Arial"/>
                <a:sym typeface="Arial"/>
              </a:rPr>
              <a:t>Đối tượng: Di sản vật thể (chùa cổ) và phi vật thể (lễ hội, nghệ thuật).</a:t>
            </a:r>
          </a:p>
          <a:p>
            <a:pPr marL="457200" indent="-457200">
              <a:lnSpc>
                <a:spcPct val="150000"/>
              </a:lnSpc>
              <a:buFont typeface="Arial" pitchFamily="34" charset="0"/>
              <a:buChar char="•"/>
            </a:pPr>
            <a:r>
              <a:rPr lang="vi-VN" sz="3299" dirty="0" smtClean="0">
                <a:solidFill>
                  <a:srgbClr val="000000"/>
                </a:solidFill>
                <a:latin typeface="Arial"/>
                <a:ea typeface="Arial"/>
                <a:cs typeface="Arial"/>
                <a:sym typeface="Arial"/>
              </a:rPr>
              <a:t>Địa lý: Khu vực Nam Bộ (bao gồm cả Đông và Tây Nam Bộ, các nơi đông người Khmer).</a:t>
            </a:r>
          </a:p>
          <a:p>
            <a:pPr marL="457200" indent="-457200">
              <a:lnSpc>
                <a:spcPct val="150000"/>
              </a:lnSpc>
              <a:buFont typeface="Arial" pitchFamily="34" charset="0"/>
              <a:buChar char="•"/>
            </a:pPr>
            <a:r>
              <a:rPr lang="vi-VN" sz="3299" dirty="0" smtClean="0">
                <a:solidFill>
                  <a:srgbClr val="000000"/>
                </a:solidFill>
                <a:latin typeface="Arial"/>
                <a:ea typeface="Arial"/>
                <a:cs typeface="Arial"/>
                <a:sym typeface="Arial"/>
              </a:rPr>
              <a:t>Người dùng: Du khách trong/ngoài nước, nhà nghiên cứu, cộng đồng Khmer.</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6258401" y="0"/>
            <a:ext cx="2067430" cy="4450182"/>
            <a:chOff x="0" y="0"/>
            <a:chExt cx="5355113" cy="11526982"/>
          </a:xfrm>
        </p:grpSpPr>
        <p:sp>
          <p:nvSpPr>
            <p:cNvPr id="3" name="Freeform 3"/>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4" name="Group 4"/>
          <p:cNvGrpSpPr/>
          <p:nvPr/>
        </p:nvGrpSpPr>
        <p:grpSpPr>
          <a:xfrm rot="-10800000">
            <a:off x="13631224" y="2877572"/>
            <a:ext cx="7942901" cy="8561970"/>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
        <p:nvSpPr>
          <p:cNvPr id="6" name="TextBox 6"/>
          <p:cNvSpPr txBox="1"/>
          <p:nvPr/>
        </p:nvSpPr>
        <p:spPr>
          <a:xfrm>
            <a:off x="1274908" y="161307"/>
            <a:ext cx="15597945" cy="619125"/>
          </a:xfrm>
          <a:prstGeom prst="rect">
            <a:avLst/>
          </a:prstGeom>
        </p:spPr>
        <p:txBody>
          <a:bodyPr lIns="0" tIns="0" rIns="0" bIns="0" rtlCol="0" anchor="t">
            <a:spAutoFit/>
          </a:bodyPr>
          <a:lstStyle/>
          <a:p>
            <a:r>
              <a:rPr lang="en-US" sz="4000" b="1">
                <a:solidFill>
                  <a:srgbClr val="000000"/>
                </a:solidFill>
                <a:latin typeface="Muli Bold"/>
                <a:ea typeface="Muli Bold"/>
                <a:cs typeface="Muli Bold"/>
                <a:sym typeface="Muli Bold"/>
              </a:rPr>
              <a:t>Phương pháp nghiên cứu &amp; Phát triển</a:t>
            </a:r>
          </a:p>
        </p:txBody>
      </p:sp>
      <p:sp>
        <p:nvSpPr>
          <p:cNvPr id="7" name="TextBox 7"/>
          <p:cNvSpPr txBox="1"/>
          <p:nvPr/>
        </p:nvSpPr>
        <p:spPr>
          <a:xfrm>
            <a:off x="685800" y="3238500"/>
            <a:ext cx="15430500" cy="3046219"/>
          </a:xfrm>
          <a:prstGeom prst="rect">
            <a:avLst/>
          </a:prstGeom>
        </p:spPr>
        <p:txBody>
          <a:bodyPr wrap="square" lIns="0" tIns="0" rIns="0" bIns="0" rtlCol="0" anchor="t">
            <a:spAutoFit/>
          </a:bodyPr>
          <a:lstStyle/>
          <a:p>
            <a:pPr marL="457200" indent="-457200">
              <a:lnSpc>
                <a:spcPct val="150000"/>
              </a:lnSpc>
              <a:buFont typeface="Arial" pitchFamily="34" charset="0"/>
              <a:buChar char="•"/>
            </a:pPr>
            <a:r>
              <a:rPr lang="en-US" sz="3299" dirty="0" err="1">
                <a:solidFill>
                  <a:srgbClr val="000000"/>
                </a:solidFill>
                <a:latin typeface="Arial"/>
                <a:ea typeface="Arial"/>
                <a:cs typeface="Arial"/>
                <a:sym typeface="Arial"/>
              </a:rPr>
              <a:t>Tư liệu: Khảo sát chùa cổ Khmer, cập nhật lịch lễ hội và tọa độ GPS.</a:t>
            </a:r>
          </a:p>
          <a:p>
            <a:pPr marL="457200" indent="-457200">
              <a:lnSpc>
                <a:spcPct val="150000"/>
              </a:lnSpc>
              <a:buFont typeface="Arial" pitchFamily="34" charset="0"/>
              <a:buChar char="•"/>
            </a:pPr>
            <a:r>
              <a:rPr lang="en-US" sz="3299" dirty="0" err="1">
                <a:solidFill>
                  <a:srgbClr val="000000"/>
                </a:solidFill>
                <a:latin typeface="Arial"/>
                <a:ea typeface="Arial"/>
                <a:cs typeface="Arial"/>
                <a:sym typeface="Arial"/>
              </a:rPr>
              <a:t>Công nghệ: Ứng dụng lập trình React Native/Expo và database Firestore.</a:t>
            </a:r>
          </a:p>
          <a:p>
            <a:pPr marL="457200" indent="-457200">
              <a:lnSpc>
                <a:spcPct val="150000"/>
              </a:lnSpc>
              <a:buFont typeface="Arial" pitchFamily="34" charset="0"/>
              <a:buChar char="•"/>
            </a:pPr>
            <a:r>
              <a:rPr lang="en-US" sz="3299" dirty="0" err="1">
                <a:solidFill>
                  <a:srgbClr val="000000"/>
                </a:solidFill>
                <a:latin typeface="Arial"/>
                <a:ea typeface="Arial"/>
                <a:cs typeface="Arial"/>
                <a:sym typeface="Arial"/>
              </a:rPr>
              <a:t>Thiết kế: Phác họa sơ đồ UML, xây dựng cây điều hướng tệp tin và DB schema.</a:t>
            </a:r>
          </a:p>
          <a:p>
            <a:pPr marL="457200" indent="-457200">
              <a:lnSpc>
                <a:spcPct val="150000"/>
              </a:lnSpc>
              <a:buFont typeface="Arial" pitchFamily="34" charset="0"/>
              <a:buChar char="•"/>
            </a:pPr>
            <a:r>
              <a:rPr lang="en-US" sz="3299" dirty="0" err="1">
                <a:solidFill>
                  <a:srgbClr val="000000"/>
                </a:solidFill>
                <a:latin typeface="Arial"/>
                <a:ea typeface="Arial"/>
                <a:cs typeface="Arial"/>
                <a:sym typeface="Arial"/>
              </a:rPr>
              <a:t>Thực nghiệm: Phát triển theo mô hình Agile, tích hợp API Leaflet &amp; Cloudinary.</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95250" y="0"/>
            <a:ext cx="4779052" cy="10287000"/>
            <a:chOff x="0" y="0"/>
            <a:chExt cx="5355113" cy="11526982"/>
          </a:xfrm>
        </p:grpSpPr>
        <p:sp>
          <p:nvSpPr>
            <p:cNvPr id="3" name="Freeform 3"/>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4" name="Group 4"/>
          <p:cNvGrpSpPr/>
          <p:nvPr/>
        </p:nvGrpSpPr>
        <p:grpSpPr>
          <a:xfrm>
            <a:off x="-95250" y="0"/>
            <a:ext cx="3347655" cy="3608571"/>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
        <p:nvSpPr>
          <p:cNvPr id="6" name="Freeform 6"/>
          <p:cNvSpPr/>
          <p:nvPr/>
        </p:nvSpPr>
        <p:spPr>
          <a:xfrm>
            <a:off x="2668119" y="2515805"/>
            <a:ext cx="1917173" cy="1917173"/>
          </a:xfrm>
          <a:custGeom>
            <a:avLst/>
            <a:gdLst/>
            <a:ahLst/>
            <a:cxnLst/>
            <a:rect l="l" t="t" r="r" b="b"/>
            <a:pathLst>
              <a:path w="1917173" h="1917173">
                <a:moveTo>
                  <a:pt x="0" y="0"/>
                </a:moveTo>
                <a:lnTo>
                  <a:pt x="1917173" y="0"/>
                </a:lnTo>
                <a:lnTo>
                  <a:pt x="1917173" y="1917172"/>
                </a:lnTo>
                <a:lnTo>
                  <a:pt x="0" y="1917172"/>
                </a:lnTo>
                <a:lnTo>
                  <a:pt x="0" y="0"/>
                </a:lnTo>
                <a:close/>
              </a:path>
            </a:pathLst>
          </a:custGeom>
          <a:blipFill>
            <a:blip r:embed="rId3"/>
            <a:stretch>
              <a:fillRect l="-19978" r="-19978"/>
            </a:stretch>
          </a:blipFill>
        </p:spPr>
        <p:txBody>
          <a:bodyPr/>
          <a:lstStyle/>
          <a:p>
            <a:endParaRPr lang="vi-VN"/>
          </a:p>
        </p:txBody>
      </p:sp>
      <p:sp>
        <p:nvSpPr>
          <p:cNvPr id="7" name="Freeform 7"/>
          <p:cNvSpPr/>
          <p:nvPr/>
        </p:nvSpPr>
        <p:spPr>
          <a:xfrm>
            <a:off x="5143707" y="2583310"/>
            <a:ext cx="1917173" cy="1917173"/>
          </a:xfrm>
          <a:custGeom>
            <a:avLst/>
            <a:gdLst/>
            <a:ahLst/>
            <a:cxnLst/>
            <a:rect l="l" t="t" r="r" b="b"/>
            <a:pathLst>
              <a:path w="1917173" h="1917173">
                <a:moveTo>
                  <a:pt x="0" y="0"/>
                </a:moveTo>
                <a:lnTo>
                  <a:pt x="1917172" y="0"/>
                </a:lnTo>
                <a:lnTo>
                  <a:pt x="1917172" y="1917172"/>
                </a:lnTo>
                <a:lnTo>
                  <a:pt x="0" y="1917172"/>
                </a:lnTo>
                <a:lnTo>
                  <a:pt x="0" y="0"/>
                </a:lnTo>
                <a:close/>
              </a:path>
            </a:pathLst>
          </a:custGeom>
          <a:blipFill>
            <a:blip r:embed="rId4"/>
            <a:stretch>
              <a:fillRect/>
            </a:stretch>
          </a:blipFill>
        </p:spPr>
        <p:txBody>
          <a:bodyPr/>
          <a:lstStyle/>
          <a:p>
            <a:endParaRPr lang="vi-VN"/>
          </a:p>
        </p:txBody>
      </p:sp>
      <p:sp>
        <p:nvSpPr>
          <p:cNvPr id="8" name="Freeform 8"/>
          <p:cNvSpPr/>
          <p:nvPr/>
        </p:nvSpPr>
        <p:spPr>
          <a:xfrm>
            <a:off x="7622854" y="2583310"/>
            <a:ext cx="1917173" cy="1917173"/>
          </a:xfrm>
          <a:custGeom>
            <a:avLst/>
            <a:gdLst/>
            <a:ahLst/>
            <a:cxnLst/>
            <a:rect l="l" t="t" r="r" b="b"/>
            <a:pathLst>
              <a:path w="1917173" h="1917173">
                <a:moveTo>
                  <a:pt x="0" y="0"/>
                </a:moveTo>
                <a:lnTo>
                  <a:pt x="1917173" y="0"/>
                </a:lnTo>
                <a:lnTo>
                  <a:pt x="1917173" y="1917172"/>
                </a:lnTo>
                <a:lnTo>
                  <a:pt x="0" y="1917172"/>
                </a:lnTo>
                <a:lnTo>
                  <a:pt x="0" y="0"/>
                </a:lnTo>
                <a:close/>
              </a:path>
            </a:pathLst>
          </a:custGeom>
          <a:blipFill>
            <a:blip r:embed="rId5"/>
            <a:stretch>
              <a:fillRect l="-45703" r="-45703"/>
            </a:stretch>
          </a:blipFill>
        </p:spPr>
        <p:txBody>
          <a:bodyPr/>
          <a:lstStyle/>
          <a:p>
            <a:endParaRPr lang="vi-VN"/>
          </a:p>
        </p:txBody>
      </p:sp>
      <p:sp>
        <p:nvSpPr>
          <p:cNvPr id="9" name="Freeform 9"/>
          <p:cNvSpPr/>
          <p:nvPr/>
        </p:nvSpPr>
        <p:spPr>
          <a:xfrm>
            <a:off x="4219801" y="6589395"/>
            <a:ext cx="2043721" cy="2043721"/>
          </a:xfrm>
          <a:custGeom>
            <a:avLst/>
            <a:gdLst/>
            <a:ahLst/>
            <a:cxnLst/>
            <a:rect l="l" t="t" r="r" b="b"/>
            <a:pathLst>
              <a:path w="2043721" h="2043721">
                <a:moveTo>
                  <a:pt x="0" y="0"/>
                </a:moveTo>
                <a:lnTo>
                  <a:pt x="2043721" y="0"/>
                </a:lnTo>
                <a:lnTo>
                  <a:pt x="2043721" y="2043721"/>
                </a:lnTo>
                <a:lnTo>
                  <a:pt x="0" y="2043721"/>
                </a:lnTo>
                <a:lnTo>
                  <a:pt x="0" y="0"/>
                </a:lnTo>
                <a:close/>
              </a:path>
            </a:pathLst>
          </a:custGeom>
          <a:blipFill>
            <a:blip r:embed="rId6"/>
            <a:stretch>
              <a:fillRect/>
            </a:stretch>
          </a:blipFill>
        </p:spPr>
        <p:txBody>
          <a:bodyPr/>
          <a:lstStyle/>
          <a:p>
            <a:endParaRPr lang="vi-VN"/>
          </a:p>
        </p:txBody>
      </p:sp>
      <p:sp>
        <p:nvSpPr>
          <p:cNvPr id="10" name="Freeform 10"/>
          <p:cNvSpPr/>
          <p:nvPr/>
        </p:nvSpPr>
        <p:spPr>
          <a:xfrm>
            <a:off x="6863204" y="6589395"/>
            <a:ext cx="2043721" cy="2043721"/>
          </a:xfrm>
          <a:custGeom>
            <a:avLst/>
            <a:gdLst/>
            <a:ahLst/>
            <a:cxnLst/>
            <a:rect l="l" t="t" r="r" b="b"/>
            <a:pathLst>
              <a:path w="2043721" h="2043721">
                <a:moveTo>
                  <a:pt x="0" y="0"/>
                </a:moveTo>
                <a:lnTo>
                  <a:pt x="2043720" y="0"/>
                </a:lnTo>
                <a:lnTo>
                  <a:pt x="2043720" y="2043721"/>
                </a:lnTo>
                <a:lnTo>
                  <a:pt x="0" y="2043721"/>
                </a:lnTo>
                <a:lnTo>
                  <a:pt x="0" y="0"/>
                </a:lnTo>
                <a:close/>
              </a:path>
            </a:pathLst>
          </a:custGeom>
          <a:blipFill>
            <a:blip r:embed="rId7"/>
            <a:stretch>
              <a:fillRect/>
            </a:stretch>
          </a:blipFill>
        </p:spPr>
        <p:txBody>
          <a:bodyPr/>
          <a:lstStyle/>
          <a:p>
            <a:endParaRPr lang="vi-VN"/>
          </a:p>
        </p:txBody>
      </p:sp>
      <p:sp>
        <p:nvSpPr>
          <p:cNvPr id="11" name="Freeform 11"/>
          <p:cNvSpPr/>
          <p:nvPr/>
        </p:nvSpPr>
        <p:spPr>
          <a:xfrm>
            <a:off x="12483252" y="2583310"/>
            <a:ext cx="1916176" cy="1916176"/>
          </a:xfrm>
          <a:custGeom>
            <a:avLst/>
            <a:gdLst/>
            <a:ahLst/>
            <a:cxnLst/>
            <a:rect l="l" t="t" r="r" b="b"/>
            <a:pathLst>
              <a:path w="1916176" h="1916176">
                <a:moveTo>
                  <a:pt x="0" y="0"/>
                </a:moveTo>
                <a:lnTo>
                  <a:pt x="1916176" y="0"/>
                </a:lnTo>
                <a:lnTo>
                  <a:pt x="1916176" y="1916176"/>
                </a:lnTo>
                <a:lnTo>
                  <a:pt x="0" y="1916176"/>
                </a:lnTo>
                <a:lnTo>
                  <a:pt x="0" y="0"/>
                </a:lnTo>
                <a:close/>
              </a:path>
            </a:pathLst>
          </a:custGeom>
          <a:blipFill>
            <a:blip r:embed="rId8"/>
            <a:stretch>
              <a:fillRect/>
            </a:stretch>
          </a:blipFill>
        </p:spPr>
        <p:txBody>
          <a:bodyPr/>
          <a:lstStyle/>
          <a:p>
            <a:endParaRPr lang="vi-VN"/>
          </a:p>
        </p:txBody>
      </p:sp>
      <p:sp>
        <p:nvSpPr>
          <p:cNvPr id="12" name="Freeform 12"/>
          <p:cNvSpPr/>
          <p:nvPr/>
        </p:nvSpPr>
        <p:spPr>
          <a:xfrm>
            <a:off x="14856628" y="2515805"/>
            <a:ext cx="1916176" cy="1916176"/>
          </a:xfrm>
          <a:custGeom>
            <a:avLst/>
            <a:gdLst/>
            <a:ahLst/>
            <a:cxnLst/>
            <a:rect l="l" t="t" r="r" b="b"/>
            <a:pathLst>
              <a:path w="1916176" h="1916176">
                <a:moveTo>
                  <a:pt x="0" y="0"/>
                </a:moveTo>
                <a:lnTo>
                  <a:pt x="1916177" y="0"/>
                </a:lnTo>
                <a:lnTo>
                  <a:pt x="1916177" y="1916176"/>
                </a:lnTo>
                <a:lnTo>
                  <a:pt x="0" y="1916176"/>
                </a:lnTo>
                <a:lnTo>
                  <a:pt x="0" y="0"/>
                </a:lnTo>
                <a:close/>
              </a:path>
            </a:pathLst>
          </a:custGeom>
          <a:blipFill>
            <a:blip r:embed="rId9"/>
            <a:stretch>
              <a:fillRect/>
            </a:stretch>
          </a:blipFill>
        </p:spPr>
        <p:txBody>
          <a:bodyPr/>
          <a:lstStyle/>
          <a:p>
            <a:endParaRPr lang="vi-VN"/>
          </a:p>
        </p:txBody>
      </p:sp>
      <p:sp>
        <p:nvSpPr>
          <p:cNvPr id="13" name="Freeform 13"/>
          <p:cNvSpPr/>
          <p:nvPr/>
        </p:nvSpPr>
        <p:spPr>
          <a:xfrm>
            <a:off x="13490950" y="6589395"/>
            <a:ext cx="2043721" cy="2043721"/>
          </a:xfrm>
          <a:custGeom>
            <a:avLst/>
            <a:gdLst/>
            <a:ahLst/>
            <a:cxnLst/>
            <a:rect l="l" t="t" r="r" b="b"/>
            <a:pathLst>
              <a:path w="2043721" h="2043721">
                <a:moveTo>
                  <a:pt x="0" y="0"/>
                </a:moveTo>
                <a:lnTo>
                  <a:pt x="2043721" y="0"/>
                </a:lnTo>
                <a:lnTo>
                  <a:pt x="2043721" y="2043721"/>
                </a:lnTo>
                <a:lnTo>
                  <a:pt x="0" y="2043721"/>
                </a:lnTo>
                <a:lnTo>
                  <a:pt x="0" y="0"/>
                </a:lnTo>
                <a:close/>
              </a:path>
            </a:pathLst>
          </a:custGeom>
          <a:blipFill>
            <a:blip r:embed="rId10"/>
            <a:stretch>
              <a:fillRect/>
            </a:stretch>
          </a:blipFill>
        </p:spPr>
        <p:txBody>
          <a:bodyPr/>
          <a:lstStyle/>
          <a:p>
            <a:endParaRPr lang="vi-VN"/>
          </a:p>
        </p:txBody>
      </p:sp>
      <p:sp>
        <p:nvSpPr>
          <p:cNvPr id="14" name="TextBox 14"/>
          <p:cNvSpPr txBox="1"/>
          <p:nvPr/>
        </p:nvSpPr>
        <p:spPr>
          <a:xfrm>
            <a:off x="2668119" y="95250"/>
            <a:ext cx="15597945" cy="628650"/>
          </a:xfrm>
          <a:prstGeom prst="rect">
            <a:avLst/>
          </a:prstGeom>
        </p:spPr>
        <p:txBody>
          <a:bodyPr lIns="0" tIns="0" rIns="0" bIns="0" rtlCol="0" anchor="t">
            <a:spAutoFit/>
          </a:bodyPr>
          <a:lstStyle/>
          <a:p>
            <a:pPr algn="ctr">
              <a:lnSpc>
                <a:spcPts val="4800"/>
              </a:lnSpc>
            </a:pPr>
            <a:r>
              <a:rPr lang="en-US" sz="4000" b="1">
                <a:solidFill>
                  <a:srgbClr val="000000"/>
                </a:solidFill>
                <a:latin typeface="Arial Bold"/>
                <a:ea typeface="Arial Bold"/>
                <a:cs typeface="Arial Bold"/>
                <a:sym typeface="Arial Bold"/>
              </a:rPr>
              <a:t>Công nghệ sử dụng</a:t>
            </a:r>
          </a:p>
        </p:txBody>
      </p:sp>
      <p:sp>
        <p:nvSpPr>
          <p:cNvPr id="15" name="TextBox 15"/>
          <p:cNvSpPr txBox="1"/>
          <p:nvPr/>
        </p:nvSpPr>
        <p:spPr>
          <a:xfrm>
            <a:off x="2961703" y="1126493"/>
            <a:ext cx="4923361" cy="507831"/>
          </a:xfrm>
          <a:prstGeom prst="rect">
            <a:avLst/>
          </a:prstGeom>
        </p:spPr>
        <p:txBody>
          <a:bodyPr lIns="0" tIns="0" rIns="0" bIns="0" rtlCol="0" anchor="t">
            <a:spAutoFit/>
          </a:bodyPr>
          <a:lstStyle/>
          <a:p>
            <a:r>
              <a:rPr lang="en-US" sz="3300" dirty="0">
                <a:solidFill>
                  <a:srgbClr val="000000"/>
                </a:solidFill>
                <a:latin typeface="Arial"/>
                <a:ea typeface="Arial"/>
                <a:cs typeface="Arial"/>
                <a:sym typeface="Arial"/>
              </a:rPr>
              <a:t>1. </a:t>
            </a:r>
            <a:r>
              <a:rPr lang="en-US" sz="3300" dirty="0" err="1">
                <a:solidFill>
                  <a:srgbClr val="000000"/>
                </a:solidFill>
                <a:latin typeface="Arial"/>
                <a:ea typeface="Arial"/>
                <a:cs typeface="Arial"/>
                <a:sym typeface="Arial"/>
              </a:rPr>
              <a:t>Nền</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tảng</a:t>
            </a:r>
            <a:r>
              <a:rPr lang="en-US" sz="3300" dirty="0">
                <a:solidFill>
                  <a:srgbClr val="000000"/>
                </a:solidFill>
                <a:latin typeface="Arial"/>
                <a:ea typeface="Arial"/>
                <a:cs typeface="Arial"/>
                <a:sym typeface="Arial"/>
              </a:rPr>
              <a:t> &amp; </a:t>
            </a:r>
            <a:r>
              <a:rPr lang="en-US" sz="3300" dirty="0" err="1">
                <a:solidFill>
                  <a:srgbClr val="000000"/>
                </a:solidFill>
                <a:latin typeface="Arial"/>
                <a:ea typeface="Arial"/>
                <a:cs typeface="Arial"/>
                <a:sym typeface="Arial"/>
              </a:rPr>
              <a:t>Giao</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diện</a:t>
            </a:r>
            <a:r>
              <a:rPr lang="en-US" sz="3300" dirty="0" smtClean="0">
                <a:solidFill>
                  <a:srgbClr val="000000"/>
                </a:solidFill>
                <a:latin typeface="Arial"/>
                <a:ea typeface="Arial"/>
                <a:cs typeface="Arial"/>
                <a:sym typeface="Arial"/>
              </a:rPr>
              <a:t>:</a:t>
            </a:r>
            <a:endParaRPr lang="en-US" sz="3300" dirty="0">
              <a:solidFill>
                <a:srgbClr val="000000"/>
              </a:solidFill>
              <a:latin typeface="Arial"/>
              <a:ea typeface="Arial"/>
              <a:cs typeface="Arial"/>
              <a:sym typeface="Arial"/>
            </a:endParaRPr>
          </a:p>
        </p:txBody>
      </p:sp>
      <p:sp>
        <p:nvSpPr>
          <p:cNvPr id="16" name="TextBox 16"/>
          <p:cNvSpPr txBox="1"/>
          <p:nvPr/>
        </p:nvSpPr>
        <p:spPr>
          <a:xfrm>
            <a:off x="3811796" y="5019675"/>
            <a:ext cx="4310344" cy="507831"/>
          </a:xfrm>
          <a:prstGeom prst="rect">
            <a:avLst/>
          </a:prstGeom>
        </p:spPr>
        <p:txBody>
          <a:bodyPr lIns="0" tIns="0" rIns="0" bIns="0" rtlCol="0" anchor="t">
            <a:spAutoFit/>
          </a:bodyPr>
          <a:lstStyle/>
          <a:p>
            <a:r>
              <a:rPr lang="en-US" sz="3300" dirty="0">
                <a:solidFill>
                  <a:srgbClr val="000000"/>
                </a:solidFill>
                <a:latin typeface="Arial"/>
                <a:ea typeface="Arial"/>
                <a:cs typeface="Arial"/>
                <a:sym typeface="Arial"/>
              </a:rPr>
              <a:t>2. </a:t>
            </a:r>
            <a:r>
              <a:rPr lang="en-US" sz="3300" dirty="0" err="1">
                <a:solidFill>
                  <a:srgbClr val="000000"/>
                </a:solidFill>
                <a:latin typeface="Arial"/>
                <a:ea typeface="Arial"/>
                <a:cs typeface="Arial"/>
                <a:sym typeface="Arial"/>
              </a:rPr>
              <a:t>Ngôn</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ngữ</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lập</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trình</a:t>
            </a:r>
            <a:r>
              <a:rPr lang="en-US" sz="3300" dirty="0" smtClean="0">
                <a:solidFill>
                  <a:srgbClr val="000000"/>
                </a:solidFill>
                <a:latin typeface="Arial"/>
                <a:ea typeface="Arial"/>
                <a:cs typeface="Arial"/>
                <a:sym typeface="Arial"/>
              </a:rPr>
              <a:t>:</a:t>
            </a:r>
            <a:endParaRPr lang="en-US" sz="3300" dirty="0">
              <a:solidFill>
                <a:srgbClr val="000000"/>
              </a:solidFill>
              <a:latin typeface="Arial"/>
              <a:ea typeface="Arial"/>
              <a:cs typeface="Arial"/>
              <a:sym typeface="Arial"/>
            </a:endParaRPr>
          </a:p>
        </p:txBody>
      </p:sp>
      <p:sp>
        <p:nvSpPr>
          <p:cNvPr id="17" name="TextBox 17"/>
          <p:cNvSpPr txBox="1"/>
          <p:nvPr/>
        </p:nvSpPr>
        <p:spPr>
          <a:xfrm>
            <a:off x="11858702" y="1177541"/>
            <a:ext cx="6050709" cy="507831"/>
          </a:xfrm>
          <a:prstGeom prst="rect">
            <a:avLst/>
          </a:prstGeom>
        </p:spPr>
        <p:txBody>
          <a:bodyPr lIns="0" tIns="0" rIns="0" bIns="0" rtlCol="0" anchor="t">
            <a:spAutoFit/>
          </a:bodyPr>
          <a:lstStyle/>
          <a:p>
            <a:r>
              <a:rPr lang="en-US" sz="3300" dirty="0">
                <a:solidFill>
                  <a:srgbClr val="000000"/>
                </a:solidFill>
                <a:latin typeface="Arial"/>
                <a:ea typeface="Arial"/>
                <a:cs typeface="Arial"/>
                <a:sym typeface="Arial"/>
              </a:rPr>
              <a:t>3. </a:t>
            </a:r>
            <a:r>
              <a:rPr lang="en-US" sz="3300" dirty="0" err="1">
                <a:solidFill>
                  <a:srgbClr val="000000"/>
                </a:solidFill>
                <a:latin typeface="Arial"/>
                <a:ea typeface="Arial"/>
                <a:cs typeface="Arial"/>
                <a:sym typeface="Arial"/>
              </a:rPr>
              <a:t>Dịch</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vụ</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đám</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mây</a:t>
            </a:r>
            <a:r>
              <a:rPr lang="en-US" sz="3300" dirty="0">
                <a:solidFill>
                  <a:srgbClr val="000000"/>
                </a:solidFill>
                <a:latin typeface="Arial"/>
                <a:ea typeface="Arial"/>
                <a:cs typeface="Arial"/>
                <a:sym typeface="Arial"/>
              </a:rPr>
              <a:t> &amp; </a:t>
            </a:r>
            <a:r>
              <a:rPr lang="en-US" sz="3300" dirty="0" err="1">
                <a:solidFill>
                  <a:srgbClr val="000000"/>
                </a:solidFill>
                <a:latin typeface="Arial"/>
                <a:ea typeface="Arial"/>
                <a:cs typeface="Arial"/>
                <a:sym typeface="Arial"/>
              </a:rPr>
              <a:t>Lưu</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trữ</a:t>
            </a:r>
            <a:r>
              <a:rPr lang="en-US" sz="3300" dirty="0" smtClean="0">
                <a:solidFill>
                  <a:srgbClr val="000000"/>
                </a:solidFill>
                <a:latin typeface="Arial"/>
                <a:ea typeface="Arial"/>
                <a:cs typeface="Arial"/>
                <a:sym typeface="Arial"/>
              </a:rPr>
              <a:t>:</a:t>
            </a:r>
            <a:endParaRPr lang="en-US" sz="3300" dirty="0">
              <a:solidFill>
                <a:srgbClr val="000000"/>
              </a:solidFill>
              <a:latin typeface="Arial"/>
              <a:ea typeface="Arial"/>
              <a:cs typeface="Arial"/>
              <a:sym typeface="Arial"/>
            </a:endParaRPr>
          </a:p>
        </p:txBody>
      </p:sp>
      <p:sp>
        <p:nvSpPr>
          <p:cNvPr id="18" name="TextBox 18"/>
          <p:cNvSpPr txBox="1"/>
          <p:nvPr/>
        </p:nvSpPr>
        <p:spPr>
          <a:xfrm>
            <a:off x="11858702" y="5019675"/>
            <a:ext cx="4594551" cy="507831"/>
          </a:xfrm>
          <a:prstGeom prst="rect">
            <a:avLst/>
          </a:prstGeom>
        </p:spPr>
        <p:txBody>
          <a:bodyPr lIns="0" tIns="0" rIns="0" bIns="0" rtlCol="0" anchor="t">
            <a:spAutoFit/>
          </a:bodyPr>
          <a:lstStyle/>
          <a:p>
            <a:r>
              <a:rPr lang="en-US" sz="3300" dirty="0">
                <a:solidFill>
                  <a:srgbClr val="000000"/>
                </a:solidFill>
                <a:latin typeface="Arial"/>
                <a:ea typeface="Arial"/>
                <a:cs typeface="Arial"/>
                <a:sym typeface="Arial"/>
              </a:rPr>
              <a:t>4. </a:t>
            </a:r>
            <a:r>
              <a:rPr lang="en-US" sz="3300" dirty="0" err="1">
                <a:solidFill>
                  <a:srgbClr val="000000"/>
                </a:solidFill>
                <a:latin typeface="Arial"/>
                <a:ea typeface="Arial"/>
                <a:cs typeface="Arial"/>
                <a:sym typeface="Arial"/>
              </a:rPr>
              <a:t>Bản</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đồ</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số</a:t>
            </a:r>
            <a:r>
              <a:rPr lang="en-US" sz="3300" dirty="0" smtClean="0">
                <a:solidFill>
                  <a:srgbClr val="000000"/>
                </a:solidFill>
                <a:latin typeface="Arial"/>
                <a:ea typeface="Arial"/>
                <a:cs typeface="Arial"/>
                <a:sym typeface="Arial"/>
              </a:rPr>
              <a:t>:</a:t>
            </a:r>
            <a:endParaRPr lang="en-US" sz="3300" dirty="0">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46042" y="2978239"/>
            <a:ext cx="4388392" cy="2215991"/>
          </a:xfrm>
          <a:prstGeom prst="rect">
            <a:avLst/>
          </a:prstGeom>
        </p:spPr>
        <p:txBody>
          <a:bodyPr lIns="0" tIns="0" rIns="0" bIns="0" rtlCol="0" anchor="t">
            <a:spAutoFit/>
          </a:bodyPr>
          <a:lstStyle/>
          <a:p>
            <a:pPr marL="342900" indent="-342900">
              <a:lnSpc>
                <a:spcPct val="150000"/>
              </a:lnSpc>
              <a:buFont typeface="Arial" pitchFamily="34" charset="0"/>
              <a:buChar char="•"/>
            </a:pPr>
            <a:r>
              <a:rPr lang="en-US" sz="2400" dirty="0" err="1" smtClean="0">
                <a:solidFill>
                  <a:srgbClr val="000000"/>
                </a:solidFill>
                <a:latin typeface="Arial"/>
                <a:ea typeface="Arial"/>
                <a:cs typeface="Arial"/>
                <a:sym typeface="Arial"/>
              </a:rPr>
              <a:t>Xem</a:t>
            </a:r>
            <a:r>
              <a:rPr lang="en-US" sz="2400" dirty="0" smtClean="0">
                <a:solidFill>
                  <a:srgbClr val="000000"/>
                </a:solidFill>
                <a:latin typeface="Arial"/>
                <a:ea typeface="Arial"/>
                <a:cs typeface="Arial"/>
                <a:sym typeface="Arial"/>
              </a:rPr>
              <a:t> </a:t>
            </a:r>
            <a:r>
              <a:rPr lang="en-US" sz="2400" dirty="0">
                <a:solidFill>
                  <a:srgbClr val="000000"/>
                </a:solidFill>
                <a:latin typeface="Arial"/>
                <a:ea typeface="Arial"/>
                <a:cs typeface="Arial"/>
                <a:sym typeface="Arial"/>
              </a:rPr>
              <a:t>di </a:t>
            </a:r>
            <a:r>
              <a:rPr lang="en-US" sz="2400" dirty="0" err="1">
                <a:solidFill>
                  <a:srgbClr val="000000"/>
                </a:solidFill>
                <a:latin typeface="Arial"/>
                <a:ea typeface="Arial"/>
                <a:cs typeface="Arial"/>
                <a:sym typeface="Arial"/>
              </a:rPr>
              <a:t>sản</a:t>
            </a:r>
            <a:r>
              <a:rPr lang="en-US" sz="2400" dirty="0">
                <a:solidFill>
                  <a:srgbClr val="000000"/>
                </a:solidFill>
                <a:latin typeface="Arial"/>
                <a:ea typeface="Arial"/>
                <a:cs typeface="Arial"/>
                <a:sym typeface="Arial"/>
              </a:rPr>
              <a:t> </a:t>
            </a:r>
            <a:r>
              <a:rPr lang="en-US" sz="2400" dirty="0" err="1">
                <a:solidFill>
                  <a:srgbClr val="000000"/>
                </a:solidFill>
                <a:latin typeface="Arial"/>
                <a:ea typeface="Arial"/>
                <a:cs typeface="Arial"/>
                <a:sym typeface="Arial"/>
              </a:rPr>
              <a:t>và</a:t>
            </a:r>
            <a:r>
              <a:rPr lang="en-US" sz="2400" dirty="0">
                <a:solidFill>
                  <a:srgbClr val="000000"/>
                </a:solidFill>
                <a:latin typeface="Arial"/>
                <a:ea typeface="Arial"/>
                <a:cs typeface="Arial"/>
                <a:sym typeface="Arial"/>
              </a:rPr>
              <a:t> </a:t>
            </a:r>
            <a:r>
              <a:rPr lang="en-US" sz="2400" dirty="0" err="1">
                <a:solidFill>
                  <a:srgbClr val="000000"/>
                </a:solidFill>
                <a:latin typeface="Arial"/>
                <a:ea typeface="Arial"/>
                <a:cs typeface="Arial"/>
                <a:sym typeface="Arial"/>
              </a:rPr>
              <a:t>lễ</a:t>
            </a:r>
            <a:r>
              <a:rPr lang="en-US" sz="2400" dirty="0">
                <a:solidFill>
                  <a:srgbClr val="000000"/>
                </a:solidFill>
                <a:latin typeface="Arial"/>
                <a:ea typeface="Arial"/>
                <a:cs typeface="Arial"/>
                <a:sym typeface="Arial"/>
              </a:rPr>
              <a:t> </a:t>
            </a:r>
            <a:r>
              <a:rPr lang="en-US" sz="2400" dirty="0" err="1">
                <a:solidFill>
                  <a:srgbClr val="000000"/>
                </a:solidFill>
                <a:latin typeface="Arial"/>
                <a:ea typeface="Arial"/>
                <a:cs typeface="Arial"/>
                <a:sym typeface="Arial"/>
              </a:rPr>
              <a:t>hội</a:t>
            </a:r>
            <a:r>
              <a:rPr lang="en-US" sz="2400" dirty="0">
                <a:solidFill>
                  <a:srgbClr val="000000"/>
                </a:solidFill>
                <a:latin typeface="Arial"/>
                <a:ea typeface="Arial"/>
                <a:cs typeface="Arial"/>
                <a:sym typeface="Arial"/>
              </a:rPr>
              <a:t>.</a:t>
            </a:r>
          </a:p>
          <a:p>
            <a:pPr marL="342900" indent="-342900">
              <a:lnSpc>
                <a:spcPct val="150000"/>
              </a:lnSpc>
              <a:buFont typeface="Arial" pitchFamily="34" charset="0"/>
              <a:buChar char="•"/>
            </a:pPr>
            <a:r>
              <a:rPr lang="en-US" sz="2400" dirty="0" err="1">
                <a:solidFill>
                  <a:srgbClr val="000000"/>
                </a:solidFill>
                <a:latin typeface="Arial"/>
                <a:ea typeface="Arial"/>
                <a:cs typeface="Arial"/>
                <a:sym typeface="Arial"/>
              </a:rPr>
              <a:t>Xem bản đồ dẫn đường.</a:t>
            </a:r>
          </a:p>
          <a:p>
            <a:pPr marL="342900" indent="-342900">
              <a:lnSpc>
                <a:spcPct val="150000"/>
              </a:lnSpc>
              <a:buFont typeface="Arial" pitchFamily="34" charset="0"/>
              <a:buChar char="•"/>
            </a:pPr>
            <a:r>
              <a:rPr lang="en-US" sz="2400" dirty="0" err="1">
                <a:solidFill>
                  <a:srgbClr val="000000"/>
                </a:solidFill>
                <a:latin typeface="Arial"/>
                <a:ea typeface="Arial"/>
                <a:cs typeface="Arial"/>
                <a:sym typeface="Arial"/>
              </a:rPr>
              <a:t>Đổi ngôn ngữ (song ngữ) và sáng/tối.</a:t>
            </a:r>
          </a:p>
        </p:txBody>
      </p:sp>
      <p:sp>
        <p:nvSpPr>
          <p:cNvPr id="3" name="TextBox 3"/>
          <p:cNvSpPr txBox="1"/>
          <p:nvPr/>
        </p:nvSpPr>
        <p:spPr>
          <a:xfrm>
            <a:off x="746042" y="2208228"/>
            <a:ext cx="4388392" cy="528320"/>
          </a:xfrm>
          <a:prstGeom prst="rect">
            <a:avLst/>
          </a:prstGeom>
        </p:spPr>
        <p:txBody>
          <a:bodyPr lIns="0" tIns="0" rIns="0" bIns="0" rtlCol="0" anchor="t">
            <a:spAutoFit/>
          </a:bodyPr>
          <a:lstStyle/>
          <a:p>
            <a:pPr marL="0" lvl="0" indent="0" algn="ctr">
              <a:lnSpc>
                <a:spcPts val="4480"/>
              </a:lnSpc>
              <a:spcBef>
                <a:spcPct val="0"/>
              </a:spcBef>
            </a:pPr>
            <a:r>
              <a:rPr lang="en-US" sz="3200" b="1">
                <a:solidFill>
                  <a:srgbClr val="000000"/>
                </a:solidFill>
                <a:latin typeface="Muli Bold"/>
                <a:ea typeface="Muli Bold"/>
                <a:cs typeface="Muli Bold"/>
                <a:sym typeface="Muli Bold"/>
              </a:rPr>
              <a:t>Khách vãng lai</a:t>
            </a:r>
          </a:p>
        </p:txBody>
      </p:sp>
      <p:sp>
        <p:nvSpPr>
          <p:cNvPr id="4" name="TextBox 4"/>
          <p:cNvSpPr txBox="1"/>
          <p:nvPr/>
        </p:nvSpPr>
        <p:spPr>
          <a:xfrm>
            <a:off x="5720135" y="2987764"/>
            <a:ext cx="4388392" cy="3877985"/>
          </a:xfrm>
          <a:prstGeom prst="rect">
            <a:avLst/>
          </a:prstGeom>
        </p:spPr>
        <p:txBody>
          <a:bodyPr lIns="0" tIns="0" rIns="0" bIns="0" rtlCol="0" anchor="t">
            <a:spAutoFit/>
          </a:bodyPr>
          <a:lstStyle/>
          <a:p>
            <a:pPr marL="342900" indent="-342900">
              <a:lnSpc>
                <a:spcPct val="150000"/>
              </a:lnSpc>
              <a:buFont typeface="Arial" pitchFamily="34" charset="0"/>
              <a:buChar char="•"/>
            </a:pPr>
            <a:r>
              <a:rPr lang="en-US" sz="2400" dirty="0" err="1" smtClean="0">
                <a:solidFill>
                  <a:srgbClr val="000000"/>
                </a:solidFill>
                <a:latin typeface="Muli"/>
                <a:ea typeface="Muli"/>
                <a:cs typeface="Muli"/>
                <a:sym typeface="Muli"/>
              </a:rPr>
              <a:t>Kế</a:t>
            </a:r>
            <a:r>
              <a:rPr lang="en-US" sz="2400" dirty="0" smtClean="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thừa</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toàn</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bộ</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quyền</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khách</a:t>
            </a:r>
            <a:r>
              <a:rPr lang="en-US" sz="2400" dirty="0">
                <a:solidFill>
                  <a:srgbClr val="000000"/>
                </a:solidFill>
                <a:latin typeface="Muli"/>
                <a:ea typeface="Muli"/>
                <a:cs typeface="Muli"/>
                <a:sym typeface="Muli"/>
              </a:rPr>
              <a:t>.</a:t>
            </a:r>
          </a:p>
          <a:p>
            <a:pPr marL="342900" indent="-342900">
              <a:lnSpc>
                <a:spcPct val="150000"/>
              </a:lnSpc>
              <a:buFont typeface="Arial" pitchFamily="34" charset="0"/>
              <a:buChar char="•"/>
            </a:pPr>
            <a:r>
              <a:rPr lang="en-US" sz="2400" dirty="0" err="1">
                <a:solidFill>
                  <a:srgbClr val="000000"/>
                </a:solidFill>
                <a:latin typeface="Muli"/>
                <a:ea typeface="Muli"/>
                <a:cs typeface="Muli"/>
                <a:sym typeface="Muli"/>
              </a:rPr>
              <a:t>Quản lý tài khoản cá nhân.</a:t>
            </a:r>
          </a:p>
          <a:p>
            <a:pPr marL="342900" indent="-342900">
              <a:lnSpc>
                <a:spcPct val="150000"/>
              </a:lnSpc>
              <a:buFont typeface="Arial" pitchFamily="34" charset="0"/>
              <a:buChar char="•"/>
            </a:pPr>
            <a:r>
              <a:rPr lang="en-US" sz="2400" dirty="0" err="1">
                <a:solidFill>
                  <a:srgbClr val="000000"/>
                </a:solidFill>
                <a:latin typeface="Muli"/>
                <a:ea typeface="Muli"/>
                <a:cs typeface="Muli"/>
                <a:sym typeface="Muli"/>
              </a:rPr>
              <a:t>Lưu yêu thích, bình luận, gửi bài đóng góp.</a:t>
            </a:r>
          </a:p>
          <a:p>
            <a:pPr marL="342900" indent="-342900">
              <a:lnSpc>
                <a:spcPct val="150000"/>
              </a:lnSpc>
              <a:buFont typeface="Arial" pitchFamily="34" charset="0"/>
              <a:buChar char="•"/>
            </a:pPr>
            <a:r>
              <a:rPr lang="en-US" sz="2400" dirty="0" err="1">
                <a:solidFill>
                  <a:srgbClr val="000000"/>
                </a:solidFill>
                <a:latin typeface="Muli"/>
                <a:ea typeface="Muli"/>
                <a:cs typeface="Muli"/>
                <a:sym typeface="Muli"/>
              </a:rPr>
              <a:t>Nhận thông báo thời gian thực.</a:t>
            </a:r>
          </a:p>
        </p:txBody>
      </p:sp>
      <p:sp>
        <p:nvSpPr>
          <p:cNvPr id="5" name="TextBox 5"/>
          <p:cNvSpPr txBox="1"/>
          <p:nvPr/>
        </p:nvSpPr>
        <p:spPr>
          <a:xfrm>
            <a:off x="5720135" y="2208228"/>
            <a:ext cx="4388392" cy="528320"/>
          </a:xfrm>
          <a:prstGeom prst="rect">
            <a:avLst/>
          </a:prstGeom>
        </p:spPr>
        <p:txBody>
          <a:bodyPr lIns="0" tIns="0" rIns="0" bIns="0" rtlCol="0" anchor="t">
            <a:spAutoFit/>
          </a:bodyPr>
          <a:lstStyle/>
          <a:p>
            <a:pPr marL="0" lvl="0" indent="0" algn="ctr">
              <a:lnSpc>
                <a:spcPts val="4480"/>
              </a:lnSpc>
              <a:spcBef>
                <a:spcPct val="0"/>
              </a:spcBef>
            </a:pPr>
            <a:r>
              <a:rPr lang="en-US" sz="3200" b="1">
                <a:solidFill>
                  <a:srgbClr val="000000"/>
                </a:solidFill>
                <a:latin typeface="Muli Bold"/>
                <a:ea typeface="Muli Bold"/>
                <a:cs typeface="Muli Bold"/>
                <a:sym typeface="Muli Bold"/>
              </a:rPr>
              <a:t>Thành viên</a:t>
            </a:r>
          </a:p>
        </p:txBody>
      </p:sp>
      <p:grpSp>
        <p:nvGrpSpPr>
          <p:cNvPr id="6" name="Group 6"/>
          <p:cNvGrpSpPr/>
          <p:nvPr/>
        </p:nvGrpSpPr>
        <p:grpSpPr>
          <a:xfrm rot="-10800000">
            <a:off x="13508948" y="0"/>
            <a:ext cx="4779052" cy="10287000"/>
            <a:chOff x="0" y="0"/>
            <a:chExt cx="5355113" cy="11526982"/>
          </a:xfrm>
        </p:grpSpPr>
        <p:sp>
          <p:nvSpPr>
            <p:cNvPr id="7" name="Freeform 7"/>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sp>
        <p:nvSpPr>
          <p:cNvPr id="8" name="TextBox 8"/>
          <p:cNvSpPr txBox="1"/>
          <p:nvPr/>
        </p:nvSpPr>
        <p:spPr>
          <a:xfrm>
            <a:off x="10746344" y="2987764"/>
            <a:ext cx="4388392" cy="3323987"/>
          </a:xfrm>
          <a:prstGeom prst="rect">
            <a:avLst/>
          </a:prstGeom>
        </p:spPr>
        <p:txBody>
          <a:bodyPr lIns="0" tIns="0" rIns="0" bIns="0" rtlCol="0" anchor="t">
            <a:spAutoFit/>
          </a:bodyPr>
          <a:lstStyle/>
          <a:p>
            <a:pPr marL="342900" indent="-342900">
              <a:lnSpc>
                <a:spcPct val="150000"/>
              </a:lnSpc>
              <a:buFont typeface="Arial" pitchFamily="34" charset="0"/>
              <a:buChar char="•"/>
            </a:pPr>
            <a:r>
              <a:rPr lang="en-US" sz="2400" dirty="0" err="1" smtClean="0">
                <a:solidFill>
                  <a:srgbClr val="000000"/>
                </a:solidFill>
                <a:latin typeface="Muli"/>
                <a:ea typeface="Muli"/>
                <a:cs typeface="Muli"/>
                <a:sym typeface="Muli"/>
              </a:rPr>
              <a:t>Quản</a:t>
            </a:r>
            <a:r>
              <a:rPr lang="en-US" sz="2400" dirty="0" smtClean="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lý</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dữ</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liệu</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hệ</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thống</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Thêm</a:t>
            </a:r>
            <a:r>
              <a:rPr lang="en-US" sz="2400" dirty="0">
                <a:solidFill>
                  <a:srgbClr val="000000"/>
                </a:solidFill>
                <a:latin typeface="Muli"/>
                <a:ea typeface="Muli"/>
                <a:cs typeface="Muli"/>
                <a:sym typeface="Muli"/>
              </a:rPr>
              <a:t>/</a:t>
            </a:r>
            <a:r>
              <a:rPr lang="en-US" sz="2400" dirty="0" err="1">
                <a:solidFill>
                  <a:srgbClr val="000000"/>
                </a:solidFill>
                <a:latin typeface="Muli"/>
                <a:ea typeface="Muli"/>
                <a:cs typeface="Muli"/>
                <a:sym typeface="Muli"/>
              </a:rPr>
              <a:t>Sửa</a:t>
            </a:r>
            <a:r>
              <a:rPr lang="en-US" sz="2400" dirty="0">
                <a:solidFill>
                  <a:srgbClr val="000000"/>
                </a:solidFill>
                <a:latin typeface="Muli"/>
                <a:ea typeface="Muli"/>
                <a:cs typeface="Muli"/>
                <a:sym typeface="Muli"/>
              </a:rPr>
              <a:t>/</a:t>
            </a:r>
            <a:r>
              <a:rPr lang="en-US" sz="2400" dirty="0" err="1">
                <a:solidFill>
                  <a:srgbClr val="000000"/>
                </a:solidFill>
                <a:latin typeface="Muli"/>
                <a:ea typeface="Muli"/>
                <a:cs typeface="Muli"/>
                <a:sym typeface="Muli"/>
              </a:rPr>
              <a:t>Xóa</a:t>
            </a:r>
            <a:r>
              <a:rPr lang="en-US" sz="2400" dirty="0">
                <a:solidFill>
                  <a:srgbClr val="000000"/>
                </a:solidFill>
                <a:latin typeface="Muli"/>
                <a:ea typeface="Muli"/>
                <a:cs typeface="Muli"/>
                <a:sym typeface="Muli"/>
              </a:rPr>
              <a:t>).</a:t>
            </a:r>
          </a:p>
          <a:p>
            <a:pPr marL="342900" indent="-342900">
              <a:lnSpc>
                <a:spcPct val="150000"/>
              </a:lnSpc>
              <a:buFont typeface="Arial" pitchFamily="34" charset="0"/>
              <a:buChar char="•"/>
            </a:pPr>
            <a:r>
              <a:rPr lang="en-US" sz="2400" dirty="0" err="1">
                <a:solidFill>
                  <a:srgbClr val="000000"/>
                </a:solidFill>
                <a:latin typeface="Muli"/>
                <a:ea typeface="Muli"/>
                <a:cs typeface="Muli"/>
                <a:sym typeface="Muli"/>
              </a:rPr>
              <a:t>Duyệt</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bài</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đóng</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góp</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thành</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viên</a:t>
            </a:r>
            <a:r>
              <a:rPr lang="en-US" sz="2400" dirty="0">
                <a:solidFill>
                  <a:srgbClr val="000000"/>
                </a:solidFill>
                <a:latin typeface="Muli"/>
                <a:ea typeface="Muli"/>
                <a:cs typeface="Muli"/>
                <a:sym typeface="Muli"/>
              </a:rPr>
              <a:t>.</a:t>
            </a:r>
          </a:p>
          <a:p>
            <a:pPr marL="342900" indent="-342900">
              <a:lnSpc>
                <a:spcPct val="150000"/>
              </a:lnSpc>
              <a:buFont typeface="Arial" pitchFamily="34" charset="0"/>
              <a:buChar char="•"/>
            </a:pPr>
            <a:r>
              <a:rPr lang="en-US" sz="2400" dirty="0" err="1">
                <a:solidFill>
                  <a:srgbClr val="000000"/>
                </a:solidFill>
                <a:latin typeface="Muli"/>
                <a:ea typeface="Muli"/>
                <a:cs typeface="Muli"/>
                <a:sym typeface="Muli"/>
              </a:rPr>
              <a:t>Phân</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quyền</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và</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cấu</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hình</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hệ</a:t>
            </a:r>
            <a:r>
              <a:rPr lang="en-US" sz="2400" dirty="0">
                <a:solidFill>
                  <a:srgbClr val="000000"/>
                </a:solidFill>
                <a:latin typeface="Muli"/>
                <a:ea typeface="Muli"/>
                <a:cs typeface="Muli"/>
                <a:sym typeface="Muli"/>
              </a:rPr>
              <a:t> </a:t>
            </a:r>
            <a:r>
              <a:rPr lang="en-US" sz="2400" dirty="0" err="1">
                <a:solidFill>
                  <a:srgbClr val="000000"/>
                </a:solidFill>
                <a:latin typeface="Muli"/>
                <a:ea typeface="Muli"/>
                <a:cs typeface="Muli"/>
                <a:sym typeface="Muli"/>
              </a:rPr>
              <a:t>thống</a:t>
            </a:r>
            <a:r>
              <a:rPr lang="en-US" sz="2400" dirty="0">
                <a:solidFill>
                  <a:srgbClr val="000000"/>
                </a:solidFill>
                <a:latin typeface="Muli"/>
                <a:ea typeface="Muli"/>
                <a:cs typeface="Muli"/>
                <a:sym typeface="Muli"/>
              </a:rPr>
              <a:t>.</a:t>
            </a:r>
          </a:p>
        </p:txBody>
      </p:sp>
      <p:sp>
        <p:nvSpPr>
          <p:cNvPr id="9" name="TextBox 9"/>
          <p:cNvSpPr txBox="1"/>
          <p:nvPr/>
        </p:nvSpPr>
        <p:spPr>
          <a:xfrm>
            <a:off x="10746344" y="2208228"/>
            <a:ext cx="4388392" cy="528320"/>
          </a:xfrm>
          <a:prstGeom prst="rect">
            <a:avLst/>
          </a:prstGeom>
        </p:spPr>
        <p:txBody>
          <a:bodyPr lIns="0" tIns="0" rIns="0" bIns="0" rtlCol="0" anchor="t">
            <a:spAutoFit/>
          </a:bodyPr>
          <a:lstStyle/>
          <a:p>
            <a:pPr marL="0" lvl="0" indent="0" algn="ctr">
              <a:lnSpc>
                <a:spcPts val="4480"/>
              </a:lnSpc>
              <a:spcBef>
                <a:spcPct val="0"/>
              </a:spcBef>
            </a:pPr>
            <a:r>
              <a:rPr lang="en-US" sz="3200" b="1">
                <a:solidFill>
                  <a:srgbClr val="000000"/>
                </a:solidFill>
                <a:latin typeface="Muli Bold"/>
                <a:ea typeface="Muli Bold"/>
                <a:cs typeface="Muli Bold"/>
                <a:sym typeface="Muli Bold"/>
              </a:rPr>
              <a:t>Quản trị viên</a:t>
            </a:r>
          </a:p>
        </p:txBody>
      </p:sp>
      <p:sp>
        <p:nvSpPr>
          <p:cNvPr id="10" name="TextBox 10"/>
          <p:cNvSpPr txBox="1"/>
          <p:nvPr/>
        </p:nvSpPr>
        <p:spPr>
          <a:xfrm>
            <a:off x="445698" y="200025"/>
            <a:ext cx="13063250" cy="1209675"/>
          </a:xfrm>
          <a:prstGeom prst="rect">
            <a:avLst/>
          </a:prstGeom>
        </p:spPr>
        <p:txBody>
          <a:bodyPr lIns="0" tIns="0" rIns="0" bIns="0" rtlCol="0" anchor="t">
            <a:spAutoFit/>
          </a:bodyPr>
          <a:lstStyle/>
          <a:p>
            <a:pPr algn="ctr">
              <a:lnSpc>
                <a:spcPts val="4799"/>
              </a:lnSpc>
            </a:pPr>
            <a:r>
              <a:rPr lang="en-US" sz="3999" b="1">
                <a:solidFill>
                  <a:srgbClr val="000000"/>
                </a:solidFill>
                <a:latin typeface="Arial Bold"/>
                <a:ea typeface="Arial Bold"/>
                <a:cs typeface="Arial Bold"/>
                <a:sym typeface="Arial Bold"/>
              </a:rPr>
              <a:t>Đối tượng sử dụng và chức năng </a:t>
            </a:r>
          </a:p>
          <a:p>
            <a:pPr marL="0" lvl="0" indent="0" algn="ctr">
              <a:lnSpc>
                <a:spcPts val="4799"/>
              </a:lnSpc>
            </a:pPr>
            <a:r>
              <a:rPr lang="en-US" sz="3999" b="1">
                <a:solidFill>
                  <a:srgbClr val="000000"/>
                </a:solidFill>
                <a:latin typeface="Arial Bold"/>
                <a:ea typeface="Arial Bold"/>
                <a:cs typeface="Arial Bold"/>
                <a:sym typeface="Arial Bold"/>
              </a:rPr>
              <a:t>từng hệ thống</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45310" y="1028700"/>
            <a:ext cx="12397380" cy="9258300"/>
          </a:xfrm>
          <a:custGeom>
            <a:avLst/>
            <a:gdLst/>
            <a:ahLst/>
            <a:cxnLst/>
            <a:rect l="l" t="t" r="r" b="b"/>
            <a:pathLst>
              <a:path w="12397380" h="9258300">
                <a:moveTo>
                  <a:pt x="0" y="0"/>
                </a:moveTo>
                <a:lnTo>
                  <a:pt x="12397380" y="0"/>
                </a:lnTo>
                <a:lnTo>
                  <a:pt x="12397380" y="9258300"/>
                </a:lnTo>
                <a:lnTo>
                  <a:pt x="0" y="9258300"/>
                </a:lnTo>
                <a:lnTo>
                  <a:pt x="0" y="0"/>
                </a:lnTo>
                <a:close/>
              </a:path>
            </a:pathLst>
          </a:custGeom>
          <a:blipFill>
            <a:blip r:embed="rId3"/>
            <a:stretch>
              <a:fillRect/>
            </a:stretch>
          </a:blipFill>
        </p:spPr>
      </p:sp>
      <p:sp>
        <p:nvSpPr>
          <p:cNvPr id="3" name="TextBox 3"/>
          <p:cNvSpPr txBox="1"/>
          <p:nvPr/>
        </p:nvSpPr>
        <p:spPr>
          <a:xfrm>
            <a:off x="6211967" y="38100"/>
            <a:ext cx="5864066" cy="615425"/>
          </a:xfrm>
          <a:prstGeom prst="rect">
            <a:avLst/>
          </a:prstGeom>
        </p:spPr>
        <p:txBody>
          <a:bodyPr lIns="0" tIns="0" rIns="0" bIns="0" rtlCol="0" anchor="t">
            <a:spAutoFit/>
          </a:bodyPr>
          <a:lstStyle/>
          <a:p>
            <a:r>
              <a:rPr lang="en-US" sz="3999" b="1" dirty="0" err="1">
                <a:solidFill>
                  <a:srgbClr val="000000"/>
                </a:solidFill>
                <a:latin typeface="Arial Bold"/>
                <a:ea typeface="Arial Bold"/>
                <a:cs typeface="Arial Bold"/>
                <a:sym typeface="Arial Bold"/>
              </a:rPr>
              <a:t>Sơ</a:t>
            </a:r>
            <a:r>
              <a:rPr lang="en-US" sz="3999" b="1" dirty="0">
                <a:solidFill>
                  <a:srgbClr val="000000"/>
                </a:solidFill>
                <a:latin typeface="Arial Bold"/>
                <a:ea typeface="Arial Bold"/>
                <a:cs typeface="Arial Bold"/>
                <a:sym typeface="Arial Bold"/>
              </a:rPr>
              <a:t> </a:t>
            </a:r>
            <a:r>
              <a:rPr lang="en-US" sz="3999" b="1" dirty="0" err="1">
                <a:solidFill>
                  <a:srgbClr val="000000"/>
                </a:solidFill>
                <a:latin typeface="Arial Bold"/>
                <a:ea typeface="Arial Bold"/>
                <a:cs typeface="Arial Bold"/>
                <a:sym typeface="Arial Bold"/>
              </a:rPr>
              <a:t>đồ</a:t>
            </a:r>
            <a:r>
              <a:rPr lang="en-US" sz="3999" b="1" dirty="0">
                <a:solidFill>
                  <a:srgbClr val="000000"/>
                </a:solidFill>
                <a:latin typeface="Arial Bold"/>
                <a:ea typeface="Arial Bold"/>
                <a:cs typeface="Arial Bold"/>
                <a:sym typeface="Arial Bold"/>
              </a:rPr>
              <a:t> </a:t>
            </a:r>
            <a:r>
              <a:rPr lang="en-US" sz="3999" b="1" dirty="0" err="1">
                <a:solidFill>
                  <a:srgbClr val="000000"/>
                </a:solidFill>
                <a:latin typeface="Arial Bold"/>
                <a:ea typeface="Arial Bold"/>
                <a:cs typeface="Arial Bold"/>
                <a:sym typeface="Arial Bold"/>
              </a:rPr>
              <a:t>kiến</a:t>
            </a:r>
            <a:r>
              <a:rPr lang="en-US" sz="3999" b="1" dirty="0">
                <a:solidFill>
                  <a:srgbClr val="000000"/>
                </a:solidFill>
                <a:latin typeface="Arial Bold"/>
                <a:ea typeface="Arial Bold"/>
                <a:cs typeface="Arial Bold"/>
                <a:sym typeface="Arial Bold"/>
              </a:rPr>
              <a:t> </a:t>
            </a:r>
            <a:r>
              <a:rPr lang="en-US" sz="3999" b="1" dirty="0" err="1" smtClean="0">
                <a:solidFill>
                  <a:srgbClr val="000000"/>
                </a:solidFill>
                <a:latin typeface="Arial Bold"/>
                <a:ea typeface="Arial Bold"/>
                <a:cs typeface="Arial Bold"/>
                <a:sym typeface="Arial Bold"/>
              </a:rPr>
              <a:t>trúc</a:t>
            </a:r>
            <a:r>
              <a:rPr lang="en-US" sz="3999" b="1" dirty="0" smtClean="0">
                <a:solidFill>
                  <a:srgbClr val="000000"/>
                </a:solidFill>
                <a:latin typeface="Arial Bold"/>
                <a:ea typeface="Arial Bold"/>
                <a:cs typeface="Arial Bold"/>
                <a:sym typeface="Arial Bold"/>
              </a:rPr>
              <a:t> </a:t>
            </a:r>
            <a:r>
              <a:rPr lang="en-US" sz="3999" b="1" dirty="0" err="1">
                <a:solidFill>
                  <a:srgbClr val="000000"/>
                </a:solidFill>
                <a:latin typeface="Arial Bold"/>
                <a:ea typeface="Arial Bold"/>
                <a:cs typeface="Arial Bold"/>
                <a:sym typeface="Arial Bold"/>
              </a:rPr>
              <a:t>tổng</a:t>
            </a:r>
            <a:r>
              <a:rPr lang="en-US" sz="3999" b="1" dirty="0">
                <a:solidFill>
                  <a:srgbClr val="000000"/>
                </a:solidFill>
                <a:latin typeface="Arial Bold"/>
                <a:ea typeface="Arial Bold"/>
                <a:cs typeface="Arial Bold"/>
                <a:sym typeface="Arial Bold"/>
              </a:rPr>
              <a:t> </a:t>
            </a:r>
            <a:r>
              <a:rPr lang="en-US" sz="3999" b="1" dirty="0" err="1">
                <a:solidFill>
                  <a:srgbClr val="000000"/>
                </a:solidFill>
                <a:latin typeface="Arial Bold"/>
                <a:ea typeface="Arial Bold"/>
                <a:cs typeface="Arial Bold"/>
                <a:sym typeface="Arial Bold"/>
              </a:rPr>
              <a:t>thể</a:t>
            </a:r>
            <a:endParaRPr lang="en-US" sz="3999" b="1" dirty="0">
              <a:solidFill>
                <a:srgbClr val="000000"/>
              </a:solidFill>
              <a:latin typeface="Arial Bold"/>
              <a:ea typeface="Arial Bold"/>
              <a:cs typeface="Arial Bold"/>
              <a:sym typeface="Arial Bold"/>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95250" y="0"/>
            <a:ext cx="4779052" cy="10287000"/>
            <a:chOff x="0" y="0"/>
            <a:chExt cx="5355113" cy="11526982"/>
          </a:xfrm>
        </p:grpSpPr>
        <p:sp>
          <p:nvSpPr>
            <p:cNvPr id="3" name="Freeform 3"/>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4" name="Group 4"/>
          <p:cNvGrpSpPr/>
          <p:nvPr/>
        </p:nvGrpSpPr>
        <p:grpSpPr>
          <a:xfrm>
            <a:off x="-95250" y="0"/>
            <a:ext cx="3347655" cy="3608571"/>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
        <p:nvSpPr>
          <p:cNvPr id="6" name="Freeform 6"/>
          <p:cNvSpPr/>
          <p:nvPr/>
        </p:nvSpPr>
        <p:spPr>
          <a:xfrm>
            <a:off x="7992157"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3"/>
            <a:stretch>
              <a:fillRect/>
            </a:stretch>
          </a:blipFill>
        </p:spPr>
      </p:sp>
      <p:sp>
        <p:nvSpPr>
          <p:cNvPr id="7" name="TextBox 7"/>
          <p:cNvSpPr txBox="1"/>
          <p:nvPr/>
        </p:nvSpPr>
        <p:spPr>
          <a:xfrm>
            <a:off x="1752601" y="3294246"/>
            <a:ext cx="4267200" cy="619125"/>
          </a:xfrm>
          <a:prstGeom prst="rect">
            <a:avLst/>
          </a:prstGeom>
        </p:spPr>
        <p:txBody>
          <a:bodyPr wrap="square" lIns="0" tIns="0" rIns="0" bIns="0" rtlCol="0" anchor="t">
            <a:spAutoFit/>
          </a:bodyPr>
          <a:lstStyle/>
          <a:p>
            <a:r>
              <a:rPr lang="en-US" sz="4000" b="1" dirty="0" err="1">
                <a:solidFill>
                  <a:srgbClr val="000000"/>
                </a:solidFill>
                <a:latin typeface="Muli Bold"/>
                <a:ea typeface="Muli Bold"/>
                <a:cs typeface="Muli Bold"/>
                <a:sym typeface="Muli Bold"/>
              </a:rPr>
              <a:t>Sơ</a:t>
            </a:r>
            <a:r>
              <a:rPr lang="en-US" sz="4000" b="1" dirty="0">
                <a:solidFill>
                  <a:srgbClr val="000000"/>
                </a:solidFill>
                <a:latin typeface="Muli Bold"/>
                <a:ea typeface="Muli Bold"/>
                <a:cs typeface="Muli Bold"/>
                <a:sym typeface="Muli Bold"/>
              </a:rPr>
              <a:t> </a:t>
            </a:r>
            <a:r>
              <a:rPr lang="en-US" sz="4000" b="1" dirty="0" err="1">
                <a:solidFill>
                  <a:srgbClr val="000000"/>
                </a:solidFill>
                <a:latin typeface="Muli Bold"/>
                <a:ea typeface="Muli Bold"/>
                <a:cs typeface="Muli Bold"/>
                <a:sym typeface="Muli Bold"/>
              </a:rPr>
              <a:t>đồ</a:t>
            </a:r>
            <a:r>
              <a:rPr lang="en-US" sz="4000" b="1" dirty="0">
                <a:solidFill>
                  <a:srgbClr val="000000"/>
                </a:solidFill>
                <a:latin typeface="Muli Bold"/>
                <a:ea typeface="Muli Bold"/>
                <a:cs typeface="Muli Bold"/>
                <a:sym typeface="Muli Bold"/>
              </a:rPr>
              <a:t> Use </a:t>
            </a:r>
            <a:r>
              <a:rPr lang="en-US" sz="4000" b="1" dirty="0" smtClean="0">
                <a:solidFill>
                  <a:srgbClr val="000000"/>
                </a:solidFill>
                <a:latin typeface="Muli Bold"/>
                <a:ea typeface="Muli Bold"/>
                <a:cs typeface="Muli Bold"/>
                <a:sym typeface="Muli Bold"/>
              </a:rPr>
              <a:t>Case</a:t>
            </a:r>
            <a:endParaRPr lang="en-US" sz="4000" b="1" dirty="0">
              <a:solidFill>
                <a:srgbClr val="000000"/>
              </a:solidFill>
              <a:latin typeface="Muli Bold"/>
              <a:ea typeface="Muli Bold"/>
              <a:cs typeface="Muli Bold"/>
              <a:sym typeface="Muli Bold"/>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028700"/>
            <a:ext cx="16230600" cy="8115300"/>
          </a:xfrm>
          <a:custGeom>
            <a:avLst/>
            <a:gdLst/>
            <a:ahLst/>
            <a:cxnLst/>
            <a:rect l="l" t="t" r="r" b="b"/>
            <a:pathLst>
              <a:path w="16230600" h="8115300">
                <a:moveTo>
                  <a:pt x="0" y="0"/>
                </a:moveTo>
                <a:lnTo>
                  <a:pt x="16230600" y="0"/>
                </a:lnTo>
                <a:lnTo>
                  <a:pt x="16230600" y="8115300"/>
                </a:lnTo>
                <a:lnTo>
                  <a:pt x="0" y="8115300"/>
                </a:lnTo>
                <a:lnTo>
                  <a:pt x="0" y="0"/>
                </a:lnTo>
                <a:close/>
              </a:path>
            </a:pathLst>
          </a:custGeom>
          <a:blipFill>
            <a:blip r:embed="rId3"/>
            <a:stretch>
              <a:fillRect/>
            </a:stretch>
          </a:blipFill>
        </p:spPr>
      </p:sp>
      <p:sp>
        <p:nvSpPr>
          <p:cNvPr id="3" name="TextBox 3"/>
          <p:cNvSpPr txBox="1"/>
          <p:nvPr/>
        </p:nvSpPr>
        <p:spPr>
          <a:xfrm>
            <a:off x="6436935" y="38100"/>
            <a:ext cx="5414129" cy="615425"/>
          </a:xfrm>
          <a:prstGeom prst="rect">
            <a:avLst/>
          </a:prstGeom>
        </p:spPr>
        <p:txBody>
          <a:bodyPr lIns="0" tIns="0" rIns="0" bIns="0" rtlCol="0" anchor="t">
            <a:spAutoFit/>
          </a:bodyPr>
          <a:lstStyle/>
          <a:p>
            <a:r>
              <a:rPr lang="en-US" sz="3999" b="1" dirty="0" err="1">
                <a:solidFill>
                  <a:srgbClr val="000000"/>
                </a:solidFill>
                <a:latin typeface="Arial Bold"/>
                <a:ea typeface="Arial Bold"/>
                <a:cs typeface="Arial Bold"/>
                <a:sym typeface="Arial Bold"/>
              </a:rPr>
              <a:t>Sơ</a:t>
            </a:r>
            <a:r>
              <a:rPr lang="en-US" sz="3999" b="1" dirty="0">
                <a:solidFill>
                  <a:srgbClr val="000000"/>
                </a:solidFill>
                <a:latin typeface="Arial Bold"/>
                <a:ea typeface="Arial Bold"/>
                <a:cs typeface="Arial Bold"/>
                <a:sym typeface="Arial Bold"/>
              </a:rPr>
              <a:t> </a:t>
            </a:r>
            <a:r>
              <a:rPr lang="en-US" sz="3999" b="1" dirty="0" err="1" smtClean="0">
                <a:solidFill>
                  <a:srgbClr val="000000"/>
                </a:solidFill>
                <a:latin typeface="Arial Bold"/>
                <a:ea typeface="Arial Bold"/>
                <a:cs typeface="Arial Bold"/>
                <a:sym typeface="Arial Bold"/>
              </a:rPr>
              <a:t>đồ</a:t>
            </a:r>
            <a:r>
              <a:rPr lang="en-US" sz="3999" b="1" dirty="0" smtClean="0">
                <a:solidFill>
                  <a:srgbClr val="000000"/>
                </a:solidFill>
                <a:latin typeface="Arial Bold"/>
                <a:ea typeface="Arial Bold"/>
                <a:cs typeface="Arial Bold"/>
                <a:sym typeface="Arial Bold"/>
              </a:rPr>
              <a:t> </a:t>
            </a:r>
            <a:r>
              <a:rPr lang="en-US" sz="3999" b="1" dirty="0" err="1">
                <a:solidFill>
                  <a:srgbClr val="000000"/>
                </a:solidFill>
                <a:latin typeface="Arial Bold"/>
                <a:ea typeface="Arial Bold"/>
                <a:cs typeface="Arial Bold"/>
                <a:sym typeface="Arial Bold"/>
              </a:rPr>
              <a:t>cơ</a:t>
            </a:r>
            <a:r>
              <a:rPr lang="en-US" sz="3999" b="1" dirty="0">
                <a:solidFill>
                  <a:srgbClr val="000000"/>
                </a:solidFill>
                <a:latin typeface="Arial Bold"/>
                <a:ea typeface="Arial Bold"/>
                <a:cs typeface="Arial Bold"/>
                <a:sym typeface="Arial Bold"/>
              </a:rPr>
              <a:t> </a:t>
            </a:r>
            <a:r>
              <a:rPr lang="en-US" sz="3999" b="1" dirty="0" err="1">
                <a:solidFill>
                  <a:srgbClr val="000000"/>
                </a:solidFill>
                <a:latin typeface="Arial Bold"/>
                <a:ea typeface="Arial Bold"/>
                <a:cs typeface="Arial Bold"/>
                <a:sym typeface="Arial Bold"/>
              </a:rPr>
              <a:t>sở</a:t>
            </a:r>
            <a:r>
              <a:rPr lang="en-US" sz="3999" b="1" dirty="0">
                <a:solidFill>
                  <a:srgbClr val="000000"/>
                </a:solidFill>
                <a:latin typeface="Arial Bold"/>
                <a:ea typeface="Arial Bold"/>
                <a:cs typeface="Arial Bold"/>
                <a:sym typeface="Arial Bold"/>
              </a:rPr>
              <a:t> </a:t>
            </a:r>
            <a:r>
              <a:rPr lang="en-US" sz="3999" b="1" dirty="0" err="1">
                <a:solidFill>
                  <a:srgbClr val="000000"/>
                </a:solidFill>
                <a:latin typeface="Arial Bold"/>
                <a:ea typeface="Arial Bold"/>
                <a:cs typeface="Arial Bold"/>
                <a:sym typeface="Arial Bold"/>
              </a:rPr>
              <a:t>dữ</a:t>
            </a:r>
            <a:r>
              <a:rPr lang="en-US" sz="3999" b="1" dirty="0">
                <a:solidFill>
                  <a:srgbClr val="000000"/>
                </a:solidFill>
                <a:latin typeface="Arial Bold"/>
                <a:ea typeface="Arial Bold"/>
                <a:cs typeface="Arial Bold"/>
                <a:sym typeface="Arial Bold"/>
              </a:rPr>
              <a:t> </a:t>
            </a:r>
            <a:r>
              <a:rPr lang="en-US" sz="3999" b="1" dirty="0" err="1">
                <a:solidFill>
                  <a:srgbClr val="000000"/>
                </a:solidFill>
                <a:latin typeface="Arial Bold"/>
                <a:ea typeface="Arial Bold"/>
                <a:cs typeface="Arial Bold"/>
                <a:sym typeface="Arial Bold"/>
              </a:rPr>
              <a:t>liệu</a:t>
            </a:r>
            <a:endParaRPr lang="en-US" sz="3999" b="1" dirty="0">
              <a:solidFill>
                <a:srgbClr val="000000"/>
              </a:solidFill>
              <a:latin typeface="Arial Bold"/>
              <a:ea typeface="Arial Bold"/>
              <a:cs typeface="Arial Bold"/>
              <a:sym typeface="Arial Bold"/>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6864407" y="198120"/>
            <a:ext cx="4584957" cy="615425"/>
          </a:xfrm>
          <a:prstGeom prst="rect">
            <a:avLst/>
          </a:prstGeom>
        </p:spPr>
        <p:txBody>
          <a:bodyPr wrap="square" lIns="0" tIns="0" rIns="0" bIns="0" rtlCol="0" anchor="t">
            <a:spAutoFit/>
          </a:bodyPr>
          <a:lstStyle/>
          <a:p>
            <a:r>
              <a:rPr lang="en-US" sz="3999" b="1" u="none" strike="noStrike" dirty="0" err="1">
                <a:solidFill>
                  <a:srgbClr val="000000"/>
                </a:solidFill>
                <a:latin typeface="Arial Bold"/>
                <a:ea typeface="Arial Bold"/>
                <a:cs typeface="Arial Bold"/>
                <a:sym typeface="Arial Bold"/>
              </a:rPr>
              <a:t>Kết</a:t>
            </a:r>
            <a:r>
              <a:rPr lang="en-US" sz="3999" b="1" u="none" strike="noStrike" dirty="0">
                <a:solidFill>
                  <a:srgbClr val="000000"/>
                </a:solidFill>
                <a:latin typeface="Arial Bold"/>
                <a:ea typeface="Arial Bold"/>
                <a:cs typeface="Arial Bold"/>
                <a:sym typeface="Arial Bold"/>
              </a:rPr>
              <a:t> </a:t>
            </a:r>
            <a:r>
              <a:rPr lang="en-US" sz="3999" b="1" u="none" strike="noStrike" dirty="0" err="1">
                <a:solidFill>
                  <a:srgbClr val="000000"/>
                </a:solidFill>
                <a:latin typeface="Arial Bold"/>
                <a:ea typeface="Arial Bold"/>
                <a:cs typeface="Arial Bold"/>
                <a:sym typeface="Arial Bold"/>
              </a:rPr>
              <a:t>quả</a:t>
            </a:r>
            <a:r>
              <a:rPr lang="en-US" sz="3999" b="1" u="none" strike="noStrike" dirty="0">
                <a:solidFill>
                  <a:srgbClr val="000000"/>
                </a:solidFill>
                <a:latin typeface="Arial Bold"/>
                <a:ea typeface="Arial Bold"/>
                <a:cs typeface="Arial Bold"/>
                <a:sym typeface="Arial Bold"/>
              </a:rPr>
              <a:t> </a:t>
            </a:r>
            <a:r>
              <a:rPr lang="en-US" sz="3999" b="1" u="none" strike="noStrike" dirty="0" err="1">
                <a:solidFill>
                  <a:srgbClr val="000000"/>
                </a:solidFill>
                <a:latin typeface="Arial Bold"/>
                <a:ea typeface="Arial Bold"/>
                <a:cs typeface="Arial Bold"/>
                <a:sym typeface="Arial Bold"/>
              </a:rPr>
              <a:t>đạt</a:t>
            </a:r>
            <a:r>
              <a:rPr lang="en-US" sz="3999" b="1" u="none" strike="noStrike" dirty="0">
                <a:solidFill>
                  <a:srgbClr val="000000"/>
                </a:solidFill>
                <a:latin typeface="Arial Bold"/>
                <a:ea typeface="Arial Bold"/>
                <a:cs typeface="Arial Bold"/>
                <a:sym typeface="Arial Bold"/>
              </a:rPr>
              <a:t> </a:t>
            </a:r>
            <a:r>
              <a:rPr lang="en-US" sz="3999" b="1" u="none" strike="noStrike" dirty="0" err="1">
                <a:solidFill>
                  <a:srgbClr val="000000"/>
                </a:solidFill>
                <a:latin typeface="Arial Bold"/>
                <a:ea typeface="Arial Bold"/>
                <a:cs typeface="Arial Bold"/>
                <a:sym typeface="Arial Bold"/>
              </a:rPr>
              <a:t>được</a:t>
            </a:r>
            <a:endParaRPr lang="en-US" sz="3999" b="1" u="none" strike="noStrike" dirty="0">
              <a:solidFill>
                <a:srgbClr val="000000"/>
              </a:solidFill>
              <a:latin typeface="Arial Bold"/>
              <a:ea typeface="Arial Bold"/>
              <a:cs typeface="Arial Bold"/>
              <a:sym typeface="Arial Bold"/>
            </a:endParaRPr>
          </a:p>
        </p:txBody>
      </p:sp>
      <p:sp>
        <p:nvSpPr>
          <p:cNvPr id="3" name="TextBox 3"/>
          <p:cNvSpPr txBox="1"/>
          <p:nvPr/>
        </p:nvSpPr>
        <p:spPr>
          <a:xfrm>
            <a:off x="727984" y="3625277"/>
            <a:ext cx="16857804" cy="2952924"/>
          </a:xfrm>
          <a:prstGeom prst="rect">
            <a:avLst/>
          </a:prstGeom>
        </p:spPr>
        <p:txBody>
          <a:bodyPr wrap="square" lIns="0" tIns="0" rIns="0" bIns="0" rtlCol="0" anchor="t">
            <a:spAutoFit/>
          </a:bodyPr>
          <a:lstStyle/>
          <a:p>
            <a:pPr marL="457200" indent="-457200">
              <a:lnSpc>
                <a:spcPct val="150000"/>
              </a:lnSpc>
              <a:buFont typeface="Arial" pitchFamily="34" charset="0"/>
              <a:buChar char="•"/>
            </a:pPr>
            <a:r>
              <a:rPr lang="en-US" sz="3300" dirty="0" err="1">
                <a:solidFill>
                  <a:srgbClr val="000000"/>
                </a:solidFill>
                <a:latin typeface="Arial"/>
                <a:ea typeface="Arial"/>
                <a:cs typeface="Arial"/>
                <a:sym typeface="Arial"/>
              </a:rPr>
              <a:t>Kỹ thuật: App đa nền tảng chạy ổn định (Expo SDK 54), hỗ trợ giao diện sáng/tối.</a:t>
            </a:r>
          </a:p>
          <a:p>
            <a:pPr marL="457200" indent="-457200">
              <a:lnSpc>
                <a:spcPct val="150000"/>
              </a:lnSpc>
              <a:buFont typeface="Arial" pitchFamily="34" charset="0"/>
              <a:buChar char="•"/>
            </a:pPr>
            <a:r>
              <a:rPr lang="en-US" sz="3300" dirty="0" err="1">
                <a:solidFill>
                  <a:srgbClr val="000000"/>
                </a:solidFill>
                <a:latin typeface="Arial"/>
                <a:ea typeface="Arial"/>
                <a:cs typeface="Arial"/>
                <a:sym typeface="Arial"/>
              </a:rPr>
              <a:t>Dữ liệu &amp; Tính năng: Số hóa di sản Khmer lên Firestore, bản đồ Leaflet, đếm ngược lễ hội.</a:t>
            </a:r>
          </a:p>
          <a:p>
            <a:pPr marL="457200" indent="-457200">
              <a:lnSpc>
                <a:spcPct val="150000"/>
              </a:lnSpc>
              <a:buFont typeface="Arial" pitchFamily="34" charset="0"/>
              <a:buChar char="•"/>
            </a:pPr>
            <a:r>
              <a:rPr lang="en-US" sz="3300" dirty="0" err="1">
                <a:solidFill>
                  <a:srgbClr val="000000"/>
                </a:solidFill>
                <a:latin typeface="Arial"/>
                <a:ea typeface="Arial"/>
                <a:cs typeface="Arial"/>
                <a:sym typeface="Arial"/>
              </a:rPr>
              <a:t>Sản phẩm: Hoàn thiện mã nguồn (Repository Pattern) và build thành công file APK.</a:t>
            </a:r>
          </a:p>
        </p:txBody>
      </p:sp>
      <p:grpSp>
        <p:nvGrpSpPr>
          <p:cNvPr id="4" name="Group 4"/>
          <p:cNvGrpSpPr/>
          <p:nvPr/>
        </p:nvGrpSpPr>
        <p:grpSpPr>
          <a:xfrm>
            <a:off x="-1673828" y="0"/>
            <a:ext cx="3347655" cy="3608571"/>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B57F4"/>
            </a:solidFill>
          </p:spPr>
        </p:sp>
      </p:grpSp>
      <p:grpSp>
        <p:nvGrpSpPr>
          <p:cNvPr id="6" name="Group 6"/>
          <p:cNvGrpSpPr/>
          <p:nvPr/>
        </p:nvGrpSpPr>
        <p:grpSpPr>
          <a:xfrm rot="-10800000">
            <a:off x="16614172" y="6678429"/>
            <a:ext cx="3347655" cy="3608571"/>
            <a:chOff x="0" y="0"/>
            <a:chExt cx="1204093" cy="1297940"/>
          </a:xfrm>
        </p:grpSpPr>
        <p:sp>
          <p:nvSpPr>
            <p:cNvPr id="7" name="Freeform 7"/>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6258401" y="0"/>
            <a:ext cx="2067430" cy="4450182"/>
            <a:chOff x="0" y="0"/>
            <a:chExt cx="5355113" cy="11526982"/>
          </a:xfrm>
        </p:grpSpPr>
        <p:sp>
          <p:nvSpPr>
            <p:cNvPr id="3" name="Freeform 3"/>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4" name="Group 4"/>
          <p:cNvGrpSpPr/>
          <p:nvPr/>
        </p:nvGrpSpPr>
        <p:grpSpPr>
          <a:xfrm rot="-10800000">
            <a:off x="13631224" y="2877572"/>
            <a:ext cx="7942901" cy="8561970"/>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
        <p:nvSpPr>
          <p:cNvPr id="6" name="TextBox 6"/>
          <p:cNvSpPr txBox="1"/>
          <p:nvPr/>
        </p:nvSpPr>
        <p:spPr>
          <a:xfrm>
            <a:off x="6151209" y="107907"/>
            <a:ext cx="4436745" cy="615425"/>
          </a:xfrm>
          <a:prstGeom prst="rect">
            <a:avLst/>
          </a:prstGeom>
        </p:spPr>
        <p:txBody>
          <a:bodyPr wrap="square" lIns="0" tIns="0" rIns="0" bIns="0" rtlCol="0" anchor="t">
            <a:spAutoFit/>
          </a:bodyPr>
          <a:lstStyle/>
          <a:p>
            <a:r>
              <a:rPr lang="en-US" sz="3999" b="1" u="none" strike="noStrike" dirty="0" err="1" smtClean="0">
                <a:solidFill>
                  <a:srgbClr val="000000"/>
                </a:solidFill>
                <a:latin typeface="Arial Bold"/>
                <a:ea typeface="Arial Bold"/>
                <a:cs typeface="Arial Bold"/>
                <a:sym typeface="Arial Bold"/>
              </a:rPr>
              <a:t>Đánh</a:t>
            </a:r>
            <a:r>
              <a:rPr lang="en-US" sz="3999" b="1" u="none" strike="noStrike" dirty="0" smtClean="0">
                <a:solidFill>
                  <a:srgbClr val="000000"/>
                </a:solidFill>
                <a:latin typeface="Arial Bold"/>
                <a:ea typeface="Arial Bold"/>
                <a:cs typeface="Arial Bold"/>
                <a:sym typeface="Arial Bold"/>
              </a:rPr>
              <a:t> </a:t>
            </a:r>
            <a:r>
              <a:rPr lang="en-US" sz="3999" b="1" u="none" strike="noStrike" dirty="0" err="1" smtClean="0">
                <a:solidFill>
                  <a:srgbClr val="000000"/>
                </a:solidFill>
                <a:latin typeface="Arial Bold"/>
                <a:ea typeface="Arial Bold"/>
                <a:cs typeface="Arial Bold"/>
                <a:sym typeface="Arial Bold"/>
              </a:rPr>
              <a:t>giá</a:t>
            </a:r>
            <a:r>
              <a:rPr lang="en-US" sz="3999" b="1" u="none" strike="noStrike" dirty="0" smtClean="0">
                <a:solidFill>
                  <a:srgbClr val="000000"/>
                </a:solidFill>
                <a:latin typeface="Arial Bold"/>
                <a:ea typeface="Arial Bold"/>
                <a:cs typeface="Arial Bold"/>
                <a:sym typeface="Arial Bold"/>
              </a:rPr>
              <a:t> </a:t>
            </a:r>
            <a:r>
              <a:rPr lang="en-US" sz="3999" b="1" u="none" strike="noStrike" dirty="0" err="1" smtClean="0">
                <a:solidFill>
                  <a:srgbClr val="000000"/>
                </a:solidFill>
                <a:latin typeface="Arial Bold"/>
                <a:ea typeface="Arial Bold"/>
                <a:cs typeface="Arial Bold"/>
                <a:sym typeface="Arial Bold"/>
              </a:rPr>
              <a:t>hệ</a:t>
            </a:r>
            <a:r>
              <a:rPr lang="en-US" sz="3999" b="1" u="none" strike="noStrike" dirty="0" smtClean="0">
                <a:solidFill>
                  <a:srgbClr val="000000"/>
                </a:solidFill>
                <a:latin typeface="Arial Bold"/>
                <a:ea typeface="Arial Bold"/>
                <a:cs typeface="Arial Bold"/>
                <a:sym typeface="Arial Bold"/>
              </a:rPr>
              <a:t> </a:t>
            </a:r>
            <a:r>
              <a:rPr lang="en-US" sz="3999" b="1" u="none" strike="noStrike" dirty="0" err="1" smtClean="0">
                <a:solidFill>
                  <a:srgbClr val="000000"/>
                </a:solidFill>
                <a:latin typeface="Arial Bold"/>
                <a:ea typeface="Arial Bold"/>
                <a:cs typeface="Arial Bold"/>
                <a:sym typeface="Arial Bold"/>
              </a:rPr>
              <a:t>thống</a:t>
            </a:r>
            <a:endParaRPr lang="en-US" sz="3999" b="1" u="none" strike="noStrike" dirty="0" smtClean="0">
              <a:solidFill>
                <a:srgbClr val="000000"/>
              </a:solidFill>
              <a:latin typeface="Arial Bold"/>
              <a:ea typeface="Arial Bold"/>
              <a:cs typeface="Arial Bold"/>
              <a:sym typeface="Arial Bold"/>
            </a:endParaRPr>
          </a:p>
        </p:txBody>
      </p:sp>
      <p:sp>
        <p:nvSpPr>
          <p:cNvPr id="7" name="TextBox 7"/>
          <p:cNvSpPr txBox="1"/>
          <p:nvPr/>
        </p:nvSpPr>
        <p:spPr>
          <a:xfrm>
            <a:off x="444421" y="2248684"/>
            <a:ext cx="15813980" cy="2952924"/>
          </a:xfrm>
          <a:prstGeom prst="rect">
            <a:avLst/>
          </a:prstGeom>
        </p:spPr>
        <p:txBody>
          <a:bodyPr wrap="square" lIns="0" tIns="0" rIns="0" bIns="0" rtlCol="0" anchor="t">
            <a:spAutoFit/>
          </a:bodyPr>
          <a:lstStyle/>
          <a:p>
            <a:pPr marL="457200" indent="-457200">
              <a:lnSpc>
                <a:spcPct val="150000"/>
              </a:lnSpc>
              <a:buFont typeface="Arial" pitchFamily="34" charset="0"/>
              <a:buChar char="•"/>
            </a:pPr>
            <a:r>
              <a:rPr lang="vi-VN" sz="3300" dirty="0" smtClean="0">
                <a:solidFill>
                  <a:srgbClr val="000000"/>
                </a:solidFill>
                <a:latin typeface="Arial"/>
                <a:ea typeface="Arial"/>
                <a:cs typeface="Arial"/>
                <a:sym typeface="Arial"/>
              </a:rPr>
              <a:t>Ưu điểm: Hiệu năng mượt mà, định vị chính xác, đồng bộ Firebase thực, hỗ trợ 3 ngôn ngữ.</a:t>
            </a:r>
          </a:p>
          <a:p>
            <a:pPr marL="457200" indent="-457200">
              <a:lnSpc>
                <a:spcPct val="150000"/>
              </a:lnSpc>
              <a:buFont typeface="Arial" pitchFamily="34" charset="0"/>
              <a:buChar char="•"/>
            </a:pPr>
            <a:r>
              <a:rPr lang="vi-VN" sz="3300" dirty="0" smtClean="0">
                <a:solidFill>
                  <a:srgbClr val="000000"/>
                </a:solidFill>
                <a:latin typeface="Arial"/>
                <a:ea typeface="Arial"/>
                <a:cs typeface="Arial"/>
                <a:sym typeface="Arial"/>
              </a:rPr>
              <a:t>Hạn chế: Yêu cầu Internet cho một số tiện ích chính, dữ liệu mẫu ban đầu còn giới hạn.</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6415516" y="139230"/>
            <a:ext cx="9447941" cy="723901"/>
          </a:xfrm>
          <a:prstGeom prst="rect">
            <a:avLst/>
          </a:prstGeom>
        </p:spPr>
        <p:txBody>
          <a:bodyPr lIns="0" tIns="0" rIns="0" bIns="0" rtlCol="0" anchor="t">
            <a:spAutoFit/>
          </a:bodyPr>
          <a:lstStyle/>
          <a:p>
            <a:r>
              <a:rPr lang="en-US" sz="3999" b="1" u="none" strike="noStrike">
                <a:solidFill>
                  <a:srgbClr val="000000"/>
                </a:solidFill>
                <a:latin typeface="Arial Bold"/>
                <a:ea typeface="Arial Bold"/>
                <a:cs typeface="Arial Bold"/>
                <a:sym typeface="Arial Bold"/>
              </a:rPr>
              <a:t>Hướng phát triển đề tài</a:t>
            </a:r>
          </a:p>
        </p:txBody>
      </p:sp>
      <p:sp>
        <p:nvSpPr>
          <p:cNvPr id="3" name="TextBox 3"/>
          <p:cNvSpPr txBox="1"/>
          <p:nvPr/>
        </p:nvSpPr>
        <p:spPr>
          <a:xfrm>
            <a:off x="3252405" y="2324100"/>
            <a:ext cx="14585884" cy="2952924"/>
          </a:xfrm>
          <a:prstGeom prst="rect">
            <a:avLst/>
          </a:prstGeom>
        </p:spPr>
        <p:txBody>
          <a:bodyPr lIns="0" tIns="0" rIns="0" bIns="0" rtlCol="0" anchor="t">
            <a:spAutoFit/>
          </a:bodyPr>
          <a:lstStyle/>
          <a:p>
            <a:pPr marL="457200" indent="-457200">
              <a:lnSpc>
                <a:spcPct val="150000"/>
              </a:lnSpc>
              <a:buFont typeface="Arial" pitchFamily="34" charset="0"/>
              <a:buChar char="•"/>
            </a:pPr>
            <a:r>
              <a:rPr lang="en-US" sz="3300" dirty="0">
                <a:solidFill>
                  <a:srgbClr val="000000"/>
                </a:solidFill>
                <a:latin typeface="Arial"/>
                <a:ea typeface="Arial"/>
                <a:cs typeface="Arial"/>
                <a:sym typeface="Arial"/>
              </a:rPr>
              <a:t>AR/VR: </a:t>
            </a:r>
            <a:r>
              <a:rPr lang="en-US" sz="3300" dirty="0" err="1">
                <a:solidFill>
                  <a:srgbClr val="000000"/>
                </a:solidFill>
                <a:latin typeface="Arial"/>
                <a:ea typeface="Arial"/>
                <a:cs typeface="Arial"/>
                <a:sym typeface="Arial"/>
              </a:rPr>
              <a:t>Tương</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tác</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mô</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hình</a:t>
            </a:r>
            <a:r>
              <a:rPr lang="en-US" sz="3300" dirty="0">
                <a:solidFill>
                  <a:srgbClr val="000000"/>
                </a:solidFill>
                <a:latin typeface="Arial"/>
                <a:ea typeface="Arial"/>
                <a:cs typeface="Arial"/>
                <a:sym typeface="Arial"/>
              </a:rPr>
              <a:t> 3D </a:t>
            </a:r>
            <a:r>
              <a:rPr lang="en-US" sz="3300" dirty="0" err="1">
                <a:solidFill>
                  <a:srgbClr val="000000"/>
                </a:solidFill>
                <a:latin typeface="Arial"/>
                <a:ea typeface="Arial"/>
                <a:cs typeface="Arial"/>
                <a:sym typeface="Arial"/>
              </a:rPr>
              <a:t>chùa</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cổ</a:t>
            </a:r>
            <a:r>
              <a:rPr lang="en-US" sz="3300" dirty="0" smtClean="0">
                <a:solidFill>
                  <a:srgbClr val="000000"/>
                </a:solidFill>
                <a:latin typeface="Arial"/>
                <a:ea typeface="Arial"/>
                <a:cs typeface="Arial"/>
                <a:sym typeface="Arial"/>
              </a:rPr>
              <a:t>.</a:t>
            </a:r>
            <a:endParaRPr lang="en-US" sz="3300" dirty="0">
              <a:solidFill>
                <a:srgbClr val="000000"/>
              </a:solidFill>
              <a:latin typeface="Arial"/>
              <a:ea typeface="Arial"/>
              <a:cs typeface="Arial"/>
              <a:sym typeface="Arial"/>
            </a:endParaRPr>
          </a:p>
          <a:p>
            <a:pPr marL="457200" indent="-457200">
              <a:lnSpc>
                <a:spcPct val="150000"/>
              </a:lnSpc>
              <a:buFont typeface="Arial" pitchFamily="34" charset="0"/>
              <a:buChar char="•"/>
            </a:pPr>
            <a:r>
              <a:rPr lang="en-US" sz="3300" dirty="0">
                <a:solidFill>
                  <a:srgbClr val="000000"/>
                </a:solidFill>
                <a:latin typeface="Arial"/>
                <a:ea typeface="Arial"/>
                <a:cs typeface="Arial"/>
                <a:sym typeface="Arial"/>
              </a:rPr>
              <a:t>Audio Guide: </a:t>
            </a:r>
            <a:r>
              <a:rPr lang="en-US" sz="3300" dirty="0" err="1">
                <a:solidFill>
                  <a:srgbClr val="000000"/>
                </a:solidFill>
                <a:latin typeface="Arial"/>
                <a:ea typeface="Arial"/>
                <a:cs typeface="Arial"/>
                <a:sym typeface="Arial"/>
              </a:rPr>
              <a:t>Thuyết</a:t>
            </a:r>
            <a:r>
              <a:rPr lang="en-US" sz="3300" dirty="0">
                <a:solidFill>
                  <a:srgbClr val="000000"/>
                </a:solidFill>
                <a:latin typeface="Arial"/>
                <a:ea typeface="Arial"/>
                <a:cs typeface="Arial"/>
                <a:sym typeface="Arial"/>
              </a:rPr>
              <a:t> minh </a:t>
            </a:r>
            <a:r>
              <a:rPr lang="en-US" sz="3300" dirty="0" err="1">
                <a:solidFill>
                  <a:srgbClr val="000000"/>
                </a:solidFill>
                <a:latin typeface="Arial"/>
                <a:ea typeface="Arial"/>
                <a:cs typeface="Arial"/>
                <a:sym typeface="Arial"/>
              </a:rPr>
              <a:t>giọng</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nói</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đa</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ngôn</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ngữ</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tại</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điểm</a:t>
            </a:r>
            <a:r>
              <a:rPr lang="en-US" sz="3300" dirty="0" smtClean="0">
                <a:solidFill>
                  <a:srgbClr val="000000"/>
                </a:solidFill>
                <a:latin typeface="Arial"/>
                <a:ea typeface="Arial"/>
                <a:cs typeface="Arial"/>
                <a:sym typeface="Arial"/>
              </a:rPr>
              <a:t>.</a:t>
            </a:r>
            <a:endParaRPr lang="en-US" sz="3300" dirty="0">
              <a:solidFill>
                <a:srgbClr val="000000"/>
              </a:solidFill>
              <a:latin typeface="Arial"/>
              <a:ea typeface="Arial"/>
              <a:cs typeface="Arial"/>
              <a:sym typeface="Arial"/>
            </a:endParaRPr>
          </a:p>
          <a:p>
            <a:pPr marL="457200" indent="-457200">
              <a:lnSpc>
                <a:spcPct val="150000"/>
              </a:lnSpc>
              <a:buFont typeface="Arial" pitchFamily="34" charset="0"/>
              <a:buChar char="•"/>
            </a:pPr>
            <a:r>
              <a:rPr lang="en-US" sz="3300" dirty="0">
                <a:solidFill>
                  <a:srgbClr val="000000"/>
                </a:solidFill>
                <a:latin typeface="Arial"/>
                <a:ea typeface="Arial"/>
                <a:cs typeface="Arial"/>
                <a:sym typeface="Arial"/>
              </a:rPr>
              <a:t>AI: </a:t>
            </a:r>
            <a:r>
              <a:rPr lang="en-US" sz="3300" dirty="0" err="1">
                <a:solidFill>
                  <a:srgbClr val="000000"/>
                </a:solidFill>
                <a:latin typeface="Arial"/>
                <a:ea typeface="Arial"/>
                <a:cs typeface="Arial"/>
                <a:sym typeface="Arial"/>
              </a:rPr>
              <a:t>Phân</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tích</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hành</a:t>
            </a:r>
            <a:r>
              <a:rPr lang="en-US" sz="3300" dirty="0">
                <a:solidFill>
                  <a:srgbClr val="000000"/>
                </a:solidFill>
                <a:latin typeface="Arial"/>
                <a:ea typeface="Arial"/>
                <a:cs typeface="Arial"/>
                <a:sym typeface="Arial"/>
              </a:rPr>
              <a:t> vi, </a:t>
            </a:r>
            <a:r>
              <a:rPr lang="en-US" sz="3300" dirty="0" err="1">
                <a:solidFill>
                  <a:srgbClr val="000000"/>
                </a:solidFill>
                <a:latin typeface="Arial"/>
                <a:ea typeface="Arial"/>
                <a:cs typeface="Arial"/>
                <a:sym typeface="Arial"/>
              </a:rPr>
              <a:t>đề</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xuất</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hành</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trình</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cá</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nhân</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hóa</a:t>
            </a:r>
            <a:r>
              <a:rPr lang="en-US" sz="3300" dirty="0" smtClean="0">
                <a:solidFill>
                  <a:srgbClr val="000000"/>
                </a:solidFill>
                <a:latin typeface="Arial"/>
                <a:ea typeface="Arial"/>
                <a:cs typeface="Arial"/>
                <a:sym typeface="Arial"/>
              </a:rPr>
              <a:t>.</a:t>
            </a:r>
            <a:endParaRPr lang="en-US" sz="3300" dirty="0">
              <a:solidFill>
                <a:srgbClr val="000000"/>
              </a:solidFill>
              <a:latin typeface="Arial"/>
              <a:ea typeface="Arial"/>
              <a:cs typeface="Arial"/>
              <a:sym typeface="Arial"/>
            </a:endParaRPr>
          </a:p>
          <a:p>
            <a:pPr marL="457200" indent="-457200">
              <a:lnSpc>
                <a:spcPct val="150000"/>
              </a:lnSpc>
              <a:buFont typeface="Arial" pitchFamily="34" charset="0"/>
              <a:buChar char="•"/>
            </a:pPr>
            <a:r>
              <a:rPr lang="en-US" sz="3300" dirty="0" err="1">
                <a:solidFill>
                  <a:srgbClr val="000000"/>
                </a:solidFill>
                <a:latin typeface="Arial"/>
                <a:ea typeface="Arial"/>
                <a:cs typeface="Arial"/>
                <a:sym typeface="Arial"/>
              </a:rPr>
              <a:t>Liên</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kết</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Hợp</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tác</a:t>
            </a:r>
            <a:r>
              <a:rPr lang="en-US" sz="3300" dirty="0">
                <a:solidFill>
                  <a:srgbClr val="000000"/>
                </a:solidFill>
                <a:latin typeface="Arial"/>
                <a:ea typeface="Arial"/>
                <a:cs typeface="Arial"/>
                <a:sym typeface="Arial"/>
              </a:rPr>
              <a:t> du </a:t>
            </a:r>
            <a:r>
              <a:rPr lang="en-US" sz="3300" dirty="0" err="1">
                <a:solidFill>
                  <a:srgbClr val="000000"/>
                </a:solidFill>
                <a:latin typeface="Arial"/>
                <a:ea typeface="Arial"/>
                <a:cs typeface="Arial"/>
                <a:sym typeface="Arial"/>
              </a:rPr>
              <a:t>lịch</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quảng</a:t>
            </a:r>
            <a:r>
              <a:rPr lang="en-US" sz="3300" dirty="0">
                <a:solidFill>
                  <a:srgbClr val="000000"/>
                </a:solidFill>
                <a:latin typeface="Arial"/>
                <a:ea typeface="Arial"/>
                <a:cs typeface="Arial"/>
                <a:sym typeface="Arial"/>
              </a:rPr>
              <a:t> </a:t>
            </a:r>
            <a:r>
              <a:rPr lang="en-US" sz="3300" dirty="0" err="1">
                <a:solidFill>
                  <a:srgbClr val="000000"/>
                </a:solidFill>
                <a:latin typeface="Arial"/>
                <a:ea typeface="Arial"/>
                <a:cs typeface="Arial"/>
                <a:sym typeface="Arial"/>
              </a:rPr>
              <a:t>bá</a:t>
            </a:r>
            <a:r>
              <a:rPr lang="en-US" sz="3300" dirty="0">
                <a:solidFill>
                  <a:srgbClr val="000000"/>
                </a:solidFill>
                <a:latin typeface="Arial"/>
                <a:ea typeface="Arial"/>
                <a:cs typeface="Arial"/>
                <a:sym typeface="Arial"/>
              </a:rPr>
              <a:t> tour Khmer Nam </a:t>
            </a:r>
            <a:r>
              <a:rPr lang="en-US" sz="3300" dirty="0" err="1">
                <a:solidFill>
                  <a:srgbClr val="000000"/>
                </a:solidFill>
                <a:latin typeface="Arial"/>
                <a:ea typeface="Arial"/>
                <a:cs typeface="Arial"/>
                <a:sym typeface="Arial"/>
              </a:rPr>
              <a:t>Bộ</a:t>
            </a:r>
            <a:r>
              <a:rPr lang="en-US" sz="3300" dirty="0">
                <a:solidFill>
                  <a:srgbClr val="000000"/>
                </a:solidFill>
                <a:latin typeface="Arial"/>
                <a:ea typeface="Arial"/>
                <a:cs typeface="Arial"/>
                <a:sym typeface="Arial"/>
              </a:rPr>
              <a:t>.</a:t>
            </a:r>
          </a:p>
        </p:txBody>
      </p:sp>
      <p:grpSp>
        <p:nvGrpSpPr>
          <p:cNvPr id="4" name="Group 4"/>
          <p:cNvGrpSpPr/>
          <p:nvPr/>
        </p:nvGrpSpPr>
        <p:grpSpPr>
          <a:xfrm>
            <a:off x="-95250" y="0"/>
            <a:ext cx="4779052" cy="10287000"/>
            <a:chOff x="0" y="0"/>
            <a:chExt cx="5355113" cy="11526982"/>
          </a:xfrm>
        </p:grpSpPr>
        <p:sp>
          <p:nvSpPr>
            <p:cNvPr id="5" name="Freeform 5"/>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6" name="Group 6"/>
          <p:cNvGrpSpPr/>
          <p:nvPr/>
        </p:nvGrpSpPr>
        <p:grpSpPr>
          <a:xfrm>
            <a:off x="-95250" y="0"/>
            <a:ext cx="3347655" cy="3608571"/>
            <a:chOff x="0" y="0"/>
            <a:chExt cx="1204093" cy="1297940"/>
          </a:xfrm>
        </p:grpSpPr>
        <p:sp>
          <p:nvSpPr>
            <p:cNvPr id="7" name="Freeform 7"/>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6551303" y="4082818"/>
            <a:ext cx="3947130" cy="1477328"/>
          </a:xfrm>
          <a:prstGeom prst="rect">
            <a:avLst/>
          </a:prstGeom>
        </p:spPr>
        <p:txBody>
          <a:bodyPr lIns="0" tIns="0" rIns="0" bIns="0" rtlCol="0" anchor="t">
            <a:spAutoFit/>
          </a:bodyPr>
          <a:lstStyle/>
          <a:p>
            <a:r>
              <a:rPr lang="en-US" sz="9600" b="1" dirty="0" smtClean="0">
                <a:solidFill>
                  <a:srgbClr val="000000"/>
                </a:solidFill>
                <a:latin typeface="Muli Bold"/>
                <a:ea typeface="Muli Bold"/>
                <a:cs typeface="Muli Bold"/>
                <a:sym typeface="Muli Bold"/>
              </a:rPr>
              <a:t>DEMO</a:t>
            </a:r>
            <a:endParaRPr lang="en-US" sz="9600" b="1" dirty="0">
              <a:solidFill>
                <a:srgbClr val="000000"/>
              </a:solidFill>
              <a:latin typeface="Muli Bold"/>
              <a:ea typeface="Muli Bold"/>
              <a:cs typeface="Muli Bold"/>
              <a:sym typeface="Muli Bold"/>
            </a:endParaRPr>
          </a:p>
        </p:txBody>
      </p:sp>
      <p:grpSp>
        <p:nvGrpSpPr>
          <p:cNvPr id="3" name="Group 3"/>
          <p:cNvGrpSpPr/>
          <p:nvPr/>
        </p:nvGrpSpPr>
        <p:grpSpPr>
          <a:xfrm rot="-10800000">
            <a:off x="14951210" y="0"/>
            <a:ext cx="3340653" cy="3335307"/>
            <a:chOff x="0" y="0"/>
            <a:chExt cx="6350000" cy="6339840"/>
          </a:xfrm>
        </p:grpSpPr>
        <p:sp>
          <p:nvSpPr>
            <p:cNvPr id="4" name="Freeform 4"/>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p:spPr>
        </p:sp>
      </p:grpSp>
      <p:grpSp>
        <p:nvGrpSpPr>
          <p:cNvPr id="5" name="Group 5"/>
          <p:cNvGrpSpPr/>
          <p:nvPr/>
        </p:nvGrpSpPr>
        <p:grpSpPr>
          <a:xfrm rot="-10800000">
            <a:off x="16258401" y="0"/>
            <a:ext cx="2067430" cy="4450182"/>
            <a:chOff x="0" y="0"/>
            <a:chExt cx="5355113" cy="11526982"/>
          </a:xfrm>
        </p:grpSpPr>
        <p:sp>
          <p:nvSpPr>
            <p:cNvPr id="6" name="Freeform 6"/>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7" name="Group 7"/>
          <p:cNvGrpSpPr/>
          <p:nvPr/>
        </p:nvGrpSpPr>
        <p:grpSpPr>
          <a:xfrm rot="-10800000">
            <a:off x="13688374" y="2915672"/>
            <a:ext cx="7942901" cy="8561970"/>
            <a:chOff x="0" y="0"/>
            <a:chExt cx="1204093" cy="1297940"/>
          </a:xfrm>
        </p:grpSpPr>
        <p:sp>
          <p:nvSpPr>
            <p:cNvPr id="8" name="Freeform 8"/>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2875</Words>
  <Application>Microsoft Office PowerPoint</Application>
  <PresentationFormat>Custom</PresentationFormat>
  <Paragraphs>196</Paragraphs>
  <Slides>14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Muli</vt:lpstr>
      <vt:lpstr>Muli Bold</vt:lpstr>
      <vt:lpstr>Arial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KỸ THUẬT VÀ CÔNG NGHỆ KHOA CÔNG NGHỆ THÔNG TIN</dc:title>
  <dc:creator>HP</dc:creator>
  <cp:lastModifiedBy>HP</cp:lastModifiedBy>
  <cp:revision>44</cp:revision>
  <dcterms:created xsi:type="dcterms:W3CDTF">2006-08-16T00:00:00Z</dcterms:created>
  <dcterms:modified xsi:type="dcterms:W3CDTF">2026-07-05T13:18:17Z</dcterms:modified>
  <dc:identifier>DAHOUUhcuz0</dc:identifier>
</cp:coreProperties>
</file>